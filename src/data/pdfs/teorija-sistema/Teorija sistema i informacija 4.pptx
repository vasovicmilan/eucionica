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0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14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052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92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5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E9AF7-2AA2-4D03-BF31-1087BAAE53AE}" type="datetimeFigureOut">
              <a:rPr lang="en-US" smtClean="0"/>
              <a:t>3/12/2017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2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r>
              <a:rPr lang="en-US" dirty="0" smtClean="0"/>
              <a:t> </a:t>
            </a:r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doc. </a:t>
            </a:r>
            <a:r>
              <a:rPr lang="en-US" dirty="0" err="1" smtClean="0"/>
              <a:t>dr</a:t>
            </a:r>
            <a:r>
              <a:rPr lang="en-US" dirty="0" smtClean="0"/>
              <a:t> Radovan </a:t>
            </a:r>
            <a:r>
              <a:rPr lang="en-US" dirty="0" err="1" smtClean="0"/>
              <a:t>Vladisavljev</a:t>
            </a:r>
            <a:r>
              <a:rPr lang="sr-Latn-RS" dirty="0" err="1" smtClean="0"/>
              <a:t>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8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Anali</a:t>
            </a:r>
            <a:r>
              <a:rPr lang="sr-Latn-RS" dirty="0" smtClean="0"/>
              <a:t>za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 osnovu znanja i instrumenata istraživači sistema otkrivaju prirodu, elemente i relacije sistema.</a:t>
            </a:r>
          </a:p>
          <a:p>
            <a:r>
              <a:rPr lang="sr-Latn-RS" dirty="0" smtClean="0"/>
              <a:t>Instrumenti mogu biti idejne i materijalne prirode.</a:t>
            </a:r>
          </a:p>
          <a:p>
            <a:r>
              <a:rPr lang="sr-Latn-RS" dirty="0" smtClean="0"/>
              <a:t>Idejni instrumenti su razne metode i metodologije kojima se izučavaju i ispituju sistemi. (prethodna znanja, definicije, teorije, …)</a:t>
            </a:r>
          </a:p>
          <a:p>
            <a:r>
              <a:rPr lang="sr-Latn-RS" dirty="0" smtClean="0"/>
              <a:t>Materijini instrumenti obezbeđuju proširenje ljudskih sposobnosti.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96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99" y="793630"/>
            <a:ext cx="10254982" cy="5115464"/>
          </a:xfrm>
        </p:spPr>
      </p:pic>
    </p:spTree>
    <p:extLst>
      <p:ext uri="{BB962C8B-B14F-4D97-AF65-F5344CB8AC3E}">
        <p14:creationId xmlns:p14="http://schemas.microsoft.com/office/powerpoint/2010/main" val="299082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Anali</a:t>
            </a:r>
            <a:r>
              <a:rPr lang="sr-Latn-RS" dirty="0"/>
              <a:t>za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Iz prethodnog se vidi da istraživač svojim znanjem i instrumentima ne može da pokrije celokupan segment izučavanog fenomena.</a:t>
            </a:r>
          </a:p>
          <a:p>
            <a:endParaRPr lang="sr-Latn-RS" dirty="0" smtClean="0"/>
          </a:p>
          <a:p>
            <a:r>
              <a:rPr lang="sr-Latn-RS" dirty="0" smtClean="0"/>
              <a:t>Rešenje: svesti ga na nivo svojim mogućnosti.</a:t>
            </a:r>
          </a:p>
          <a:p>
            <a:endParaRPr lang="sr-Latn-RS" dirty="0"/>
          </a:p>
          <a:p>
            <a:r>
              <a:rPr lang="sr-Latn-RS" dirty="0" smtClean="0"/>
              <a:t>Novi problem, kako tom zadatku pristupiti?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26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Strategije analize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 literaturi i praksi imamo izuzetno veliki broj strategija analize sistema.</a:t>
            </a:r>
          </a:p>
          <a:p>
            <a:r>
              <a:rPr lang="sr-Latn-RS" dirty="0" smtClean="0"/>
              <a:t>Mi ćemo se fokusirati na dve strategije (najčešće dve strategije).</a:t>
            </a:r>
          </a:p>
          <a:p>
            <a:endParaRPr lang="sr-Latn-RS" dirty="0" smtClean="0"/>
          </a:p>
          <a:p>
            <a:r>
              <a:rPr lang="sr-Latn-RS" dirty="0" smtClean="0"/>
              <a:t>Prva strategije se naziva: smanjivanje prostora istraživanja.</a:t>
            </a:r>
          </a:p>
          <a:p>
            <a:r>
              <a:rPr lang="sr-Latn-RS" dirty="0" smtClean="0"/>
              <a:t>Druga strategija se naziva: deljenje </a:t>
            </a:r>
            <a:r>
              <a:rPr lang="sr-Latn-RS" dirty="0"/>
              <a:t>prostora </a:t>
            </a:r>
            <a:r>
              <a:rPr lang="sr-Latn-RS" dirty="0" smtClean="0"/>
              <a:t>istraživanja.</a:t>
            </a:r>
          </a:p>
          <a:p>
            <a:endParaRPr lang="sr-Latn-RS" dirty="0"/>
          </a:p>
          <a:p>
            <a:r>
              <a:rPr lang="sr-Latn-RS" dirty="0" smtClean="0"/>
              <a:t>Obe strategije imaju svoje prednosti i mane.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98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Smanjivanje </a:t>
            </a:r>
            <a:r>
              <a:rPr lang="sr-Latn-RS" dirty="0"/>
              <a:t>prostora istraživanja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66314"/>
            <a:ext cx="9018757" cy="3944449"/>
          </a:xfrm>
        </p:spPr>
      </p:pic>
    </p:spTree>
    <p:extLst>
      <p:ext uri="{BB962C8B-B14F-4D97-AF65-F5344CB8AC3E}">
        <p14:creationId xmlns:p14="http://schemas.microsoft.com/office/powerpoint/2010/main" val="346001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Deljenje </a:t>
            </a:r>
            <a:r>
              <a:rPr lang="sr-Latn-RS" dirty="0"/>
              <a:t>prostora istraživanja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01" y="2077252"/>
            <a:ext cx="9691088" cy="4252447"/>
          </a:xfrm>
        </p:spPr>
      </p:pic>
    </p:spTree>
    <p:extLst>
      <p:ext uri="{BB962C8B-B14F-4D97-AF65-F5344CB8AC3E}">
        <p14:creationId xmlns:p14="http://schemas.microsoft.com/office/powerpoint/2010/main" val="165130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Deljenje prostora istraživanja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Drugi pristup je temelj analitičkih metoda u nauci i praksi.</a:t>
            </a:r>
          </a:p>
          <a:p>
            <a:r>
              <a:rPr lang="sr-Latn-RS" dirty="0" smtClean="0"/>
              <a:t>Definicija: „Analiza je metoda upoznavanja složenih pojava posredstvom misaonog ili praktičnog rastavljanja te pojave i ispitivanja dobijenih činjenica, delova i aspekta“.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647895"/>
            <a:ext cx="8001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14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Uglovi posmatranja analize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Teorija znanja.</a:t>
            </a:r>
          </a:p>
          <a:p>
            <a:r>
              <a:rPr lang="sr-Latn-RS" dirty="0" smtClean="0"/>
              <a:t>Složenost.</a:t>
            </a:r>
          </a:p>
          <a:p>
            <a:r>
              <a:rPr lang="sr-Latn-RS" dirty="0" smtClean="0"/>
              <a:t>Stepen konkretnosti.</a:t>
            </a:r>
          </a:p>
          <a:p>
            <a:r>
              <a:rPr lang="sr-Latn-RS" dirty="0" smtClean="0"/>
              <a:t>Predmet i cilj.</a:t>
            </a:r>
          </a:p>
          <a:p>
            <a:r>
              <a:rPr lang="sr-Latn-RS" dirty="0" smtClean="0"/>
              <a:t>Oblast primene.</a:t>
            </a:r>
          </a:p>
          <a:p>
            <a:r>
              <a:rPr lang="sr-Latn-R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632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Teorija znanja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Deskriptivna</a:t>
            </a:r>
            <a:r>
              <a:rPr lang="sr-Latn-RS" dirty="0" smtClean="0"/>
              <a:t> analiza, opis komponenti ili elemenata sistema bez ulaska u njihove relacije.</a:t>
            </a:r>
          </a:p>
          <a:p>
            <a:endParaRPr lang="sr-Latn-RS" dirty="0"/>
          </a:p>
          <a:p>
            <a:endParaRPr lang="sr-Latn-RS" dirty="0" smtClean="0"/>
          </a:p>
          <a:p>
            <a:endParaRPr lang="sr-Latn-RS" dirty="0" smtClean="0"/>
          </a:p>
          <a:p>
            <a:endParaRPr lang="sr-Latn-RS" b="1" dirty="0"/>
          </a:p>
          <a:p>
            <a:endParaRPr lang="sr-Latn-RS" b="1" dirty="0" smtClean="0"/>
          </a:p>
          <a:p>
            <a:r>
              <a:rPr lang="sr-Latn-RS" b="1" dirty="0" smtClean="0"/>
              <a:t>Eksplikativna</a:t>
            </a:r>
            <a:r>
              <a:rPr lang="sr-Latn-RS" dirty="0" smtClean="0"/>
              <a:t> analiza, pored elemenata istražuju se i određene relacije među elementima.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763" y="2585421"/>
            <a:ext cx="2480813" cy="18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8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Složenost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Elementarna analiza, otkrivaju se elementi određene celine. (Hemija)</a:t>
            </a:r>
          </a:p>
          <a:p>
            <a:r>
              <a:rPr lang="sr-Latn-RS" dirty="0" smtClean="0"/>
              <a:t>Uzročno-posledična analiza.</a:t>
            </a:r>
          </a:p>
          <a:p>
            <a:r>
              <a:rPr lang="sr-Latn-RS" dirty="0" smtClean="0"/>
              <a:t>Funkcionalna analiza.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Stepen konkretnosti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Materijalna analiza. (empirija)</a:t>
            </a:r>
          </a:p>
          <a:p>
            <a:endParaRPr lang="sr-Latn-RS" dirty="0"/>
          </a:p>
          <a:p>
            <a:endParaRPr lang="sr-Latn-RS" dirty="0" smtClean="0"/>
          </a:p>
          <a:p>
            <a:endParaRPr lang="sr-Latn-RS" dirty="0"/>
          </a:p>
          <a:p>
            <a:endParaRPr lang="sr-Latn-RS" dirty="0" smtClean="0"/>
          </a:p>
          <a:p>
            <a:r>
              <a:rPr lang="sr-Latn-RS" dirty="0" smtClean="0"/>
              <a:t>Idejna analiza.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989" y="2639683"/>
            <a:ext cx="3962400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15" y="4476323"/>
            <a:ext cx="2074653" cy="207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34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Predmet i cilj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Generička analiza, otkrivaju se uzroci nastanka objekta posmatranja te rast, razvoj i stagnacija.</a:t>
            </a:r>
          </a:p>
          <a:p>
            <a:r>
              <a:rPr lang="sr-Latn-RS" dirty="0" smtClean="0"/>
              <a:t>Komparativna analiza, otkrivaju se sličnosti i razlike nekih pojava ili objekata.</a:t>
            </a:r>
          </a:p>
          <a:p>
            <a:r>
              <a:rPr lang="sr-Latn-RS" dirty="0" smtClean="0"/>
              <a:t>Funkcionalna analiza.</a:t>
            </a:r>
          </a:p>
          <a:p>
            <a:r>
              <a:rPr lang="sr-Latn-RS" dirty="0" smtClean="0"/>
              <a:t>Strukturalna analiza.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00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Uopšteno o analizi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Praktično u svim oblastima nauke i struke analize se mogu primeniti.</a:t>
            </a:r>
          </a:p>
          <a:p>
            <a:r>
              <a:rPr lang="sr-Latn-RS" dirty="0" smtClean="0"/>
              <a:t>Problem: sveobuhvatnost i preciznost isključuju jednu drugu.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49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06"/>
            <a:ext cx="12192000" cy="6690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21434" y="629728"/>
            <a:ext cx="923027" cy="7504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65" y="871062"/>
            <a:ext cx="938865" cy="768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853" y="5673099"/>
            <a:ext cx="938865" cy="7681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57" y="996144"/>
            <a:ext cx="938865" cy="7681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201" y="2429155"/>
            <a:ext cx="938865" cy="7681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33" y="5569582"/>
            <a:ext cx="938865" cy="7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7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85054"/>
            <a:ext cx="12193057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7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Uopšteno o analizi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Praktično je nemoguće analizom istražiti celinu.</a:t>
            </a:r>
          </a:p>
          <a:p>
            <a:r>
              <a:rPr lang="sr-Latn-RS" dirty="0" smtClean="0"/>
              <a:t>Pored prethodnog slona razmislite o modernoj medicini, nauci, informatici…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9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Sinteza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 obzirom da se analizom ne može upoznati celina, mora se pribeći promeni strategije istraživanja.</a:t>
            </a:r>
          </a:p>
          <a:p>
            <a:r>
              <a:rPr lang="sr-Latn-RS" dirty="0" smtClean="0"/>
              <a:t>Sinteza je metoda po kojoj se jednostavne pojmovne konstrukcije spajaju u složenije, a ove u još složenije.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234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Analiza i sinteza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Sinteza je proces povezivanja analizom dobijenih rezultata.</a:t>
            </a:r>
          </a:p>
          <a:p>
            <a:r>
              <a:rPr lang="sr-Latn-RS" dirty="0" smtClean="0"/>
              <a:t>Analiza i sinteza su jedinstveni fenomeni.</a:t>
            </a:r>
          </a:p>
          <a:p>
            <a:r>
              <a:rPr lang="sr-Latn-RS" dirty="0" smtClean="0"/>
              <a:t>Analiza je početna tačka istraživanja, a sinteza završna.</a:t>
            </a:r>
          </a:p>
          <a:p>
            <a:r>
              <a:rPr lang="sr-Latn-RS" dirty="0" smtClean="0"/>
              <a:t>Analiza ide od opšteg ka posebnom.</a:t>
            </a:r>
          </a:p>
          <a:p>
            <a:r>
              <a:rPr lang="sr-Latn-RS" dirty="0" smtClean="0"/>
              <a:t>Sinteza je obrnuti proces i ode od posebnog ka opštem.</a:t>
            </a:r>
          </a:p>
        </p:txBody>
      </p:sp>
    </p:spTree>
    <p:extLst>
      <p:ext uri="{BB962C8B-B14F-4D97-AF65-F5344CB8AC3E}">
        <p14:creationId xmlns:p14="http://schemas.microsoft.com/office/powerpoint/2010/main" val="2408865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Vrste sinteze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Reproduktivna, svrha ove sinteze je da se kreira sintezom sistem isti ili sličan originalu.</a:t>
            </a:r>
          </a:p>
          <a:p>
            <a:r>
              <a:rPr lang="sr-Latn-RS" dirty="0" smtClean="0"/>
              <a:t>Produktivna sinteza, je kada se sintezom kreira neki novi objekat, produkt ili događaj.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35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Problemi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Sinteza je izuzetno ograničena i daje relativno loše rezultate.</a:t>
            </a:r>
          </a:p>
          <a:p>
            <a:r>
              <a:rPr lang="sr-Latn-RS" dirty="0" smtClean="0"/>
              <a:t>Jedino kada imamo aditivne elemente sinteza daje dobre rezultate.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3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Analiza sistema (sistem analiza)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Upravo iz ograničenja analitičko-sintetičkih metoda nastaje potreba za okvirom u kojem bi se izučavali sistemi. </a:t>
            </a:r>
          </a:p>
          <a:p>
            <a:endParaRPr lang="sr-Latn-RS" dirty="0"/>
          </a:p>
          <a:p>
            <a:r>
              <a:rPr lang="sr-Latn-RS" dirty="0" smtClean="0"/>
              <a:t>Najveća promena je ta što se objekat istraživanja posmatra kao sistem. (elementi, relacije, okruženje, …)</a:t>
            </a:r>
          </a:p>
          <a:p>
            <a:endParaRPr lang="sr-Latn-RS" dirty="0"/>
          </a:p>
          <a:p>
            <a:r>
              <a:rPr lang="sr-Latn-RS" dirty="0" smtClean="0"/>
              <a:t>Jedin razlike je u pristupu (koncepcije i metodologije izučavanja).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84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Delovi analize sistema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sr-Latn-RS" dirty="0" smtClean="0"/>
              <a:t>Izbor objekta istraživanja. 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Određivanje aspekta posmatranja. 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Definisanje objekta istraživanja. 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Generalno ispitivanje objekta </a:t>
            </a:r>
            <a:r>
              <a:rPr lang="sr-Latn-RS" smtClean="0"/>
              <a:t>ispitivanja.</a:t>
            </a:r>
            <a:endParaRPr lang="sr-Latn-RS" dirty="0" smtClean="0"/>
          </a:p>
          <a:p>
            <a:pPr>
              <a:buFont typeface="+mj-lt"/>
              <a:buAutoNum type="arabicPeriod"/>
            </a:pPr>
            <a:r>
              <a:rPr lang="sr-Latn-RS" dirty="0" smtClean="0"/>
              <a:t>Razlaganje definisanog objekta istraživanja.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Generisanje strukture definisanog objekta istraživanja.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Definisanje kriterijuma istraživanja strukture.</a:t>
            </a:r>
          </a:p>
        </p:txBody>
      </p:sp>
    </p:spTree>
    <p:extLst>
      <p:ext uri="{BB962C8B-B14F-4D97-AF65-F5344CB8AC3E}">
        <p14:creationId xmlns:p14="http://schemas.microsoft.com/office/powerpoint/2010/main" val="1731129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Delovi analize sistema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 startAt="8"/>
            </a:pPr>
            <a:r>
              <a:rPr lang="sr-Latn-RS" dirty="0"/>
              <a:t>Istraživanja strukture.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Istraživanje elemenata, komponente.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Generisanje sistemskog modela.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Ispitivanje i eksperimentisanje sa sistemskim modelom.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Verifikovane rezultate istraživanja.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Odluka o ishodu procesa analize sistema.</a:t>
            </a:r>
          </a:p>
          <a:p>
            <a:pPr>
              <a:buFont typeface="+mj-lt"/>
              <a:buAutoNum type="arabicPeriod" startAt="8"/>
            </a:pPr>
            <a:r>
              <a:rPr lang="sr-Latn-RS" dirty="0"/>
              <a:t>Primena sistemskog modela.</a:t>
            </a:r>
            <a:endParaRPr lang="en-US" dirty="0"/>
          </a:p>
          <a:p>
            <a:pPr>
              <a:buFont typeface="+mj-lt"/>
              <a:buAutoNum type="arabicPeriod" startAt="8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7228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759</TotalTime>
  <Words>630</Words>
  <Application>Microsoft Office PowerPoint</Application>
  <PresentationFormat>Widescreen</PresentationFormat>
  <Paragraphs>100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Trebuchet MS</vt:lpstr>
      <vt:lpstr>Wingdings 3</vt:lpstr>
      <vt:lpstr>Facet</vt:lpstr>
      <vt:lpstr>Teorija sistema i informacija 4</vt:lpstr>
      <vt:lpstr>Analiza sistema</vt:lpstr>
      <vt:lpstr>PowerPoint Presentation</vt:lpstr>
      <vt:lpstr>Analiza sistema</vt:lpstr>
      <vt:lpstr>Strategije analize sistema</vt:lpstr>
      <vt:lpstr>Smanjivanje prostora istraživanja</vt:lpstr>
      <vt:lpstr>Deljenje prostora istraživanja</vt:lpstr>
      <vt:lpstr>Deljenje prostora istraživanja</vt:lpstr>
      <vt:lpstr>Uglovi posmatranja analize</vt:lpstr>
      <vt:lpstr>Teorija znanja</vt:lpstr>
      <vt:lpstr>Složenost</vt:lpstr>
      <vt:lpstr>Stepen konkretnosti</vt:lpstr>
      <vt:lpstr>Predmet i cilj</vt:lpstr>
      <vt:lpstr>Uopšteno o analizi</vt:lpstr>
      <vt:lpstr>PowerPoint Presentation</vt:lpstr>
      <vt:lpstr>PowerPoint Presentation</vt:lpstr>
      <vt:lpstr>Uopšteno o analizi</vt:lpstr>
      <vt:lpstr>Sinteza</vt:lpstr>
      <vt:lpstr>Analiza i sinteza</vt:lpstr>
      <vt:lpstr>Vrste sinteze</vt:lpstr>
      <vt:lpstr>Problemi</vt:lpstr>
      <vt:lpstr>Analiza sistema (sistem analiza)</vt:lpstr>
      <vt:lpstr>Delovi analize sistema </vt:lpstr>
      <vt:lpstr>Delovi analize sistema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 3</dc:title>
  <dc:creator>Radovan</dc:creator>
  <cp:lastModifiedBy>Radovan</cp:lastModifiedBy>
  <cp:revision>88</cp:revision>
  <dcterms:created xsi:type="dcterms:W3CDTF">2017-03-02T15:24:38Z</dcterms:created>
  <dcterms:modified xsi:type="dcterms:W3CDTF">2017-03-12T18:25:22Z</dcterms:modified>
</cp:coreProperties>
</file>