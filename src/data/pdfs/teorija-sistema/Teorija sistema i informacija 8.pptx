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874" y="1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43923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4212209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384775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F80909F-1ECC-4B4A-8409-4F9B3CD71DE8}" type="datetimeFigureOut">
              <a:rPr lang="en-US" smtClean="0"/>
              <a:t>5/14/2017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651341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F80909F-1ECC-4B4A-8409-4F9B3CD71DE8}" type="datetimeFigureOut">
              <a:rPr lang="en-US" smtClean="0"/>
              <a:t>5/14/2017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4086956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F80909F-1ECC-4B4A-8409-4F9B3CD71DE8}" type="datetimeFigureOut">
              <a:rPr lang="en-US" smtClean="0"/>
              <a:t>5/14/2017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275409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80909F-1ECC-4B4A-8409-4F9B3CD71DE8}" type="datetimeFigureOut">
              <a:rPr lang="en-US" smtClean="0"/>
              <a:t>5/14/2017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5612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80909F-1ECC-4B4A-8409-4F9B3CD71DE8}" type="datetimeFigureOut">
              <a:rPr lang="en-US" smtClean="0"/>
              <a:t>5/14/2017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76260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80909F-1ECC-4B4A-8409-4F9B3CD71DE8}" type="datetimeFigureOut">
              <a:rPr lang="en-US" smtClean="0"/>
              <a:t>5/14/2017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008422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640181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7222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26189279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56816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17110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3759373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80909F-1ECC-4B4A-8409-4F9B3CD71DE8}" type="datetimeFigureOut">
              <a:rPr lang="en-US" smtClean="0"/>
              <a:t>5/14/2017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37B203-1AE9-409A-AA50-D644D07A5BB3}" type="slidenum">
              <a:rPr lang="en-US" smtClean="0"/>
              <a:t>‹#›</a:t>
            </a:fld>
            <a:endParaRPr lang="en-US"/>
          </a:p>
        </p:txBody>
      </p:sp>
    </p:spTree>
    <p:extLst>
      <p:ext uri="{BB962C8B-B14F-4D97-AF65-F5344CB8AC3E}">
        <p14:creationId xmlns:p14="http://schemas.microsoft.com/office/powerpoint/2010/main" val="67107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F80909F-1ECC-4B4A-8409-4F9B3CD71DE8}" type="datetimeFigureOut">
              <a:rPr lang="en-US" smtClean="0"/>
              <a:t>5/14/2017</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937B203-1AE9-409A-AA50-D644D07A5BB3}" type="slidenum">
              <a:rPr lang="en-US" smtClean="0"/>
              <a:t>‹#›</a:t>
            </a:fld>
            <a:endParaRPr lang="en-US"/>
          </a:p>
        </p:txBody>
      </p:sp>
    </p:spTree>
    <p:extLst>
      <p:ext uri="{BB962C8B-B14F-4D97-AF65-F5344CB8AC3E}">
        <p14:creationId xmlns:p14="http://schemas.microsoft.com/office/powerpoint/2010/main" val="2635711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Teorija</a:t>
            </a:r>
            <a:r>
              <a:rPr lang="en-US" dirty="0"/>
              <a:t> </a:t>
            </a:r>
            <a:r>
              <a:rPr lang="en-US" dirty="0" err="1"/>
              <a:t>sistema</a:t>
            </a:r>
            <a:r>
              <a:rPr lang="en-US" dirty="0"/>
              <a:t> </a:t>
            </a:r>
            <a:r>
              <a:rPr lang="en-US" dirty="0" err="1"/>
              <a:t>i</a:t>
            </a:r>
            <a:r>
              <a:rPr lang="en-US" dirty="0"/>
              <a:t> </a:t>
            </a:r>
            <a:r>
              <a:rPr lang="en-US" dirty="0" err="1"/>
              <a:t>informacija</a:t>
            </a:r>
            <a:r>
              <a:rPr lang="en-US" dirty="0"/>
              <a:t> </a:t>
            </a:r>
            <a:r>
              <a:rPr lang="en-US" dirty="0" smtClean="0"/>
              <a:t>8</a:t>
            </a:r>
            <a:endParaRPr lang="en-US" dirty="0"/>
          </a:p>
        </p:txBody>
      </p:sp>
      <p:sp>
        <p:nvSpPr>
          <p:cNvPr id="3" name="Subtitle 2"/>
          <p:cNvSpPr>
            <a:spLocks noGrp="1"/>
          </p:cNvSpPr>
          <p:nvPr>
            <p:ph type="subTitle" idx="1"/>
          </p:nvPr>
        </p:nvSpPr>
        <p:spPr/>
        <p:txBody>
          <a:bodyPr/>
          <a:lstStyle/>
          <a:p>
            <a:r>
              <a:rPr lang="en-US" dirty="0"/>
              <a:t>doc. </a:t>
            </a:r>
            <a:r>
              <a:rPr lang="en-US" dirty="0" err="1"/>
              <a:t>dr</a:t>
            </a:r>
            <a:r>
              <a:rPr lang="en-US" dirty="0"/>
              <a:t> Radovan </a:t>
            </a:r>
            <a:r>
              <a:rPr lang="en-US" dirty="0" err="1"/>
              <a:t>Vladisavljev</a:t>
            </a:r>
            <a:r>
              <a:rPr lang="sr-Latn-RS" dirty="0" err="1"/>
              <a:t>ić</a:t>
            </a:r>
            <a:endParaRPr lang="en-US" dirty="0"/>
          </a:p>
          <a:p>
            <a:endParaRPr lang="en-US" dirty="0"/>
          </a:p>
        </p:txBody>
      </p:sp>
    </p:spTree>
    <p:extLst>
      <p:ext uri="{BB962C8B-B14F-4D97-AF65-F5344CB8AC3E}">
        <p14:creationId xmlns:p14="http://schemas.microsoft.com/office/powerpoint/2010/main" val="100178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Zadatak	</a:t>
            </a:r>
            <a:endParaRPr lang="en-US" dirty="0"/>
          </a:p>
        </p:txBody>
      </p:sp>
      <p:sp>
        <p:nvSpPr>
          <p:cNvPr id="3" name="Content Placeholder 2"/>
          <p:cNvSpPr>
            <a:spLocks noGrp="1"/>
          </p:cNvSpPr>
          <p:nvPr>
            <p:ph idx="1"/>
          </p:nvPr>
        </p:nvSpPr>
        <p:spPr/>
        <p:txBody>
          <a:bodyPr>
            <a:normAutofit fontScale="85000" lnSpcReduction="10000"/>
          </a:bodyPr>
          <a:lstStyle/>
          <a:p>
            <a:r>
              <a:rPr lang="sr-Latn-RS" dirty="0" smtClean="0"/>
              <a:t>Na </a:t>
            </a:r>
            <a:r>
              <a:rPr lang="sr-Latn-RS" dirty="0" err="1" smtClean="0"/>
              <a:t>dvosemestralnom</a:t>
            </a:r>
            <a:r>
              <a:rPr lang="sr-Latn-RS" dirty="0" smtClean="0"/>
              <a:t> predmetu na završnoj godini, za uspešno savladavanje gradiva primenjuje se sledeća procedura: svaki student je dužan da uradi svakog semestra po 12 obaveznih vežbi i jedan projekat. Kada ove vežbe i projekat zadovolji, dobija potpis u </a:t>
            </a:r>
            <a:r>
              <a:rPr lang="sr-Latn-RS" dirty="0" err="1" smtClean="0"/>
              <a:t>ideks</a:t>
            </a:r>
            <a:r>
              <a:rPr lang="sr-Latn-RS" dirty="0" smtClean="0"/>
              <a:t> i stiče pravo na polaganje ispita.</a:t>
            </a:r>
          </a:p>
          <a:p>
            <a:r>
              <a:rPr lang="sr-Latn-RS" dirty="0" smtClean="0"/>
              <a:t>Ispit se sastoji od dva dela: pismenog i usmenog. Pismeni ispit je tako komponovan da se sastoji od teorijskih pitanja i od zadataka. Kada je student uspešan na oba dela, poziva se na usmeni deo ispita. Ishod usmenog ispita može da bude vrlo dobar ili neuspešan.</a:t>
            </a:r>
          </a:p>
          <a:p>
            <a:r>
              <a:rPr lang="sr-Latn-RS" dirty="0" smtClean="0"/>
              <a:t>Ako student delimično zadovoljava na pismenom ispitu, tada mu  se taj deo priznaje kod sledećeg polaganja. Kada student savlada pismeni ispit parcijalnim putem, tada može da polaže usmeni deo ispita, čiji ishod može da bude zadovoljavajući ili neuspešan.</a:t>
            </a:r>
          </a:p>
          <a:p>
            <a:r>
              <a:rPr lang="sr-Latn-RS" dirty="0" smtClean="0"/>
              <a:t>Za studente koji su odlični na vežbama i na projektu, postoji mogućnost da sa profesorom porazgovaraju o svim problemima data discipline. Rezultat ovog razgovora može da bude odlična ocena ili upućivanje u tok polaganja ispita sa ostalim studentima.</a:t>
            </a:r>
          </a:p>
          <a:p>
            <a:r>
              <a:rPr lang="sr-Latn-RS" dirty="0" smtClean="0"/>
              <a:t>Neuspešan ishod ispita znači da student ponavlja ispit i ništa mu se od ranije ne priznaje.</a:t>
            </a:r>
            <a:endParaRPr lang="en-US" dirty="0"/>
          </a:p>
        </p:txBody>
      </p:sp>
    </p:spTree>
    <p:extLst>
      <p:ext uri="{BB962C8B-B14F-4D97-AF65-F5344CB8AC3E}">
        <p14:creationId xmlns:p14="http://schemas.microsoft.com/office/powerpoint/2010/main" val="384846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38863" y="29152"/>
            <a:ext cx="9960772" cy="6828848"/>
          </a:xfrm>
          <a:prstGeom prst="rect">
            <a:avLst/>
          </a:prstGeom>
        </p:spPr>
      </p:pic>
    </p:spTree>
    <p:extLst>
      <p:ext uri="{BB962C8B-B14F-4D97-AF65-F5344CB8AC3E}">
        <p14:creationId xmlns:p14="http://schemas.microsoft.com/office/powerpoint/2010/main" val="150087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17290" y="0"/>
            <a:ext cx="8053206" cy="6858000"/>
          </a:xfrm>
          <a:prstGeom prst="rect">
            <a:avLst/>
          </a:prstGeom>
        </p:spPr>
      </p:pic>
    </p:spTree>
    <p:extLst>
      <p:ext uri="{BB962C8B-B14F-4D97-AF65-F5344CB8AC3E}">
        <p14:creationId xmlns:p14="http://schemas.microsoft.com/office/powerpoint/2010/main" val="3940056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4466" y="0"/>
            <a:ext cx="11475915" cy="6858000"/>
          </a:xfrm>
          <a:prstGeom prst="rect">
            <a:avLst/>
          </a:prstGeom>
        </p:spPr>
      </p:pic>
    </p:spTree>
    <p:extLst>
      <p:ext uri="{BB962C8B-B14F-4D97-AF65-F5344CB8AC3E}">
        <p14:creationId xmlns:p14="http://schemas.microsoft.com/office/powerpoint/2010/main" val="3077756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661447"/>
            <a:ext cx="11916697" cy="3314411"/>
          </a:xfrm>
          <a:prstGeom prst="rect">
            <a:avLst/>
          </a:prstGeom>
        </p:spPr>
      </p:pic>
    </p:spTree>
    <p:extLst>
      <p:ext uri="{BB962C8B-B14F-4D97-AF65-F5344CB8AC3E}">
        <p14:creationId xmlns:p14="http://schemas.microsoft.com/office/powerpoint/2010/main" val="3393259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98990" y="0"/>
            <a:ext cx="4891982" cy="6811359"/>
          </a:xfrm>
          <a:prstGeom prst="rect">
            <a:avLst/>
          </a:prstGeom>
        </p:spPr>
      </p:pic>
    </p:spTree>
    <p:extLst>
      <p:ext uri="{BB962C8B-B14F-4D97-AF65-F5344CB8AC3E}">
        <p14:creationId xmlns:p14="http://schemas.microsoft.com/office/powerpoint/2010/main" val="2321370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Ponašanje delova i celine</a:t>
            </a:r>
            <a:endParaRPr lang="en-US" dirty="0"/>
          </a:p>
        </p:txBody>
      </p:sp>
      <p:sp>
        <p:nvSpPr>
          <p:cNvPr id="3" name="Content Placeholder 2"/>
          <p:cNvSpPr>
            <a:spLocks noGrp="1"/>
          </p:cNvSpPr>
          <p:nvPr>
            <p:ph idx="1"/>
          </p:nvPr>
        </p:nvSpPr>
        <p:spPr/>
        <p:txBody>
          <a:bodyPr/>
          <a:lstStyle/>
          <a:p>
            <a:r>
              <a:rPr lang="sr-Latn-RS" dirty="0" smtClean="0"/>
              <a:t>Postoji mnogo uglova za izučavanje odnosa delova i celine, ali analitički i sintetički pristup se najčešći.</a:t>
            </a:r>
          </a:p>
          <a:p>
            <a:r>
              <a:rPr lang="sr-Latn-RS" dirty="0" smtClean="0"/>
              <a:t>Ne zaboravite da u opštem slučaju broj elemenata određuje broj relacija po formuli v = n(n-1) (n – broj elemenata sistema).</a:t>
            </a:r>
          </a:p>
          <a:p>
            <a:r>
              <a:rPr lang="sr-Latn-RS" dirty="0" smtClean="0"/>
              <a:t>Takođe kod preslikavanja uvek imamo određeno vreme trajanja, usled vremena trajanja transformacija. </a:t>
            </a:r>
            <a:r>
              <a:rPr lang="sr-Latn-RS" dirty="0" smtClean="0">
                <a:sym typeface="Symbol" panose="05050102010706020507" pitchFamily="18" charset="2"/>
              </a:rPr>
              <a:t>t</a:t>
            </a:r>
            <a:r>
              <a:rPr lang="sr-Latn-RS" dirty="0" smtClean="0"/>
              <a:t> = t</a:t>
            </a:r>
            <a:r>
              <a:rPr lang="sr-Latn-RS" baseline="-25000" dirty="0" smtClean="0"/>
              <a:t>2</a:t>
            </a:r>
            <a:r>
              <a:rPr lang="sr-Latn-RS" dirty="0" smtClean="0"/>
              <a:t> – t</a:t>
            </a:r>
            <a:r>
              <a:rPr lang="sr-Latn-RS" baseline="-25000" dirty="0" smtClean="0"/>
              <a:t>1</a:t>
            </a:r>
            <a:endParaRPr lang="en-US" baseline="-25000" dirty="0"/>
          </a:p>
        </p:txBody>
      </p:sp>
    </p:spTree>
    <p:extLst>
      <p:ext uri="{BB962C8B-B14F-4D97-AF65-F5344CB8AC3E}">
        <p14:creationId xmlns:p14="http://schemas.microsoft.com/office/powerpoint/2010/main" val="3831853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5191" y="21154"/>
            <a:ext cx="5329083" cy="6836846"/>
          </a:xfrm>
          <a:prstGeom prst="rect">
            <a:avLst/>
          </a:prstGeom>
        </p:spPr>
      </p:pic>
    </p:spTree>
    <p:extLst>
      <p:ext uri="{BB962C8B-B14F-4D97-AF65-F5344CB8AC3E}">
        <p14:creationId xmlns:p14="http://schemas.microsoft.com/office/powerpoint/2010/main" val="1106498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Tipovi elementa (smo izabrani slučajevi)</a:t>
            </a:r>
            <a:endParaRPr lang="en-US" dirty="0"/>
          </a:p>
        </p:txBody>
      </p:sp>
      <p:sp>
        <p:nvSpPr>
          <p:cNvPr id="3" name="Content Placeholder 2"/>
          <p:cNvSpPr>
            <a:spLocks noGrp="1"/>
          </p:cNvSpPr>
          <p:nvPr>
            <p:ph idx="1"/>
          </p:nvPr>
        </p:nvSpPr>
        <p:spPr/>
        <p:txBody>
          <a:bodyPr/>
          <a:lstStyle/>
          <a:p>
            <a:r>
              <a:rPr lang="sr-Latn-RS" dirty="0" smtClean="0"/>
              <a:t>Praktično je nemoguće pobrojati sve tipove elemenata.</a:t>
            </a:r>
            <a:endParaRPr lang="en-US" dirty="0"/>
          </a:p>
        </p:txBody>
      </p:sp>
    </p:spTree>
    <p:extLst>
      <p:ext uri="{BB962C8B-B14F-4D97-AF65-F5344CB8AC3E}">
        <p14:creationId xmlns:p14="http://schemas.microsoft.com/office/powerpoint/2010/main" val="3101732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Aditivni elementi (elementi koji sabiraju)</a:t>
            </a:r>
            <a:endParaRPr lang="en-US" dirty="0"/>
          </a:p>
        </p:txBody>
      </p:sp>
      <p:pic>
        <p:nvPicPr>
          <p:cNvPr id="4" name="Picture 3"/>
          <p:cNvPicPr>
            <a:picLocks noChangeAspect="1"/>
          </p:cNvPicPr>
          <p:nvPr/>
        </p:nvPicPr>
        <p:blipFill>
          <a:blip r:embed="rId2"/>
          <a:stretch>
            <a:fillRect/>
          </a:stretch>
        </p:blipFill>
        <p:spPr>
          <a:xfrm>
            <a:off x="1006828" y="2211389"/>
            <a:ext cx="7937680" cy="4529721"/>
          </a:xfrm>
          <a:prstGeom prst="rect">
            <a:avLst/>
          </a:prstGeom>
        </p:spPr>
      </p:pic>
    </p:spTree>
    <p:extLst>
      <p:ext uri="{BB962C8B-B14F-4D97-AF65-F5344CB8AC3E}">
        <p14:creationId xmlns:p14="http://schemas.microsoft.com/office/powerpoint/2010/main" val="3322164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Elementi koji množe</a:t>
            </a:r>
            <a:endParaRPr lang="en-US" dirty="0"/>
          </a:p>
        </p:txBody>
      </p:sp>
      <p:pic>
        <p:nvPicPr>
          <p:cNvPr id="4" name="Picture 3"/>
          <p:cNvPicPr>
            <a:picLocks noChangeAspect="1"/>
          </p:cNvPicPr>
          <p:nvPr/>
        </p:nvPicPr>
        <p:blipFill>
          <a:blip r:embed="rId2"/>
          <a:stretch>
            <a:fillRect/>
          </a:stretch>
        </p:blipFill>
        <p:spPr>
          <a:xfrm>
            <a:off x="958080" y="1495847"/>
            <a:ext cx="8702854" cy="5247853"/>
          </a:xfrm>
          <a:prstGeom prst="rect">
            <a:avLst/>
          </a:prstGeom>
        </p:spPr>
      </p:pic>
    </p:spTree>
    <p:extLst>
      <p:ext uri="{BB962C8B-B14F-4D97-AF65-F5344CB8AC3E}">
        <p14:creationId xmlns:p14="http://schemas.microsoft.com/office/powerpoint/2010/main" val="3155964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Elementi koji oduzimaju</a:t>
            </a:r>
            <a:endParaRPr lang="en-US" dirty="0"/>
          </a:p>
        </p:txBody>
      </p:sp>
      <p:pic>
        <p:nvPicPr>
          <p:cNvPr id="4" name="Picture 3"/>
          <p:cNvPicPr>
            <a:picLocks noChangeAspect="1"/>
          </p:cNvPicPr>
          <p:nvPr/>
        </p:nvPicPr>
        <p:blipFill>
          <a:blip r:embed="rId2"/>
          <a:stretch>
            <a:fillRect/>
          </a:stretch>
        </p:blipFill>
        <p:spPr>
          <a:xfrm>
            <a:off x="677334" y="2209800"/>
            <a:ext cx="10626051" cy="2122804"/>
          </a:xfrm>
          <a:prstGeom prst="rect">
            <a:avLst/>
          </a:prstGeom>
        </p:spPr>
      </p:pic>
    </p:spTree>
    <p:extLst>
      <p:ext uri="{BB962C8B-B14F-4D97-AF65-F5344CB8AC3E}">
        <p14:creationId xmlns:p14="http://schemas.microsoft.com/office/powerpoint/2010/main" val="4271701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Elementi koji dele</a:t>
            </a:r>
            <a:endParaRPr lang="en-US" dirty="0"/>
          </a:p>
        </p:txBody>
      </p:sp>
      <p:pic>
        <p:nvPicPr>
          <p:cNvPr id="4" name="Picture 3"/>
          <p:cNvPicPr>
            <a:picLocks noChangeAspect="1"/>
          </p:cNvPicPr>
          <p:nvPr/>
        </p:nvPicPr>
        <p:blipFill>
          <a:blip r:embed="rId2"/>
          <a:stretch>
            <a:fillRect/>
          </a:stretch>
        </p:blipFill>
        <p:spPr>
          <a:xfrm>
            <a:off x="1181099" y="1744443"/>
            <a:ext cx="9521801" cy="3786407"/>
          </a:xfrm>
          <a:prstGeom prst="rect">
            <a:avLst/>
          </a:prstGeom>
        </p:spPr>
      </p:pic>
    </p:spTree>
    <p:extLst>
      <p:ext uri="{BB962C8B-B14F-4D97-AF65-F5344CB8AC3E}">
        <p14:creationId xmlns:p14="http://schemas.microsoft.com/office/powerpoint/2010/main" val="3892205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Elementi sa jednom promenjivom</a:t>
            </a:r>
            <a:endParaRPr lang="en-US" dirty="0"/>
          </a:p>
        </p:txBody>
      </p:sp>
      <p:pic>
        <p:nvPicPr>
          <p:cNvPr id="4" name="Picture 3"/>
          <p:cNvPicPr>
            <a:picLocks noChangeAspect="1"/>
          </p:cNvPicPr>
          <p:nvPr/>
        </p:nvPicPr>
        <p:blipFill>
          <a:blip r:embed="rId2"/>
          <a:stretch>
            <a:fillRect/>
          </a:stretch>
        </p:blipFill>
        <p:spPr>
          <a:xfrm>
            <a:off x="850900" y="1505691"/>
            <a:ext cx="10841751" cy="4812559"/>
          </a:xfrm>
          <a:prstGeom prst="rect">
            <a:avLst/>
          </a:prstGeom>
        </p:spPr>
      </p:pic>
    </p:spTree>
    <p:extLst>
      <p:ext uri="{BB962C8B-B14F-4D97-AF65-F5344CB8AC3E}">
        <p14:creationId xmlns:p14="http://schemas.microsoft.com/office/powerpoint/2010/main" val="3010922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Elementi sa više promenjivih</a:t>
            </a:r>
            <a:endParaRPr lang="en-US" dirty="0"/>
          </a:p>
        </p:txBody>
      </p:sp>
      <p:pic>
        <p:nvPicPr>
          <p:cNvPr id="4" name="Picture 3"/>
          <p:cNvPicPr>
            <a:picLocks noChangeAspect="1"/>
          </p:cNvPicPr>
          <p:nvPr/>
        </p:nvPicPr>
        <p:blipFill>
          <a:blip r:embed="rId2"/>
          <a:stretch>
            <a:fillRect/>
          </a:stretch>
        </p:blipFill>
        <p:spPr>
          <a:xfrm>
            <a:off x="774700" y="1930400"/>
            <a:ext cx="11235501" cy="3266925"/>
          </a:xfrm>
          <a:prstGeom prst="rect">
            <a:avLst/>
          </a:prstGeom>
        </p:spPr>
      </p:pic>
    </p:spTree>
    <p:extLst>
      <p:ext uri="{BB962C8B-B14F-4D97-AF65-F5344CB8AC3E}">
        <p14:creationId xmlns:p14="http://schemas.microsoft.com/office/powerpoint/2010/main" val="2342666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2667" y="0"/>
            <a:ext cx="11081645" cy="6858000"/>
          </a:xfrm>
          <a:prstGeom prst="rect">
            <a:avLst/>
          </a:prstGeom>
        </p:spPr>
      </p:pic>
    </p:spTree>
    <p:extLst>
      <p:ext uri="{BB962C8B-B14F-4D97-AF65-F5344CB8AC3E}">
        <p14:creationId xmlns:p14="http://schemas.microsoft.com/office/powerpoint/2010/main" val="164796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Stabilnost</a:t>
            </a:r>
            <a:endParaRPr lang="en-US" dirty="0"/>
          </a:p>
        </p:txBody>
      </p:sp>
      <p:sp>
        <p:nvSpPr>
          <p:cNvPr id="3" name="Content Placeholder 2"/>
          <p:cNvSpPr>
            <a:spLocks noGrp="1"/>
          </p:cNvSpPr>
          <p:nvPr>
            <p:ph idx="1"/>
          </p:nvPr>
        </p:nvSpPr>
        <p:spPr/>
        <p:txBody>
          <a:bodyPr/>
          <a:lstStyle/>
          <a:p>
            <a:r>
              <a:rPr lang="sr-Latn-RS" dirty="0" smtClean="0"/>
              <a:t>Do sada smo već obrađivali ovu temu iz različitih uglova.</a:t>
            </a:r>
          </a:p>
          <a:p>
            <a:r>
              <a:rPr lang="sr-Latn-RS" dirty="0" smtClean="0"/>
              <a:t>U slučaju velikog broja sistema koji se kreću, pokazuju određena ponašanja, postoje aspekti po kojima se taj sistem ne menja tj. poseduje svojstvo stabilnosti INVARJANTOSTI.</a:t>
            </a:r>
          </a:p>
          <a:p>
            <a:r>
              <a:rPr lang="sr-Latn-RS" dirty="0" smtClean="0"/>
              <a:t>Stanja koja teže identičnim transformacijama nazivamo RAVNOTEŽNIM STANJIMA. </a:t>
            </a:r>
          </a:p>
          <a:p>
            <a:r>
              <a:rPr lang="sr-Latn-RS" dirty="0" smtClean="0"/>
              <a:t>I kod vektorskih veličina imamo ravnotežu, sve koordinate vektora moraju biti u nepromenjene. </a:t>
            </a:r>
            <a:endParaRPr lang="en-US" dirty="0"/>
          </a:p>
        </p:txBody>
      </p:sp>
    </p:spTree>
    <p:extLst>
      <p:ext uri="{BB962C8B-B14F-4D97-AF65-F5344CB8AC3E}">
        <p14:creationId xmlns:p14="http://schemas.microsoft.com/office/powerpoint/2010/main" val="2911566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err="1" smtClean="0"/>
              <a:t>Cikličnost</a:t>
            </a:r>
            <a:r>
              <a:rPr lang="sr-Latn-RS" dirty="0" smtClean="0"/>
              <a:t> i </a:t>
            </a:r>
            <a:r>
              <a:rPr lang="sr-Latn-RS" dirty="0" err="1" smtClean="0"/>
              <a:t>smetenje</a:t>
            </a:r>
            <a:endParaRPr lang="en-US" dirty="0"/>
          </a:p>
        </p:txBody>
      </p:sp>
      <p:sp>
        <p:nvSpPr>
          <p:cNvPr id="3" name="Content Placeholder 2"/>
          <p:cNvSpPr>
            <a:spLocks noGrp="1"/>
          </p:cNvSpPr>
          <p:nvPr>
            <p:ph idx="1"/>
          </p:nvPr>
        </p:nvSpPr>
        <p:spPr/>
        <p:txBody>
          <a:bodyPr/>
          <a:lstStyle/>
          <a:p>
            <a:r>
              <a:rPr lang="sr-Latn-RS" dirty="0" smtClean="0"/>
              <a:t>Ravnotežni prostor je skup stanja koji se sukcesivno ponavlja tj. ima osobinu </a:t>
            </a:r>
            <a:r>
              <a:rPr lang="sr-Latn-RS" dirty="0" err="1" smtClean="0"/>
              <a:t>cikličnosti</a:t>
            </a:r>
            <a:r>
              <a:rPr lang="sr-Latn-RS" dirty="0" smtClean="0"/>
              <a:t>. </a:t>
            </a:r>
          </a:p>
          <a:p>
            <a:r>
              <a:rPr lang="sr-Latn-RS" dirty="0" smtClean="0"/>
              <a:t>Naredni pojam koji je važan sa stanovišta stabilnosti je SMETNJA.</a:t>
            </a:r>
          </a:p>
          <a:p>
            <a:r>
              <a:rPr lang="sr-Latn-RS" dirty="0" smtClean="0"/>
              <a:t>Pojam stabilnosti je u velikoj meri određen smetnjom, po pojavi iste sistem bi trebalo da je u mogućnosti da se vrati u prvobitno stanje.</a:t>
            </a:r>
            <a:endParaRPr lang="en-US" dirty="0"/>
          </a:p>
        </p:txBody>
      </p:sp>
    </p:spTree>
    <p:extLst>
      <p:ext uri="{BB962C8B-B14F-4D97-AF65-F5344CB8AC3E}">
        <p14:creationId xmlns:p14="http://schemas.microsoft.com/office/powerpoint/2010/main" val="332611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350" y="1210172"/>
            <a:ext cx="11901301" cy="4352428"/>
          </a:xfrm>
          <a:prstGeom prst="rect">
            <a:avLst/>
          </a:prstGeom>
        </p:spPr>
      </p:pic>
    </p:spTree>
    <p:extLst>
      <p:ext uri="{BB962C8B-B14F-4D97-AF65-F5344CB8AC3E}">
        <p14:creationId xmlns:p14="http://schemas.microsoft.com/office/powerpoint/2010/main" val="203406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654049"/>
            <a:ext cx="11982450" cy="5648646"/>
          </a:xfrm>
          <a:prstGeom prst="rect">
            <a:avLst/>
          </a:prstGeom>
        </p:spPr>
      </p:pic>
      <p:sp>
        <p:nvSpPr>
          <p:cNvPr id="5" name="Content Placeholder 2"/>
          <p:cNvSpPr>
            <a:spLocks noGrp="1"/>
          </p:cNvSpPr>
          <p:nvPr>
            <p:ph idx="1"/>
          </p:nvPr>
        </p:nvSpPr>
        <p:spPr>
          <a:xfrm>
            <a:off x="1229784" y="6142039"/>
            <a:ext cx="8596668" cy="715961"/>
          </a:xfrm>
        </p:spPr>
        <p:txBody>
          <a:bodyPr/>
          <a:lstStyle/>
          <a:p>
            <a:r>
              <a:rPr lang="sr-Latn-RS" dirty="0" smtClean="0"/>
              <a:t>Stanja D(d) i D(h) su nestabilna stanja.</a:t>
            </a:r>
            <a:endParaRPr lang="en-US" dirty="0"/>
          </a:p>
        </p:txBody>
      </p:sp>
    </p:spTree>
    <p:extLst>
      <p:ext uri="{BB962C8B-B14F-4D97-AF65-F5344CB8AC3E}">
        <p14:creationId xmlns:p14="http://schemas.microsoft.com/office/powerpoint/2010/main" val="192992888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450</TotalTime>
  <Words>450</Words>
  <Application>Microsoft Office PowerPoint</Application>
  <PresentationFormat>Widescreen</PresentationFormat>
  <Paragraphs>30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Symbol</vt:lpstr>
      <vt:lpstr>Trebuchet MS</vt:lpstr>
      <vt:lpstr>Wingdings 3</vt:lpstr>
      <vt:lpstr>Facet</vt:lpstr>
      <vt:lpstr>Teorija sistema i informacija 8</vt:lpstr>
      <vt:lpstr>Zadatak </vt:lpstr>
      <vt:lpstr>PowerPoint Presentation</vt:lpstr>
      <vt:lpstr>PowerPoint Presentation</vt:lpstr>
      <vt:lpstr>PowerPoint Presentation</vt:lpstr>
      <vt:lpstr>PowerPoint Presentation</vt:lpstr>
      <vt:lpstr>PowerPoint Presentation</vt:lpstr>
      <vt:lpstr>Ponašanje delova i celine</vt:lpstr>
      <vt:lpstr>PowerPoint Presentation</vt:lpstr>
      <vt:lpstr>Tipovi elementa (smo izabrani slučajevi)</vt:lpstr>
      <vt:lpstr>Aditivni elementi (elementi koji sabiraju)</vt:lpstr>
      <vt:lpstr>Elementi koji množe</vt:lpstr>
      <vt:lpstr>Elementi koji oduzimaju</vt:lpstr>
      <vt:lpstr>Elementi koji dele</vt:lpstr>
      <vt:lpstr>Elementi sa jednom promenjivom</vt:lpstr>
      <vt:lpstr>Elementi sa više promenjivih</vt:lpstr>
      <vt:lpstr>PowerPoint Presentation</vt:lpstr>
      <vt:lpstr>Stabilnost</vt:lpstr>
      <vt:lpstr>Cikličnost i smetenje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Radovan</dc:creator>
  <cp:lastModifiedBy>Radovan</cp:lastModifiedBy>
  <cp:revision>48</cp:revision>
  <dcterms:created xsi:type="dcterms:W3CDTF">2017-05-06T15:24:07Z</dcterms:created>
  <dcterms:modified xsi:type="dcterms:W3CDTF">2017-05-14T21:53:25Z</dcterms:modified>
</cp:coreProperties>
</file>