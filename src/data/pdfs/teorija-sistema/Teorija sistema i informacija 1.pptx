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tiff" ContentType="image/tif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-126" y="-1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 cstate="print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C87E87BE-BA26-42ED-A3F5-C53DE7CB3E2B}" type="datetimeFigureOut">
              <a:rPr lang="en-US" smtClean="0"/>
              <a:pPr/>
              <a:t>2/20/2019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E20C854-7805-45A0-A3A9-0AD6A129F8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41605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87BE-BA26-42ED-A3F5-C53DE7CB3E2B}" type="datetimeFigureOut">
              <a:rPr lang="en-US" smtClean="0"/>
              <a:pPr/>
              <a:t>2/20/2019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C854-7805-45A0-A3A9-0AD6A129F8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80879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 cstate="print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87BE-BA26-42ED-A3F5-C53DE7CB3E2B}" type="datetimeFigureOut">
              <a:rPr lang="en-US" smtClean="0"/>
              <a:pPr/>
              <a:t>2/20/2019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C854-7805-45A0-A3A9-0AD6A129F8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81423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87BE-BA26-42ED-A3F5-C53DE7CB3E2B}" type="datetimeFigureOut">
              <a:rPr lang="en-US" smtClean="0"/>
              <a:pPr/>
              <a:t>2/20/2019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C854-7805-45A0-A3A9-0AD6A129F8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64478416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87BE-BA26-42ED-A3F5-C53DE7CB3E2B}" type="datetimeFigureOut">
              <a:rPr lang="en-US" smtClean="0"/>
              <a:pPr/>
              <a:t>2/20/2019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C854-7805-45A0-A3A9-0AD6A129F8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3464539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87BE-BA26-42ED-A3F5-C53DE7CB3E2B}" type="datetimeFigureOut">
              <a:rPr lang="en-US" smtClean="0"/>
              <a:pPr/>
              <a:t>2/20/2019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C854-7805-45A0-A3A9-0AD6A129F8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26719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87BE-BA26-42ED-A3F5-C53DE7CB3E2B}" type="datetimeFigureOut">
              <a:rPr lang="en-US" smtClean="0"/>
              <a:pPr/>
              <a:t>2/20/2019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C854-7805-45A0-A3A9-0AD6A129F8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42115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 cstate="print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87BE-BA26-42ED-A3F5-C53DE7CB3E2B}" type="datetimeFigureOut">
              <a:rPr lang="en-US" smtClean="0"/>
              <a:pPr/>
              <a:t>2/20/2019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C854-7805-45A0-A3A9-0AD6A129F8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10517981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 cstate="print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87BE-BA26-42ED-A3F5-C53DE7CB3E2B}" type="datetimeFigureOut">
              <a:rPr lang="en-US" smtClean="0"/>
              <a:pPr/>
              <a:t>2/20/2019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C854-7805-45A0-A3A9-0AD6A129F8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28453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 cstate="print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87BE-BA26-42ED-A3F5-C53DE7CB3E2B}" type="datetimeFigureOut">
              <a:rPr lang="en-US" smtClean="0"/>
              <a:pPr/>
              <a:t>2/20/2019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C854-7805-45A0-A3A9-0AD6A129F8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24232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 cstate="print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87BE-BA26-42ED-A3F5-C53DE7CB3E2B}" type="datetimeFigureOut">
              <a:rPr lang="en-US" smtClean="0"/>
              <a:pPr/>
              <a:t>2/20/2019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C854-7805-45A0-A3A9-0AD6A129F8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791243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 cstate="print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87BE-BA26-42ED-A3F5-C53DE7CB3E2B}" type="datetimeFigureOut">
              <a:rPr lang="en-US" smtClean="0"/>
              <a:pPr/>
              <a:t>2/20/2019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C854-7805-45A0-A3A9-0AD6A129F8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11603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 cstate="print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87BE-BA26-42ED-A3F5-C53DE7CB3E2B}" type="datetimeFigureOut">
              <a:rPr lang="en-US" smtClean="0"/>
              <a:pPr/>
              <a:t>2/20/2019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C854-7805-45A0-A3A9-0AD6A129F8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86631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87BE-BA26-42ED-A3F5-C53DE7CB3E2B}" type="datetimeFigureOut">
              <a:rPr lang="en-US" smtClean="0"/>
              <a:pPr/>
              <a:t>2/20/2019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C854-7805-45A0-A3A9-0AD6A129F8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953345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87BE-BA26-42ED-A3F5-C53DE7CB3E2B}" type="datetimeFigureOut">
              <a:rPr lang="en-US" smtClean="0"/>
              <a:pPr/>
              <a:t>2/20/2019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C854-7805-45A0-A3A9-0AD6A129F8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813434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C87E87BE-BA26-42ED-A3F5-C53DE7CB3E2B}" type="datetimeFigureOut">
              <a:rPr lang="en-US" smtClean="0"/>
              <a:pPr/>
              <a:t>2/20/2019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C854-7805-45A0-A3A9-0AD6A129F8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655558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 cstate="print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87E87BE-BA26-42ED-A3F5-C53DE7CB3E2B}" type="datetimeFigureOut">
              <a:rPr lang="en-US" smtClean="0"/>
              <a:pPr/>
              <a:t>2/20/2019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C854-7805-45A0-A3A9-0AD6A129F8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36060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 cstate="print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C87E87BE-BA26-42ED-A3F5-C53DE7CB3E2B}" type="datetimeFigureOut">
              <a:rPr lang="en-US" smtClean="0"/>
              <a:pPr/>
              <a:t>2/20/2019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E20C854-7805-45A0-A3A9-0AD6A129F8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70140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Teorija</a:t>
            </a:r>
            <a:r>
              <a:rPr lang="en-US" dirty="0" smtClean="0"/>
              <a:t> </a:t>
            </a:r>
            <a:r>
              <a:rPr lang="en-US" dirty="0" err="1" smtClean="0"/>
              <a:t>sistema</a:t>
            </a:r>
            <a:r>
              <a:rPr lang="en-US" dirty="0" smtClean="0"/>
              <a:t> </a:t>
            </a:r>
            <a:r>
              <a:rPr lang="x-none" dirty="0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informacija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x-none" dirty="0" smtClean="0"/>
              <a:t>Profesor: </a:t>
            </a:r>
            <a:r>
              <a:rPr lang="en-US" dirty="0" smtClean="0"/>
              <a:t>Doc. Dr Radovan </a:t>
            </a:r>
            <a:r>
              <a:rPr lang="en-US" dirty="0" err="1" smtClean="0"/>
              <a:t>Vladisavljevi</a:t>
            </a:r>
            <a:r>
              <a:rPr lang="x-none" smtClean="0"/>
              <a:t>ć</a:t>
            </a:r>
            <a:endParaRPr lang="x-none" dirty="0" smtClean="0"/>
          </a:p>
        </p:txBody>
      </p:sp>
    </p:spTree>
    <p:extLst>
      <p:ext uri="{BB962C8B-B14F-4D97-AF65-F5344CB8AC3E}">
        <p14:creationId xmlns:p14="http://schemas.microsoft.com/office/powerpoint/2010/main" xmlns="" val="3511602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 smtClean="0"/>
              <a:t>Uvod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x-none" dirty="0" smtClean="0"/>
              <a:t>Cilj predavanja:</a:t>
            </a:r>
          </a:p>
          <a:p>
            <a:r>
              <a:rPr lang="x-none" dirty="0" smtClean="0"/>
              <a:t>Upoznavanje sa osnovama teorije sistema.</a:t>
            </a:r>
          </a:p>
          <a:p>
            <a:r>
              <a:rPr lang="x-none" dirty="0" smtClean="0"/>
              <a:t>Upoznavanje opšteg sistemskog pristupa i metodologije sistemske analize.</a:t>
            </a:r>
          </a:p>
          <a:p>
            <a:r>
              <a:rPr lang="x-none" dirty="0" smtClean="0"/>
              <a:t>Metode modeliranja dinamike sistema.</a:t>
            </a:r>
          </a:p>
          <a:p>
            <a:r>
              <a:rPr lang="x-none" dirty="0" smtClean="0"/>
              <a:t>Usvajanje sistemskog načina razmišljanja i sistemske metodologije.</a:t>
            </a:r>
          </a:p>
          <a:p>
            <a:r>
              <a:rPr lang="x-none" dirty="0" smtClean="0"/>
              <a:t>Usvajanje osnovnih postulata sistemske analize za projektovanje sistema.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49530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 smtClean="0"/>
              <a:t>Uvod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x-none" dirty="0" smtClean="0"/>
              <a:t>Cilj vežbi:</a:t>
            </a:r>
          </a:p>
          <a:p>
            <a:r>
              <a:rPr lang="x-none" dirty="0" smtClean="0"/>
              <a:t>Izučavanje formalizovanih jezika za modelovanje.</a:t>
            </a:r>
          </a:p>
          <a:p>
            <a:r>
              <a:rPr lang="x-none" dirty="0" smtClean="0"/>
              <a:t>Uvod u UML.</a:t>
            </a:r>
          </a:p>
          <a:p>
            <a:r>
              <a:rPr lang="x-none" dirty="0" smtClean="0"/>
              <a:t>Izučavanje pojedinih dijagrama u UML-u.</a:t>
            </a:r>
          </a:p>
          <a:p>
            <a:r>
              <a:rPr lang="x-none" dirty="0" smtClean="0"/>
              <a:t>Analiza realnih sistema.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90845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 smtClean="0"/>
              <a:t>Vrednovanje napredovanja studenata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dirty="0" smtClean="0"/>
              <a:t>Aktivnost u toku nastave: 10 poena</a:t>
            </a:r>
          </a:p>
          <a:p>
            <a:r>
              <a:rPr lang="x-none" dirty="0" smtClean="0"/>
              <a:t>Vežbe: 10 poena</a:t>
            </a:r>
          </a:p>
          <a:p>
            <a:r>
              <a:rPr lang="x-none" dirty="0" smtClean="0"/>
              <a:t>Kolokvijuma: 30</a:t>
            </a:r>
          </a:p>
          <a:p>
            <a:r>
              <a:rPr lang="x-none" dirty="0" smtClean="0"/>
              <a:t>Seminarski rad: 20</a:t>
            </a:r>
          </a:p>
          <a:p>
            <a:r>
              <a:rPr lang="x-none" dirty="0" smtClean="0"/>
              <a:t>Pismeni ispit: 30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62167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x-none" dirty="0" smtClean="0"/>
          </a:p>
          <a:p>
            <a:r>
              <a:rPr lang="x-none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Što više budeš znao, manje ćeš razumeti.</a:t>
            </a:r>
          </a:p>
          <a:p>
            <a:pPr marL="0" indent="0">
              <a:buNone/>
            </a:pPr>
            <a:r>
              <a:rPr lang="x-none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Lao </a:t>
            </a:r>
            <a:r>
              <a:rPr lang="x-none" sz="2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Zi</a:t>
            </a:r>
            <a:endParaRPr lang="x-none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x-none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x-none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x-none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Znam da ništa ne znam.</a:t>
            </a:r>
          </a:p>
          <a:p>
            <a:pPr marL="0" indent="0">
              <a:buNone/>
            </a:pPr>
            <a:r>
              <a:rPr lang="x-none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Sokrat</a:t>
            </a:r>
          </a:p>
          <a:p>
            <a:endParaRPr lang="x-none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33175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 smtClean="0"/>
              <a:t>Uvodna razmatranja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dirty="0" smtClean="0"/>
              <a:t>Čovek u interakciji sa okruženje uči sve više o svetu koji ga okružuje, ali i o sebi.</a:t>
            </a:r>
          </a:p>
          <a:p>
            <a:r>
              <a:rPr lang="x-none" dirty="0" smtClean="0"/>
              <a:t>U ovoj interakciji čovek se uči da li i na koji način može da menja okruženje, ali i da mu se po potrebi prilagođava.</a:t>
            </a:r>
          </a:p>
          <a:p>
            <a:r>
              <a:rPr lang="x-none" dirty="0" smtClean="0"/>
              <a:t> Ali, obim i kompleksnost novih saznanja postaje toliko da pojedinac (pa čak i grupa) gube bitku.</a:t>
            </a:r>
          </a:p>
          <a:p>
            <a:r>
              <a:rPr lang="x-none" dirty="0" smtClean="0"/>
              <a:t>Informacije sa kojima pojedinac barata prevazilaze sposobnosti pamćenja i razumevanja.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50434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 smtClean="0"/>
              <a:t>Rešenje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dirty="0" smtClean="0"/>
              <a:t>Korišćenjem simbola, boja, slova, zvukova i sl.</a:t>
            </a:r>
          </a:p>
          <a:p>
            <a:r>
              <a:rPr lang="x-none" dirty="0" smtClean="0"/>
              <a:t>Čovek prvo označava objekte, a zatim i relacije.</a:t>
            </a:r>
          </a:p>
          <a:p>
            <a:r>
              <a:rPr lang="x-none" dirty="0" smtClean="0"/>
              <a:t>Pomoćna sredstva koja se koriste za merenje i rukovanje </a:t>
            </a:r>
            <a:r>
              <a:rPr lang="x-none" smtClean="0"/>
              <a:t>velikim </a:t>
            </a:r>
            <a:r>
              <a:rPr lang="x-none" smtClean="0"/>
              <a:t>količ</a:t>
            </a:r>
            <a:r>
              <a:rPr lang="en-US" dirty="0" smtClean="0"/>
              <a:t>in</a:t>
            </a:r>
            <a:r>
              <a:rPr lang="x-none" smtClean="0"/>
              <a:t>a</a:t>
            </a:r>
            <a:r>
              <a:rPr lang="en-US" dirty="0" smtClean="0"/>
              <a:t>m</a:t>
            </a:r>
            <a:r>
              <a:rPr lang="x-none" smtClean="0"/>
              <a:t>a </a:t>
            </a:r>
            <a:r>
              <a:rPr lang="x-none" dirty="0" smtClean="0"/>
              <a:t>informacija olakšava sebi.</a:t>
            </a:r>
          </a:p>
          <a:p>
            <a:r>
              <a:rPr lang="x-none" dirty="0" smtClean="0"/>
              <a:t>Zatim se pronalaze sredstva za memorisanje i obradu velikih količina informacija.</a:t>
            </a:r>
          </a:p>
          <a:p>
            <a:r>
              <a:rPr lang="x-none" dirty="0" smtClean="0"/>
              <a:t>Međutim, kompleksnost pojava oko čoveka vodi ka tome su informacije koje sakuplja postaju </a:t>
            </a:r>
            <a:r>
              <a:rPr lang="x-none" dirty="0" err="1" smtClean="0"/>
              <a:t>preobimne</a:t>
            </a:r>
            <a:r>
              <a:rPr lang="x-none" dirty="0" smtClean="0"/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36534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 smtClean="0"/>
              <a:t>Primer u nauci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dirty="0" smtClean="0"/>
              <a:t>Nauka o prirodi (PHILOSOPHIA NATURALIS) se raspada pod težinom informacija i znanja na manje celine.</a:t>
            </a:r>
          </a:p>
          <a:p>
            <a:r>
              <a:rPr lang="x-none" dirty="0" smtClean="0"/>
              <a:t>Ovaj proces se naziva: </a:t>
            </a:r>
            <a:r>
              <a:rPr lang="x-none" dirty="0" err="1" smtClean="0"/>
              <a:t>diferencijecija</a:t>
            </a:r>
            <a:r>
              <a:rPr lang="x-none" dirty="0" smtClean="0"/>
              <a:t>.</a:t>
            </a:r>
          </a:p>
          <a:p>
            <a:r>
              <a:rPr lang="x-none" dirty="0" smtClean="0"/>
              <a:t>Zahvaljujući ovom procesu danas imamo razne naučne oblasti poput: biologije, hemije, fizike, …</a:t>
            </a:r>
          </a:p>
          <a:p>
            <a:r>
              <a:rPr lang="x-none" dirty="0" smtClean="0"/>
              <a:t>Ovaj proces nije konačan tako da imamo diferencijaciju manjih oblasti, na primer hemije se deli na organsku i neorgansku, fizičku, …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95328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 smtClean="0"/>
              <a:t>Posledice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dirty="0" smtClean="0"/>
              <a:t>Razlaganje i selektivnost.</a:t>
            </a:r>
          </a:p>
          <a:p>
            <a:r>
              <a:rPr lang="x-none" dirty="0" smtClean="0"/>
              <a:t>Razlaganjem se kreira sve manje polje delovanja.</a:t>
            </a:r>
          </a:p>
          <a:p>
            <a:r>
              <a:rPr lang="x-none" dirty="0" smtClean="0"/>
              <a:t>Selektivnost ke proces u kojem se usmerava interesovanje samo na pojedine segmente. (i to ne samo interesovanje nego i resursi)</a:t>
            </a:r>
          </a:p>
          <a:p>
            <a:r>
              <a:rPr lang="x-none" dirty="0" smtClean="0"/>
              <a:t>Posledica ovome je pojava heterogenog razvoja nauke. Neki segmenti su izuzetno dobro zastupljeniji od drugih.</a:t>
            </a:r>
          </a:p>
          <a:p>
            <a:r>
              <a:rPr lang="x-none" dirty="0" smtClean="0"/>
              <a:t>Međutim, realni problemi koji nas okružuju se ne mogu rešiti usko specijalističkim znanjima.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226467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 smtClean="0"/>
              <a:t>Integracija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dirty="0" smtClean="0"/>
              <a:t>Kako bi se kompleksni problemi rešili pojavljuje se proces koji ide u suprotnom smeru od diferencijacije. </a:t>
            </a:r>
          </a:p>
          <a:p>
            <a:r>
              <a:rPr lang="x-none" dirty="0" smtClean="0"/>
              <a:t>Ovaj proces se naziva integracija i rezultuje velikim brojem hibridnih naučnih disciplina.</a:t>
            </a:r>
          </a:p>
          <a:p>
            <a:r>
              <a:rPr lang="x-none" dirty="0" smtClean="0"/>
              <a:t>Teorija sistema i teorija informacija je jedna od ovih disciplina.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33282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 smtClean="0"/>
              <a:t>Proces integracije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dirty="0" smtClean="0"/>
              <a:t>U osnovi procesa integracije leži Teorija sličnosti.</a:t>
            </a:r>
          </a:p>
          <a:p>
            <a:r>
              <a:rPr lang="x-none" dirty="0" smtClean="0"/>
              <a:t>Uočeno je da je na određenom nivou apstrakcije veliki broj različitih pojava, procesa i interakcija postaju slični u toj meri da za njihovo opisivanje i prikazivanje možemo koristiti isti matematički aparat. </a:t>
            </a:r>
          </a:p>
          <a:p>
            <a:r>
              <a:rPr lang="x-none" dirty="0" smtClean="0"/>
              <a:t>Na primer tok vode i električne struje su u velikoj meri slični.</a:t>
            </a:r>
          </a:p>
          <a:p>
            <a:r>
              <a:rPr lang="x-none" dirty="0" smtClean="0"/>
              <a:t>Takođe, pojavljuju se problemi u realnom svetu koji se ne mogu rešiti parcijalnim naukama. (logistički problemi u vojsci, a kasnije i u civilstvu)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49494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 smtClean="0"/>
              <a:t>Osnovi opšte teorije sistema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dirty="0" smtClean="0"/>
              <a:t>Sistema i sistemske osobine mogu se prepoznati u svakom objektu posmatranja.</a:t>
            </a:r>
          </a:p>
          <a:p>
            <a:r>
              <a:rPr lang="x-none" dirty="0" smtClean="0"/>
              <a:t>Teoretski se bilo koji objekat naučnog istraživanja može shvatiti kao zaseban sistem.</a:t>
            </a:r>
          </a:p>
          <a:p>
            <a:r>
              <a:rPr lang="x-none" dirty="0" smtClean="0"/>
              <a:t>Primena Teorije sistema je višestruka i praktično veliki broj nauka je obogaćen novim fondovima znanja zahvaljujući osnovnim postulatima Opšte teorije sistema. (biologija, ekologija, hemija, mehanika, INFORMATIKA,…)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93711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Osnovi opšte teorije sistema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dirty="0" smtClean="0"/>
              <a:t>Jedna od važnih funkcija Opšte teorije sistema je da obezbedi jedinstveni skup pojmova, metoda i instrumenata za istraživane i opis kompleksnih pojava i objekata, polazeći od proverenih naučnih saznanih metoda u filozofiji i u drugim naučnim disciplinama. </a:t>
            </a:r>
          </a:p>
          <a:p>
            <a:r>
              <a:rPr lang="x-none" dirty="0" smtClean="0"/>
              <a:t>Drugim rečima: parcijalne nauke imaju tendenciju da postanu „izolovana ostrva“. Svrha Opšte teorije sistema je da se to ne dogodi.</a:t>
            </a:r>
          </a:p>
        </p:txBody>
      </p:sp>
    </p:spTree>
    <p:extLst>
      <p:ext uri="{BB962C8B-B14F-4D97-AF65-F5344CB8AC3E}">
        <p14:creationId xmlns:p14="http://schemas.microsoft.com/office/powerpoint/2010/main" xmlns="" val="1397529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 smtClean="0"/>
              <a:t>Teorija sistema kao aspekat posmatranja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dirty="0" smtClean="0"/>
              <a:t>Zahvaljujući Teoriji sistema mnogi fenomeni, objekti i relacije mogu da se posmatraju iz više različitih aspekata.</a:t>
            </a:r>
          </a:p>
          <a:p>
            <a:r>
              <a:rPr lang="x-none" dirty="0" smtClean="0"/>
              <a:t>Međutim, posmatranje u velikoj meri zavisi od vrednosnih kapaciteta i položaja posmatrača. Svi mi posmatramo svet kroz naš individualni sistem vrednosti.</a:t>
            </a:r>
          </a:p>
          <a:p>
            <a:r>
              <a:rPr lang="x-none" dirty="0" smtClean="0"/>
              <a:t>Ovo se naziva „čelični zakon perspektive“. </a:t>
            </a:r>
          </a:p>
          <a:p>
            <a:r>
              <a:rPr lang="x-none" dirty="0" smtClean="0"/>
              <a:t>Kako bi se ovaj zakon ograničio u donošenju sudova vodi se računa i o ovom efektu.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34511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Teorija sistema kao aspekat posmatranja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dirty="0" smtClean="0"/>
              <a:t>Kako bi dočarali uticaj „čeličnog zakona perspektive“ opisaćemo način posmatranja </a:t>
            </a:r>
            <a:r>
              <a:rPr lang="x-none" dirty="0" err="1" smtClean="0"/>
              <a:t>generaliste</a:t>
            </a:r>
            <a:r>
              <a:rPr lang="x-none" dirty="0" smtClean="0"/>
              <a:t> i </a:t>
            </a:r>
            <a:r>
              <a:rPr lang="x-none" dirty="0" err="1" smtClean="0"/>
              <a:t>partikulariste</a:t>
            </a:r>
            <a:r>
              <a:rPr lang="x-none" dirty="0" smtClean="0"/>
              <a:t>. </a:t>
            </a:r>
          </a:p>
          <a:p>
            <a:r>
              <a:rPr lang="x-none" dirty="0" smtClean="0"/>
              <a:t>U </a:t>
            </a:r>
            <a:r>
              <a:rPr lang="x-none" dirty="0" err="1" smtClean="0"/>
              <a:t>generalističkom</a:t>
            </a:r>
            <a:r>
              <a:rPr lang="x-none" dirty="0" smtClean="0"/>
              <a:t> pristupu centralno mesto pripadaju zakonitostima, redu, određenosti, sistematičnosti i izvesnosti.</a:t>
            </a:r>
          </a:p>
          <a:p>
            <a:r>
              <a:rPr lang="x-none" dirty="0" smtClean="0"/>
              <a:t>Primer šetnje kroz strani grad </a:t>
            </a:r>
            <a:r>
              <a:rPr lang="x-none" dirty="0" err="1" smtClean="0"/>
              <a:t>generaliste</a:t>
            </a:r>
            <a:r>
              <a:rPr lang="x-none" dirty="0" smtClean="0"/>
              <a:t> i istoričara (partikularna nauka).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67715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 smtClean="0"/>
              <a:t>Opasnosti </a:t>
            </a:r>
            <a:r>
              <a:rPr lang="x-none" dirty="0" err="1" smtClean="0"/>
              <a:t>generalističke</a:t>
            </a:r>
            <a:r>
              <a:rPr lang="x-none" dirty="0" smtClean="0"/>
              <a:t> perspektive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i="1" dirty="0" smtClean="0"/>
              <a:t>Površnost i diletantizam</a:t>
            </a:r>
            <a:r>
              <a:rPr lang="x-none" dirty="0" smtClean="0"/>
              <a:t>, pokušaj da se sagledaju kompleksne pojave kroz apstrakciju.</a:t>
            </a:r>
          </a:p>
          <a:p>
            <a:r>
              <a:rPr lang="x-none" i="1" dirty="0" smtClean="0"/>
              <a:t>Videti red gde ga zapravo nema</a:t>
            </a:r>
            <a:r>
              <a:rPr lang="x-none" dirty="0" smtClean="0"/>
              <a:t>.</a:t>
            </a:r>
          </a:p>
          <a:p>
            <a:r>
              <a:rPr lang="x-none" i="1" dirty="0" smtClean="0"/>
              <a:t>Postavljanje pogrešnih analogija</a:t>
            </a:r>
            <a:r>
              <a:rPr lang="x-none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629572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Opasnosti </a:t>
            </a:r>
            <a:r>
              <a:rPr lang="x-none" dirty="0" smtClean="0"/>
              <a:t>partikularne </a:t>
            </a:r>
            <a:r>
              <a:rPr lang="x-none" dirty="0"/>
              <a:t>perspektive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dirty="0" smtClean="0"/>
              <a:t>Kad je objekat posmatranja kompleksan i ne da se razlagati, a da se pri tome bitna svojstva te pojave ne izgube.</a:t>
            </a:r>
          </a:p>
          <a:p>
            <a:r>
              <a:rPr lang="x-none" dirty="0" err="1" smtClean="0"/>
              <a:t>Heisenberg</a:t>
            </a:r>
            <a:r>
              <a:rPr lang="x-none" dirty="0" smtClean="0"/>
              <a:t>-ova relacije neodređenosti. Kada je objekat posmatranja i informacija o njemu istog reda veličine (ne može se dobiti informacija o objektu, a da on ne promeni).</a:t>
            </a:r>
          </a:p>
          <a:p>
            <a:r>
              <a:rPr lang="x-none" dirty="0" smtClean="0"/>
              <a:t>Kada je objekat ispitivanja neodređen, slučajan ili </a:t>
            </a:r>
            <a:r>
              <a:rPr lang="x-none" dirty="0" err="1" smtClean="0"/>
              <a:t>stohastičan</a:t>
            </a:r>
            <a:r>
              <a:rPr lang="x-none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818193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 smtClean="0"/>
              <a:t>Mesto i uloga Teorije sistema u nauci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dirty="0" smtClean="0"/>
              <a:t>Sistemske discipline nastaju u trenutku kada dosadašnje nauke ne mogu da rešavaju kompleksne probleme.</a:t>
            </a:r>
          </a:p>
          <a:p>
            <a:r>
              <a:rPr lang="x-none" dirty="0" smtClean="0"/>
              <a:t>Na prime: ekologija, zaštita životne sredine, poslovna informatika, 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562004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987902" y="555881"/>
            <a:ext cx="7325379" cy="6225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504483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Mesto i uloga Teorije sistema u nauci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dirty="0" smtClean="0"/>
              <a:t>U koordinatnom sistemu X i Y koordinate su predviđene za realan svet.</a:t>
            </a:r>
          </a:p>
          <a:p>
            <a:r>
              <a:rPr lang="x-none" dirty="0" smtClean="0"/>
              <a:t>Sa druge strane Z koordinata označava nivo apstrakcije.</a:t>
            </a:r>
          </a:p>
          <a:p>
            <a:r>
              <a:rPr lang="x-none" dirty="0" smtClean="0"/>
              <a:t>Matematika teži da opšte relacije obuhvati u jedan povezani sistem koji zapravo nema nikakve nužne relacije sa našim realnim svetom. </a:t>
            </a:r>
          </a:p>
          <a:p>
            <a:r>
              <a:rPr lang="x-none" dirty="0" smtClean="0"/>
              <a:t>Matematika na visokom nivou apstrakcije sadrži sve teorija, a zapravo ne sadrži ni jednu, ona je jezik teorije, ali nam ne saopštava njihov sadržaj.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337858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 smtClean="0"/>
              <a:t>Putevi izgradnje Opšte teorije sistema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dirty="0" smtClean="0"/>
              <a:t>Postoji veliki broj puteva izgradnje opšte teorije sistema.</a:t>
            </a:r>
          </a:p>
          <a:p>
            <a:r>
              <a:rPr lang="x-none" dirty="0" smtClean="0"/>
              <a:t>U nauci najčešće se pojavljuju četiri osnovna puta koja </a:t>
            </a:r>
            <a:r>
              <a:rPr lang="x-none" smtClean="0"/>
              <a:t>se </a:t>
            </a:r>
            <a:r>
              <a:rPr lang="x-none" smtClean="0"/>
              <a:t>m</a:t>
            </a:r>
            <a:r>
              <a:rPr lang="en-US" dirty="0" smtClean="0"/>
              <a:t>e</a:t>
            </a:r>
            <a:r>
              <a:rPr lang="x-none" smtClean="0"/>
              <a:t>đusobno </a:t>
            </a:r>
            <a:r>
              <a:rPr lang="x-none" dirty="0" smtClean="0"/>
              <a:t>prožimaju i dopunjavaju.</a:t>
            </a:r>
          </a:p>
          <a:p>
            <a:pPr>
              <a:buFont typeface="+mj-lt"/>
              <a:buAutoNum type="arabicPeriod"/>
            </a:pPr>
            <a:r>
              <a:rPr lang="x-none" dirty="0" smtClean="0"/>
              <a:t>Prvi pristup – skup svih zamislivih sistema</a:t>
            </a:r>
          </a:p>
          <a:p>
            <a:pPr>
              <a:buFont typeface="+mj-lt"/>
              <a:buAutoNum type="arabicPeriod"/>
            </a:pPr>
            <a:r>
              <a:rPr lang="x-none" dirty="0" smtClean="0"/>
              <a:t>Drugi pristup – empirijski</a:t>
            </a:r>
          </a:p>
          <a:p>
            <a:pPr>
              <a:buFont typeface="+mj-lt"/>
              <a:buAutoNum type="arabicPeriod"/>
            </a:pPr>
            <a:r>
              <a:rPr lang="x-none" dirty="0" smtClean="0"/>
              <a:t>Treći pristup – skup specijalističkih disciplina</a:t>
            </a:r>
          </a:p>
          <a:p>
            <a:pPr>
              <a:buFont typeface="+mj-lt"/>
              <a:buAutoNum type="arabicPeriod"/>
            </a:pPr>
            <a:r>
              <a:rPr lang="x-none" dirty="0" smtClean="0"/>
              <a:t>Četvrti pristup – podela po principu kompleksnosti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657032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Prvi pristup – skup svih zamislivih sistema</a:t>
            </a:r>
            <a:br>
              <a:rPr lang="x-none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dirty="0" smtClean="0"/>
              <a:t>Polazna tačka je skup svih sistema </a:t>
            </a:r>
            <a:r>
              <a:rPr lang="x-none" smtClean="0"/>
              <a:t>bez </a:t>
            </a:r>
            <a:r>
              <a:rPr lang="x-none" smtClean="0"/>
              <a:t>obzira</a:t>
            </a:r>
            <a:r>
              <a:rPr lang="en-US" dirty="0" smtClean="0"/>
              <a:t> </a:t>
            </a:r>
            <a:r>
              <a:rPr lang="x-none" smtClean="0"/>
              <a:t>da </a:t>
            </a:r>
            <a:r>
              <a:rPr lang="x-none" dirty="0" smtClean="0"/>
              <a:t>li postoje ili ne.</a:t>
            </a:r>
          </a:p>
          <a:p>
            <a:r>
              <a:rPr lang="x-none" dirty="0" smtClean="0"/>
              <a:t>Primer: izučavanje kristala se vrši pomoću matematičkog modela. Realni sistem se „uklapa“ u postojeći model. (kristali se </a:t>
            </a:r>
            <a:r>
              <a:rPr lang="x-none" smtClean="0"/>
              <a:t>formiraju </a:t>
            </a:r>
            <a:r>
              <a:rPr lang="en-US" dirty="0" smtClean="0"/>
              <a:t>u</a:t>
            </a:r>
            <a:r>
              <a:rPr lang="x-none" smtClean="0"/>
              <a:t> </a:t>
            </a:r>
            <a:r>
              <a:rPr lang="x-none" dirty="0" smtClean="0"/>
              <a:t>metalima</a:t>
            </a:r>
            <a:r>
              <a:rPr lang="x-none" smtClean="0"/>
              <a:t>, </a:t>
            </a:r>
            <a:r>
              <a:rPr lang="x-none" smtClean="0"/>
              <a:t>hemi</a:t>
            </a:r>
            <a:r>
              <a:rPr lang="en-US" dirty="0" smtClean="0"/>
              <a:t>j</a:t>
            </a:r>
            <a:r>
              <a:rPr lang="x-none" smtClean="0"/>
              <a:t>skim </a:t>
            </a:r>
            <a:r>
              <a:rPr lang="x-none" dirty="0" smtClean="0"/>
              <a:t>jedinjenjima, …) </a:t>
            </a:r>
          </a:p>
        </p:txBody>
      </p:sp>
    </p:spTree>
    <p:extLst>
      <p:ext uri="{BB962C8B-B14F-4D97-AF65-F5344CB8AC3E}">
        <p14:creationId xmlns:p14="http://schemas.microsoft.com/office/powerpoint/2010/main" xmlns="" val="16691769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Drugi pristup – </a:t>
            </a:r>
            <a:r>
              <a:rPr lang="x-none" dirty="0" smtClean="0"/>
              <a:t>empirijski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dirty="0" smtClean="0"/>
              <a:t>Polazna tačka je realni </a:t>
            </a:r>
            <a:r>
              <a:rPr lang="x-none" smtClean="0"/>
              <a:t>svet </a:t>
            </a:r>
            <a:r>
              <a:rPr lang="en-US" dirty="0" err="1" smtClean="0"/>
              <a:t>i</a:t>
            </a:r>
            <a:r>
              <a:rPr lang="x-none" smtClean="0"/>
              <a:t> </a:t>
            </a:r>
            <a:r>
              <a:rPr lang="x-none" dirty="0" smtClean="0"/>
              <a:t>nad njim se vrše ispitivanja.</a:t>
            </a:r>
          </a:p>
          <a:p>
            <a:r>
              <a:rPr lang="x-none" dirty="0" smtClean="0"/>
              <a:t>Na ovaj način otkrivaju se opšti zakoni.</a:t>
            </a:r>
          </a:p>
          <a:p>
            <a:r>
              <a:rPr lang="x-none" dirty="0" smtClean="0"/>
              <a:t>Primer ovome je: ekonomija, sociologija, svet prirode,…</a:t>
            </a:r>
          </a:p>
          <a:p>
            <a:r>
              <a:rPr lang="x-none" dirty="0" smtClean="0"/>
              <a:t>Na ovaj način se otkrivaju zakoni koji su značajni za nauku i praksu.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593501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Treći pristup – skup specijalističkih </a:t>
            </a:r>
            <a:r>
              <a:rPr lang="x-none" dirty="0" smtClean="0"/>
              <a:t>disciplina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dirty="0" smtClean="0"/>
              <a:t>U ovom pristupu traže se sličnosti objekata, pojava i zajedničkih zakona.</a:t>
            </a:r>
          </a:p>
          <a:p>
            <a:r>
              <a:rPr lang="x-none" dirty="0" smtClean="0"/>
              <a:t>Izučavanje populacije (rast, transformacije i smanjenje) se može iskoristiti u ekonomiji (populacija bogatih…), biologiji (populacija </a:t>
            </a:r>
            <a:r>
              <a:rPr lang="x-none" dirty="0" err="1" smtClean="0"/>
              <a:t>predatora</a:t>
            </a:r>
            <a:r>
              <a:rPr lang="x-none" dirty="0" smtClean="0"/>
              <a:t>…), sociologije (populacija studenata privatnih fakulteta).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395479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 smtClean="0"/>
              <a:t>Prvi nivo – nivo statičkih struktura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dirty="0" smtClean="0"/>
              <a:t>Oni delovi sistema koji se ne menjaju su deo ovog nivoa.</a:t>
            </a:r>
          </a:p>
          <a:p>
            <a:r>
              <a:rPr lang="x-none" dirty="0" smtClean="0"/>
              <a:t>Primer: geografija, anatomija, …</a:t>
            </a:r>
          </a:p>
          <a:p>
            <a:r>
              <a:rPr lang="x-none" dirty="0" smtClean="0"/>
              <a:t>Preciznim opisom statičke strukture počinje organizovano teoretsko znanje na svim područja. Bez ovog nivoa ne može se razviti ni jedan drugi nivo.</a:t>
            </a:r>
          </a:p>
          <a:p>
            <a:endParaRPr lang="en-US" dirty="0"/>
          </a:p>
        </p:txBody>
      </p:sp>
      <p:sp>
        <p:nvSpPr>
          <p:cNvPr id="4" name="AutoShape 2" descr="Image result for geography"/>
          <p:cNvSpPr>
            <a:spLocks noChangeAspect="1" noChangeArrowheads="1"/>
          </p:cNvSpPr>
          <p:nvPr/>
        </p:nvSpPr>
        <p:spPr bwMode="auto">
          <a:xfrm>
            <a:off x="155575" y="-144463"/>
            <a:ext cx="3324000" cy="3324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54954" y="4552950"/>
            <a:ext cx="3114675" cy="14668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240769" y="4248150"/>
            <a:ext cx="2200275" cy="20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569604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 smtClean="0"/>
              <a:t>Drugi nivo – nivo satnih mehanizama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dirty="0" smtClean="0"/>
              <a:t>Na ovom nivou nalaze se jednostavni dinamički sistemi sa </a:t>
            </a:r>
            <a:r>
              <a:rPr lang="x-none" dirty="0" err="1" smtClean="0"/>
              <a:t>determinističkim</a:t>
            </a:r>
            <a:r>
              <a:rPr lang="x-none" dirty="0" smtClean="0"/>
              <a:t> ponašanje.</a:t>
            </a:r>
          </a:p>
          <a:p>
            <a:r>
              <a:rPr lang="x-none" dirty="0" smtClean="0"/>
              <a:t>Na ovom nivou se u odnosu na prethodni nivo pojavljuje vreme (t).</a:t>
            </a:r>
          </a:p>
          <a:p>
            <a:r>
              <a:rPr lang="x-none" dirty="0" smtClean="0"/>
              <a:t>Jednostavni satni mehanizmi, poluge, fizičke i hemijske teorije i sl. podležu nivou satnih mehanizama.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738141" y="4445772"/>
            <a:ext cx="2676525" cy="17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565962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 smtClean="0"/>
              <a:t>Treći nivo – nivo termostata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dirty="0" smtClean="0"/>
              <a:t>Ovaj nivo je u osnovi kibernetike.</a:t>
            </a:r>
          </a:p>
          <a:p>
            <a:r>
              <a:rPr lang="x-none" dirty="0" smtClean="0"/>
              <a:t>Na ovom nivou se pored vremena pojavljuje i INFORMACIJA.</a:t>
            </a:r>
          </a:p>
          <a:p>
            <a:r>
              <a:rPr lang="x-none" dirty="0" smtClean="0"/>
              <a:t>Ravnotežno stanje ovih sistema ne zavise samo od njihove jednačine već i od upravljačkih akcija.</a:t>
            </a:r>
          </a:p>
          <a:p>
            <a:endParaRPr lang="x-none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492591" y="4045343"/>
            <a:ext cx="21336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311516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 smtClean="0"/>
              <a:t>Četvrti nivo – nivo ćelije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dirty="0" smtClean="0"/>
              <a:t>Ovde imamo ogroman skok u kompleksnosti.</a:t>
            </a:r>
          </a:p>
          <a:p>
            <a:r>
              <a:rPr lang="x-none" dirty="0" smtClean="0"/>
              <a:t>Razmena energije ili materija sa okruženjem (otvorenost sistema).</a:t>
            </a:r>
          </a:p>
          <a:p>
            <a:r>
              <a:rPr lang="x-none" dirty="0" smtClean="0"/>
              <a:t>Održavaju svoju strukturu.</a:t>
            </a:r>
          </a:p>
          <a:p>
            <a:r>
              <a:rPr lang="x-none" dirty="0" smtClean="0"/>
              <a:t>Imaju svoju </a:t>
            </a:r>
            <a:r>
              <a:rPr lang="x-none" dirty="0" err="1" smtClean="0"/>
              <a:t>samoreprodukciju</a:t>
            </a:r>
            <a:r>
              <a:rPr lang="x-none" dirty="0" smtClean="0"/>
              <a:t>.</a:t>
            </a:r>
          </a:p>
          <a:p>
            <a:endParaRPr lang="x-none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79481" y="4610985"/>
            <a:ext cx="2943225" cy="15525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929393" y="4010194"/>
            <a:ext cx="2466975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9679398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 smtClean="0"/>
              <a:t>Peti nivo – nivo genetskog društva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dirty="0" smtClean="0"/>
              <a:t>Sistemi ovog nivoa kompleksnosti obezbeđuju znatno veći prostor opstanka, prilagođavaju se i ekstremnim uslovima u </a:t>
            </a:r>
            <a:r>
              <a:rPr lang="x-none" dirty="0" err="1" smtClean="0"/>
              <a:t>biosferi</a:t>
            </a:r>
            <a:r>
              <a:rPr lang="x-none" dirty="0" smtClean="0"/>
              <a:t>.</a:t>
            </a:r>
          </a:p>
          <a:p>
            <a:r>
              <a:rPr lang="x-none" dirty="0" smtClean="0"/>
              <a:t>Ovde se pojavljuje specijalizacija (kod biljaka imamo koren, list, …) koja se spaja u celinu.</a:t>
            </a:r>
          </a:p>
          <a:p>
            <a:r>
              <a:rPr lang="x-none" dirty="0" smtClean="0"/>
              <a:t>Ovde nemamo dovoljno razvijen sistem prijema, obrade i prenosa informacija. Na ovom nivou postoji samo </a:t>
            </a:r>
            <a:r>
              <a:rPr lang="x-none" dirty="0" err="1" smtClean="0"/>
              <a:t>rudamaentarna</a:t>
            </a:r>
            <a:r>
              <a:rPr lang="x-none" dirty="0" smtClean="0"/>
              <a:t> izmena podataka sa okruženjem.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509326" y="4777124"/>
            <a:ext cx="3057525" cy="149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420308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 smtClean="0"/>
              <a:t>Šesti nivo – nivo životinjskog carstva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dirty="0" smtClean="0"/>
              <a:t>Povećana pokretljivost.</a:t>
            </a:r>
          </a:p>
          <a:p>
            <a:r>
              <a:rPr lang="x-none" dirty="0" err="1" smtClean="0"/>
              <a:t>Teleologično</a:t>
            </a:r>
            <a:r>
              <a:rPr lang="x-none" dirty="0" smtClean="0"/>
              <a:t> ponašanje (cilj).</a:t>
            </a:r>
          </a:p>
          <a:p>
            <a:r>
              <a:rPr lang="x-none" dirty="0" smtClean="0"/>
              <a:t>Znanje o sebi.</a:t>
            </a:r>
          </a:p>
          <a:p>
            <a:r>
              <a:rPr lang="x-none" dirty="0" smtClean="0"/>
              <a:t>Ovde se pojavljuje viši stepen obrade podataka.</a:t>
            </a:r>
          </a:p>
          <a:p>
            <a:r>
              <a:rPr lang="x-none" dirty="0" smtClean="0"/>
              <a:t>Ovde imamo centralni deo (mozak) koji kreira „sliku“ o okruženju.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64383" y="2341380"/>
            <a:ext cx="2762250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654331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 smtClean="0"/>
              <a:t>Sedmi nivo – nivo čoveka kao pojedinca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dirty="0" smtClean="0"/>
              <a:t>Ovde se pored svih ostalih nivoa pojavljuje i pojam svesti.</a:t>
            </a:r>
          </a:p>
          <a:p>
            <a:r>
              <a:rPr lang="x-none" dirty="0" smtClean="0"/>
              <a:t>„Slika“ okruženja je daleko složenija nego u prethodnom nivou.</a:t>
            </a:r>
          </a:p>
          <a:p>
            <a:r>
              <a:rPr lang="x-none" dirty="0" smtClean="0"/>
              <a:t>Simbolima i govorom se osvajaju apstraktni pojmovi.</a:t>
            </a:r>
          </a:p>
          <a:p>
            <a:r>
              <a:rPr lang="x-none" dirty="0" smtClean="0"/>
              <a:t>Ovaj sistem je takođe svestan postojanja vremena i njegove uloge u istom.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117786" y="4680947"/>
            <a:ext cx="2867025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23220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 smtClean="0"/>
              <a:t>Osmi nivo – nivo društva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dirty="0" smtClean="0"/>
              <a:t>Ovde su važne veze i relacije koje pojedinci formiraju i kreiraju grupe.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54954" y="4543425"/>
            <a:ext cx="3105150" cy="14763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906971" y="3316218"/>
            <a:ext cx="2657475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798273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 smtClean="0"/>
              <a:t>Deveti nivo – nivo transcedentalnih sistema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dirty="0" smtClean="0"/>
              <a:t>Sistemi koji se nalaze van dometa naše percepcije i poimanja.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202160" y="4188302"/>
            <a:ext cx="2667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986643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 smtClean="0"/>
              <a:t>Svrha klasifikacije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dirty="0" smtClean="0"/>
              <a:t>Ovom sistematizacijom se olakšava kreiranje modela različite sistemske kompleksnosti i otkrivanju sistemskih zakonitosti.</a:t>
            </a:r>
          </a:p>
          <a:p>
            <a:r>
              <a:rPr lang="x-none" dirty="0" smtClean="0"/>
              <a:t>Ovim moćnim instrumentom moguće sa već postojećim saznanjima otkriti nove modele. </a:t>
            </a:r>
          </a:p>
          <a:p>
            <a:r>
              <a:rPr lang="x-none" dirty="0" smtClean="0"/>
              <a:t>Međutim, sve iznad četvrtog nivo kompleksnosti nauka nema adekvatna saznanja.</a:t>
            </a:r>
          </a:p>
          <a:p>
            <a:r>
              <a:rPr lang="x-none" dirty="0" smtClean="0"/>
              <a:t>Ekonomija, psihologija, menadžment, … izučavaju kompleksnosti čoveka i društva, ali ova klasifikacija nam daje do znanja da smo još uvek na početku puta.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50737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813</TotalTime>
  <Words>1614</Words>
  <Application>Microsoft Office PowerPoint</Application>
  <PresentationFormat>Custom</PresentationFormat>
  <Paragraphs>150</Paragraphs>
  <Slides>34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Ion Boardroom</vt:lpstr>
      <vt:lpstr>Teorija sistema i informacija</vt:lpstr>
      <vt:lpstr>Uvod</vt:lpstr>
      <vt:lpstr>Uvod</vt:lpstr>
      <vt:lpstr>Vrednovanje napredovanja studenata</vt:lpstr>
      <vt:lpstr>Slide 5</vt:lpstr>
      <vt:lpstr>Uvodna razmatranja</vt:lpstr>
      <vt:lpstr>Rešenje </vt:lpstr>
      <vt:lpstr>Primer u nauci</vt:lpstr>
      <vt:lpstr>Posledice</vt:lpstr>
      <vt:lpstr>Integracija </vt:lpstr>
      <vt:lpstr>Proces integracije</vt:lpstr>
      <vt:lpstr>Osnovi opšte teorije sistema</vt:lpstr>
      <vt:lpstr>Osnovi opšte teorije sistema</vt:lpstr>
      <vt:lpstr>Teorija sistema kao aspekat posmatranja</vt:lpstr>
      <vt:lpstr>Teorija sistema kao aspekat posmatranja</vt:lpstr>
      <vt:lpstr>Opasnosti generalističke perspektive</vt:lpstr>
      <vt:lpstr>Opasnosti partikularne perspektive</vt:lpstr>
      <vt:lpstr>Mesto i uloga Teorije sistema u nauci</vt:lpstr>
      <vt:lpstr>Slide 19</vt:lpstr>
      <vt:lpstr>Mesto i uloga Teorije sistema u nauci</vt:lpstr>
      <vt:lpstr>Putevi izgradnje Opšte teorije sistema</vt:lpstr>
      <vt:lpstr>Prvi pristup – skup svih zamislivih sistema </vt:lpstr>
      <vt:lpstr>Drugi pristup – empirijski</vt:lpstr>
      <vt:lpstr>Treći pristup – skup specijalističkih disciplina</vt:lpstr>
      <vt:lpstr>Prvi nivo – nivo statičkih struktura</vt:lpstr>
      <vt:lpstr>Drugi nivo – nivo satnih mehanizama</vt:lpstr>
      <vt:lpstr>Treći nivo – nivo termostata</vt:lpstr>
      <vt:lpstr>Četvrti nivo – nivo ćelije</vt:lpstr>
      <vt:lpstr>Peti nivo – nivo genetskog društva</vt:lpstr>
      <vt:lpstr>Šesti nivo – nivo životinjskog carstva</vt:lpstr>
      <vt:lpstr>Sedmi nivo – nivo čoveka kao pojedinca</vt:lpstr>
      <vt:lpstr>Osmi nivo – nivo društva</vt:lpstr>
      <vt:lpstr>Deveti nivo – nivo transcedentalnih sistema</vt:lpstr>
      <vt:lpstr>Svrha klasifikacije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Teorija sistema i informacija</dc:title>
  <dc:creator>Radovan</dc:creator>
  <cp:lastModifiedBy>korisnik</cp:lastModifiedBy>
  <cp:revision>61</cp:revision>
  <dcterms:created xsi:type="dcterms:W3CDTF">2017-02-12T11:10:33Z</dcterms:created>
  <dcterms:modified xsi:type="dcterms:W3CDTF">2019-02-20T09:00:10Z</dcterms:modified>
</cp:coreProperties>
</file>