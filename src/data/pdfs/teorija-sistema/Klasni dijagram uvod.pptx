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9" r:id="rId4"/>
    <p:sldId id="263" r:id="rId5"/>
    <p:sldId id="273" r:id="rId6"/>
    <p:sldId id="274" r:id="rId7"/>
    <p:sldId id="275" r:id="rId8"/>
    <p:sldId id="276" r:id="rId9"/>
    <p:sldId id="277" r:id="rId10"/>
    <p:sldId id="278" r:id="rId11"/>
    <p:sldId id="281" r:id="rId12"/>
    <p:sldId id="282" r:id="rId13"/>
    <p:sldId id="286" r:id="rId14"/>
    <p:sldId id="287" r:id="rId15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254" y="-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3256" y="1595263"/>
            <a:ext cx="7742854" cy="3668705"/>
          </a:xfrm>
        </p:spPr>
        <p:txBody>
          <a:bodyPr anchor="b"/>
          <a:lstStyle>
            <a:lvl1pPr>
              <a:defRPr sz="793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256" y="5263965"/>
            <a:ext cx="7742854" cy="94915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2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6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8" y="3153208"/>
            <a:ext cx="7742853" cy="2110759"/>
          </a:xfrm>
        </p:spPr>
        <p:txBody>
          <a:bodyPr anchor="b"/>
          <a:lstStyle>
            <a:lvl1pPr algn="l">
              <a:defRPr sz="4408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256" y="5263966"/>
            <a:ext cx="7742854" cy="948033"/>
          </a:xfrm>
        </p:spPr>
        <p:txBody>
          <a:bodyPr anchor="t"/>
          <a:lstStyle>
            <a:lvl1pPr marL="0" indent="0" algn="l">
              <a:buNone/>
              <a:defRPr sz="2204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7950" y="2270450"/>
            <a:ext cx="3856960" cy="4623109"/>
          </a:xfrm>
        </p:spPr>
        <p:txBody>
          <a:bodyPr>
            <a:normAutofit/>
          </a:bodyPr>
          <a:lstStyle>
            <a:lvl1pPr>
              <a:defRPr sz="1983"/>
            </a:lvl1pPr>
            <a:lvl2pPr>
              <a:defRPr sz="1763"/>
            </a:lvl2pPr>
            <a:lvl3pPr>
              <a:defRPr sz="1543"/>
            </a:lvl3pPr>
            <a:lvl4pPr>
              <a:defRPr sz="1322"/>
            </a:lvl4pPr>
            <a:lvl5pPr>
              <a:defRPr sz="1322"/>
            </a:lvl5pPr>
            <a:lvl6pPr>
              <a:defRPr sz="1322"/>
            </a:lvl6pPr>
            <a:lvl7pPr>
              <a:defRPr sz="1322"/>
            </a:lvl7pPr>
            <a:lvl8pPr>
              <a:defRPr sz="1322"/>
            </a:lvl8pPr>
            <a:lvl9pPr>
              <a:defRPr sz="132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0755" y="2265510"/>
            <a:ext cx="3856962" cy="4628048"/>
          </a:xfrm>
        </p:spPr>
        <p:txBody>
          <a:bodyPr>
            <a:normAutofit/>
          </a:bodyPr>
          <a:lstStyle>
            <a:lvl1pPr>
              <a:defRPr sz="1983"/>
            </a:lvl1pPr>
            <a:lvl2pPr>
              <a:defRPr sz="1763"/>
            </a:lvl2pPr>
            <a:lvl3pPr>
              <a:defRPr sz="1543"/>
            </a:lvl3pPr>
            <a:lvl4pPr>
              <a:defRPr sz="1322"/>
            </a:lvl4pPr>
            <a:lvl5pPr>
              <a:defRPr sz="1322"/>
            </a:lvl5pPr>
            <a:lvl6pPr>
              <a:defRPr sz="1322"/>
            </a:lvl6pPr>
            <a:lvl7pPr>
              <a:defRPr sz="1322"/>
            </a:lvl7pPr>
            <a:lvl8pPr>
              <a:defRPr sz="1322"/>
            </a:lvl8pPr>
            <a:lvl9pPr>
              <a:defRPr sz="132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28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949" y="2099028"/>
            <a:ext cx="3856959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7950" y="2770717"/>
            <a:ext cx="3856960" cy="4122841"/>
          </a:xfrm>
        </p:spPr>
        <p:txBody>
          <a:bodyPr>
            <a:normAutofit/>
          </a:bodyPr>
          <a:lstStyle>
            <a:lvl1pPr>
              <a:defRPr sz="1983"/>
            </a:lvl1pPr>
            <a:lvl2pPr>
              <a:defRPr sz="1763"/>
            </a:lvl2pPr>
            <a:lvl3pPr>
              <a:defRPr sz="1543"/>
            </a:lvl3pPr>
            <a:lvl4pPr>
              <a:defRPr sz="1322"/>
            </a:lvl4pPr>
            <a:lvl5pPr>
              <a:defRPr sz="1322"/>
            </a:lvl5pPr>
            <a:lvl6pPr>
              <a:defRPr sz="1322"/>
            </a:lvl6pPr>
            <a:lvl7pPr>
              <a:defRPr sz="1322"/>
            </a:lvl7pPr>
            <a:lvl8pPr>
              <a:defRPr sz="1322"/>
            </a:lvl8pPr>
            <a:lvl9pPr>
              <a:defRPr sz="132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0756" y="2099028"/>
            <a:ext cx="3856960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60756" y="2770717"/>
            <a:ext cx="3856960" cy="4122841"/>
          </a:xfrm>
        </p:spPr>
        <p:txBody>
          <a:bodyPr>
            <a:normAutofit/>
          </a:bodyPr>
          <a:lstStyle>
            <a:lvl1pPr>
              <a:defRPr sz="1983"/>
            </a:lvl1pPr>
            <a:lvl2pPr>
              <a:defRPr sz="1763"/>
            </a:lvl2pPr>
            <a:lvl3pPr>
              <a:defRPr sz="1543"/>
            </a:lvl3pPr>
            <a:lvl4pPr>
              <a:defRPr sz="1322"/>
            </a:lvl4pPr>
            <a:lvl5pPr>
              <a:defRPr sz="1322"/>
            </a:lvl5pPr>
            <a:lvl6pPr>
              <a:defRPr sz="1322"/>
            </a:lvl6pPr>
            <a:lvl7pPr>
              <a:defRPr sz="1322"/>
            </a:lvl7pPr>
            <a:lvl8pPr>
              <a:defRPr sz="1322"/>
            </a:lvl8pPr>
            <a:lvl9pPr>
              <a:defRPr sz="132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3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7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4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5" y="1595261"/>
            <a:ext cx="2983793" cy="1595261"/>
          </a:xfrm>
        </p:spPr>
        <p:txBody>
          <a:bodyPr anchor="b"/>
          <a:lstStyle>
            <a:lvl1pPr algn="l">
              <a:defRPr sz="2645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601" y="1595261"/>
            <a:ext cx="4558510" cy="5037667"/>
          </a:xfrm>
        </p:spPr>
        <p:txBody>
          <a:bodyPr anchor="ctr">
            <a:normAutofit/>
          </a:bodyPr>
          <a:lstStyle>
            <a:lvl1pPr>
              <a:defRPr sz="2204"/>
            </a:lvl1pPr>
            <a:lvl2pPr>
              <a:defRPr sz="1983"/>
            </a:lvl2pPr>
            <a:lvl3pPr>
              <a:defRPr sz="1763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5" y="3448005"/>
            <a:ext cx="2983793" cy="3190521"/>
          </a:xfrm>
        </p:spPr>
        <p:txBody>
          <a:bodyPr/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0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337" y="2043045"/>
            <a:ext cx="4468066" cy="1735205"/>
          </a:xfrm>
        </p:spPr>
        <p:txBody>
          <a:bodyPr anchor="b">
            <a:normAutofit/>
          </a:bodyPr>
          <a:lstStyle>
            <a:lvl1pPr algn="l">
              <a:defRPr sz="3967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6919" y="1259417"/>
            <a:ext cx="2807748" cy="5037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5" y="4030133"/>
            <a:ext cx="4461112" cy="1511300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6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8" y="5289536"/>
            <a:ext cx="7742853" cy="624461"/>
          </a:xfrm>
        </p:spPr>
        <p:txBody>
          <a:bodyPr anchor="b">
            <a:normAutofit/>
          </a:bodyPr>
          <a:lstStyle>
            <a:lvl1pPr algn="l">
              <a:defRPr sz="2645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3256" y="755650"/>
            <a:ext cx="7742854" cy="401147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7" y="5913997"/>
            <a:ext cx="7742852" cy="543997"/>
          </a:xfrm>
        </p:spPr>
        <p:txBody>
          <a:bodyPr>
            <a:normAutofit/>
          </a:bodyPr>
          <a:lstStyle>
            <a:lvl1pPr marL="0" indent="0">
              <a:buNone/>
              <a:defRPr sz="1322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73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6" y="1595261"/>
            <a:ext cx="7742854" cy="2182989"/>
          </a:xfrm>
        </p:spPr>
        <p:txBody>
          <a:bodyPr/>
          <a:lstStyle>
            <a:lvl1pPr>
              <a:defRPr sz="528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6" y="4030134"/>
            <a:ext cx="7742854" cy="2602794"/>
          </a:xfrm>
        </p:spPr>
        <p:txBody>
          <a:bodyPr anchor="ctr">
            <a:normAutofit/>
          </a:bodyPr>
          <a:lstStyle>
            <a:lvl1pPr marL="0" indent="0">
              <a:buNone/>
              <a:defRPr sz="198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267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593" y="1595261"/>
            <a:ext cx="7017893" cy="2560014"/>
          </a:xfrm>
        </p:spPr>
        <p:txBody>
          <a:bodyPr/>
          <a:lstStyle>
            <a:lvl1pPr>
              <a:defRPr sz="528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693563" y="4155275"/>
            <a:ext cx="6386522" cy="37702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543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6" y="4793780"/>
            <a:ext cx="7742854" cy="1847144"/>
          </a:xfrm>
        </p:spPr>
        <p:txBody>
          <a:bodyPr anchor="ctr">
            <a:normAutofit/>
          </a:bodyPr>
          <a:lstStyle>
            <a:lvl1pPr marL="0" indent="0">
              <a:buNone/>
              <a:defRPr sz="198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88086" y="1070177"/>
            <a:ext cx="703527" cy="216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3443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5749" y="2880007"/>
            <a:ext cx="703527" cy="216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3443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4396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5" y="3442407"/>
            <a:ext cx="7742855" cy="1821559"/>
          </a:xfrm>
        </p:spPr>
        <p:txBody>
          <a:bodyPr anchor="b"/>
          <a:lstStyle>
            <a:lvl1pPr algn="l">
              <a:defRPr sz="4408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256" y="5263966"/>
            <a:ext cx="7742854" cy="948033"/>
          </a:xfrm>
        </p:spPr>
        <p:txBody>
          <a:bodyPr anchor="t"/>
          <a:lstStyle>
            <a:lvl1pPr marL="0" indent="0" algn="l">
              <a:buNone/>
              <a:defRPr sz="2204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018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62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293" y="2182989"/>
            <a:ext cx="2585320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572414" y="2938639"/>
            <a:ext cx="2568198" cy="3954919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7181" y="2182989"/>
            <a:ext cx="2575998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97922" y="2938639"/>
            <a:ext cx="2585257" cy="3954919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250583" y="2182989"/>
            <a:ext cx="2572378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250583" y="2938639"/>
            <a:ext cx="2572378" cy="3954919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68988" y="2350911"/>
            <a:ext cx="0" cy="436597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108043" y="2350911"/>
            <a:ext cx="0" cy="437091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58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62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2414" y="4683916"/>
            <a:ext cx="257934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72414" y="2434872"/>
            <a:ext cx="2579341" cy="167922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572414" y="5318873"/>
            <a:ext cx="2579341" cy="726329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2196" y="4683916"/>
            <a:ext cx="2570984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12194" y="2434872"/>
            <a:ext cx="2570984" cy="167922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008" y="5318872"/>
            <a:ext cx="2574389" cy="726329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250583" y="4683916"/>
            <a:ext cx="2572378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250582" y="2434872"/>
            <a:ext cx="2572378" cy="167922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250476" y="5318870"/>
            <a:ext cx="2575784" cy="726329"/>
          </a:xfrm>
        </p:spPr>
        <p:txBody>
          <a:bodyPr anchor="t">
            <a:normAutofit/>
          </a:bodyPr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68988" y="2350911"/>
            <a:ext cx="0" cy="436597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108043" y="2350911"/>
            <a:ext cx="0" cy="4370916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92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904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5385" y="474032"/>
            <a:ext cx="1537577" cy="6419527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2414" y="851958"/>
            <a:ext cx="6512416" cy="604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23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7366836" y="1847145"/>
            <a:ext cx="3297132" cy="3106561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6653942" y="-503767"/>
            <a:ext cx="1871345" cy="1763183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7366836" y="6716889"/>
            <a:ext cx="1158452" cy="1091494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80081" y="2938639"/>
            <a:ext cx="4901142" cy="4617861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982086" y="3190522"/>
            <a:ext cx="2762462" cy="2602794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9058100" y="0"/>
            <a:ext cx="802005" cy="121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6841" y="498828"/>
            <a:ext cx="8250875" cy="15431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949" y="2262020"/>
            <a:ext cx="7848906" cy="4622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8798453" y="2007307"/>
            <a:ext cx="1091493" cy="2674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12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 spc="-5" smtClean="0"/>
              <a:t>0</a:t>
            </a:r>
            <a:r>
              <a:rPr lang="en-US" spc="-15" smtClean="0"/>
              <a:t>3</a:t>
            </a:r>
            <a:r>
              <a:rPr lang="en-US" spc="5" smtClean="0"/>
              <a:t>.</a:t>
            </a:r>
            <a:r>
              <a:rPr lang="en-US" spc="-5" smtClean="0"/>
              <a:t>1</a:t>
            </a:r>
            <a:r>
              <a:rPr lang="en-US" spc="-15" smtClean="0"/>
              <a:t>0</a:t>
            </a:r>
            <a:r>
              <a:rPr lang="en-US" spc="-10" smtClean="0"/>
              <a:t>.</a:t>
            </a:r>
            <a:r>
              <a:rPr lang="en-US" spc="-5" smtClean="0"/>
              <a:t>20</a:t>
            </a:r>
            <a:r>
              <a:rPr lang="en-US" spc="-15" smtClean="0"/>
              <a:t>1</a:t>
            </a:r>
            <a:r>
              <a:rPr lang="en-US" spc="-5" smtClean="0"/>
              <a:t>4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7419986" y="3588024"/>
            <a:ext cx="4252922" cy="267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12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 spc="-5" smtClean="0"/>
              <a:t>Dijagrami</a:t>
            </a:r>
            <a:r>
              <a:rPr lang="en-US" spc="-70" smtClean="0"/>
              <a:t> </a:t>
            </a:r>
            <a:r>
              <a:rPr lang="en-US" smtClean="0"/>
              <a:t>klasa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082410" y="325858"/>
            <a:ext cx="735362" cy="8458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086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25400">
              <a:lnSpc>
                <a:spcPts val="297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9951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503796" rtl="0" eaLnBrk="1" latinLnBrk="0" hangingPunct="1">
        <a:spcBef>
          <a:spcPct val="0"/>
        </a:spcBef>
        <a:buNone/>
        <a:defRPr sz="4628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48" indent="-377848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204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18670" indent="-314873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83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259494" indent="-251899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63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763290" indent="-251899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43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267087" indent="-251899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43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770884" indent="-251899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43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274680" indent="-251899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43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778478" indent="-251899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43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282274" indent="-251899" algn="l" defTabSz="503796" rtl="0" eaLnBrk="1" latinLnBrk="0" hangingPunct="1">
        <a:spcBef>
          <a:spcPts val="1102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43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96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94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90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89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85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83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79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77" algn="l" defTabSz="50379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13256" y="2809193"/>
            <a:ext cx="7742854" cy="2454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>
              <a:lnSpc>
                <a:spcPct val="100000"/>
              </a:lnSpc>
              <a:spcBef>
                <a:spcPts val="100"/>
              </a:spcBef>
            </a:pPr>
            <a:r>
              <a:rPr lang="sr-Latn-RS" spc="-5" dirty="0" smtClean="0"/>
              <a:t>DIJAGRAM KLASA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1638" y="1416050"/>
            <a:ext cx="8088859" cy="3956981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4965" marR="260350" indent="-342900">
              <a:lnSpc>
                <a:spcPts val="2300"/>
              </a:lnSpc>
              <a:spcBef>
                <a:spcPts val="66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Dijagram klasa prikazuje skup klasa, interfejsa, saradnji  </a:t>
            </a:r>
            <a:r>
              <a:rPr sz="2800" dirty="0">
                <a:latin typeface="Arial"/>
                <a:cs typeface="Arial"/>
              </a:rPr>
              <a:t>i </a:t>
            </a:r>
            <a:r>
              <a:rPr sz="2800" spc="-5" dirty="0">
                <a:latin typeface="Arial"/>
                <a:cs typeface="Arial"/>
              </a:rPr>
              <a:t>drugih stvari strukture, povezanih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relacijama</a:t>
            </a:r>
          </a:p>
          <a:p>
            <a:pPr marL="756285" lvl="1" indent="-287655">
              <a:lnSpc>
                <a:spcPts val="2395"/>
              </a:lnSpc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 err="1" smtClean="0">
                <a:latin typeface="Arial"/>
                <a:cs typeface="Arial"/>
              </a:rPr>
              <a:t>stvari</a:t>
            </a:r>
            <a:r>
              <a:rPr sz="2800" spc="-5" dirty="0">
                <a:latin typeface="Arial"/>
                <a:cs typeface="Arial"/>
              </a:rPr>
              <a:t>: </a:t>
            </a:r>
            <a:r>
              <a:rPr sz="2800" dirty="0">
                <a:latin typeface="Arial"/>
                <a:cs typeface="Arial"/>
              </a:rPr>
              <a:t>klase, </a:t>
            </a:r>
            <a:r>
              <a:rPr sz="2800" spc="-5" dirty="0">
                <a:latin typeface="Arial"/>
                <a:cs typeface="Arial"/>
              </a:rPr>
              <a:t>interfejsi, tipovi, </a:t>
            </a:r>
            <a:r>
              <a:rPr sz="2800" dirty="0">
                <a:latin typeface="Arial"/>
                <a:cs typeface="Arial"/>
              </a:rPr>
              <a:t>izuzeci, </a:t>
            </a:r>
            <a:r>
              <a:rPr sz="2800" spc="-5" dirty="0">
                <a:latin typeface="Arial"/>
                <a:cs typeface="Arial"/>
              </a:rPr>
              <a:t>šabloni, saradnje, paketi,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…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relacije: zavisnosti, generalizacije, asocijacije,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realizacije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ts val="2875"/>
              </a:lnSpc>
              <a:spcBef>
                <a:spcPts val="1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Dijagrami </a:t>
            </a:r>
            <a:r>
              <a:rPr sz="2800" spc="-5" dirty="0">
                <a:latin typeface="Arial"/>
                <a:cs typeface="Arial"/>
              </a:rPr>
              <a:t>klasa su najčešći </a:t>
            </a:r>
            <a:r>
              <a:rPr sz="2800" dirty="0">
                <a:latin typeface="Arial"/>
                <a:cs typeface="Arial"/>
              </a:rPr>
              <a:t>u </a:t>
            </a:r>
            <a:r>
              <a:rPr sz="2800" spc="-5" dirty="0">
                <a:latin typeface="Arial"/>
                <a:cs typeface="Arial"/>
              </a:rPr>
              <a:t>objektnom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modeliranju</a:t>
            </a:r>
            <a:endParaRPr sz="2800" dirty="0">
              <a:latin typeface="Arial"/>
              <a:cs typeface="Arial"/>
            </a:endParaRPr>
          </a:p>
          <a:p>
            <a:pPr marL="354965" marR="1276350" indent="-342900">
              <a:lnSpc>
                <a:spcPct val="80000"/>
              </a:lnSpc>
              <a:spcBef>
                <a:spcPts val="57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Većina </a:t>
            </a:r>
            <a:r>
              <a:rPr sz="2800" dirty="0">
                <a:latin typeface="Arial"/>
                <a:cs typeface="Arial"/>
              </a:rPr>
              <a:t>alata </a:t>
            </a:r>
            <a:r>
              <a:rPr sz="2800" spc="-5" dirty="0">
                <a:latin typeface="Arial"/>
                <a:cs typeface="Arial"/>
              </a:rPr>
              <a:t>podržava generisanje skeleta koda  iz </a:t>
            </a:r>
            <a:r>
              <a:rPr sz="2800" dirty="0">
                <a:latin typeface="Arial"/>
                <a:cs typeface="Arial"/>
              </a:rPr>
              <a:t>dijagrama </a:t>
            </a:r>
            <a:r>
              <a:rPr sz="2800" spc="-5" dirty="0">
                <a:latin typeface="Arial"/>
                <a:cs typeface="Arial"/>
              </a:rPr>
              <a:t>klasa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6700" y="1416050"/>
            <a:ext cx="7132955" cy="46117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4965" marR="5080" indent="-342900">
              <a:lnSpc>
                <a:spcPct val="89800"/>
              </a:lnSpc>
              <a:spcBef>
                <a:spcPts val="39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lang="sr-Latn-RS" sz="2800" spc="-5" dirty="0" smtClean="0">
                <a:latin typeface="Arial"/>
                <a:cs typeface="Arial"/>
              </a:rPr>
              <a:t>Klasa </a:t>
            </a:r>
            <a:r>
              <a:rPr sz="2800" dirty="0" smtClean="0">
                <a:latin typeface="Arial"/>
                <a:cs typeface="Arial"/>
              </a:rPr>
              <a:t>je </a:t>
            </a:r>
            <a:r>
              <a:rPr sz="2800" spc="-5" dirty="0">
                <a:latin typeface="Arial"/>
                <a:cs typeface="Arial"/>
              </a:rPr>
              <a:t>opis skupa </a:t>
            </a:r>
            <a:r>
              <a:rPr sz="2800" dirty="0">
                <a:latin typeface="Arial"/>
                <a:cs typeface="Arial"/>
              </a:rPr>
              <a:t>objekata  </a:t>
            </a:r>
            <a:r>
              <a:rPr sz="2800" spc="-5" dirty="0">
                <a:latin typeface="Arial"/>
                <a:cs typeface="Arial"/>
              </a:rPr>
              <a:t>koji dele </a:t>
            </a:r>
            <a:r>
              <a:rPr sz="2800" dirty="0">
                <a:latin typeface="Arial"/>
                <a:cs typeface="Arial"/>
              </a:rPr>
              <a:t>istu </a:t>
            </a:r>
            <a:r>
              <a:rPr sz="2800" spc="-5" dirty="0">
                <a:latin typeface="Arial"/>
                <a:cs typeface="Arial"/>
              </a:rPr>
              <a:t>specifikaciju karakteristika (</a:t>
            </a:r>
            <a:r>
              <a:rPr sz="2800" i="1" spc="-5" dirty="0">
                <a:latin typeface="Arial"/>
                <a:cs typeface="Arial"/>
              </a:rPr>
              <a:t>features</a:t>
            </a:r>
            <a:r>
              <a:rPr sz="2800" spc="-5" dirty="0">
                <a:latin typeface="Arial"/>
                <a:cs typeface="Arial"/>
              </a:rPr>
              <a:t>),  </a:t>
            </a:r>
            <a:r>
              <a:rPr sz="2800" dirty="0">
                <a:latin typeface="Arial"/>
                <a:cs typeface="Arial"/>
              </a:rPr>
              <a:t>ograničenja </a:t>
            </a:r>
            <a:r>
              <a:rPr sz="2800" spc="-5" dirty="0">
                <a:latin typeface="Arial"/>
                <a:cs typeface="Arial"/>
              </a:rPr>
              <a:t>(</a:t>
            </a:r>
            <a:r>
              <a:rPr sz="2800" i="1" spc="-5" dirty="0">
                <a:latin typeface="Arial"/>
                <a:cs typeface="Arial"/>
              </a:rPr>
              <a:t>constraints</a:t>
            </a:r>
            <a:r>
              <a:rPr sz="2800" spc="-5" dirty="0">
                <a:latin typeface="Arial"/>
                <a:cs typeface="Arial"/>
              </a:rPr>
              <a:t>) </a:t>
            </a:r>
            <a:r>
              <a:rPr sz="2800" dirty="0">
                <a:latin typeface="Arial"/>
                <a:cs typeface="Arial"/>
              </a:rPr>
              <a:t>i</a:t>
            </a:r>
            <a:r>
              <a:rPr sz="2800" spc="-5" dirty="0">
                <a:latin typeface="Arial"/>
                <a:cs typeface="Arial"/>
              </a:rPr>
              <a:t> semantike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259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karakteristike: atributi </a:t>
            </a:r>
            <a:r>
              <a:rPr sz="2800" dirty="0">
                <a:latin typeface="Arial"/>
                <a:cs typeface="Arial"/>
              </a:rPr>
              <a:t>i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operacije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9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Klasa implementira </a:t>
            </a:r>
            <a:r>
              <a:rPr sz="2800" dirty="0">
                <a:latin typeface="Arial"/>
                <a:cs typeface="Arial"/>
              </a:rPr>
              <a:t>jedan ili </a:t>
            </a:r>
            <a:r>
              <a:rPr sz="2800" spc="-5" dirty="0">
                <a:latin typeface="Arial"/>
                <a:cs typeface="Arial"/>
              </a:rPr>
              <a:t>više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interfejsa</a:t>
            </a:r>
            <a:endParaRPr sz="2800" dirty="0">
              <a:latin typeface="Arial"/>
              <a:cs typeface="Arial"/>
            </a:endParaRPr>
          </a:p>
          <a:p>
            <a:pPr marL="354965" marR="558800" indent="-342900">
              <a:lnSpc>
                <a:spcPts val="2590"/>
              </a:lnSpc>
              <a:spcBef>
                <a:spcPts val="61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Klase </a:t>
            </a:r>
            <a:r>
              <a:rPr sz="2800" dirty="0">
                <a:latin typeface="Arial"/>
                <a:cs typeface="Arial"/>
              </a:rPr>
              <a:t>opisuju </a:t>
            </a:r>
            <a:r>
              <a:rPr sz="2800" spc="-5" dirty="0">
                <a:latin typeface="Arial"/>
                <a:cs typeface="Arial"/>
              </a:rPr>
              <a:t>apstrakcije iz </a:t>
            </a:r>
            <a:r>
              <a:rPr sz="2800" dirty="0">
                <a:latin typeface="Arial"/>
                <a:cs typeface="Arial"/>
              </a:rPr>
              <a:t>domena problema  </a:t>
            </a:r>
            <a:r>
              <a:rPr sz="2800" spc="-5" dirty="0">
                <a:latin typeface="Arial"/>
                <a:cs typeface="Arial"/>
              </a:rPr>
              <a:t>kao </a:t>
            </a:r>
            <a:r>
              <a:rPr sz="2800" dirty="0">
                <a:latin typeface="Arial"/>
                <a:cs typeface="Arial"/>
              </a:rPr>
              <a:t>i </a:t>
            </a:r>
            <a:r>
              <a:rPr sz="2800" spc="-5" dirty="0">
                <a:latin typeface="Arial"/>
                <a:cs typeface="Arial"/>
              </a:rPr>
              <a:t>apstrakcije iz </a:t>
            </a:r>
            <a:r>
              <a:rPr sz="2800" dirty="0">
                <a:latin typeface="Arial"/>
                <a:cs typeface="Arial"/>
              </a:rPr>
              <a:t>domena </a:t>
            </a:r>
            <a:r>
              <a:rPr sz="2800" spc="-5" dirty="0">
                <a:latin typeface="Arial"/>
                <a:cs typeface="Arial"/>
              </a:rPr>
              <a:t>rešenja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Koriste se da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reprezentuju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254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softverske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stvari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24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konceptualne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stvari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4965" y="269621"/>
            <a:ext cx="3505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Tipovi</a:t>
            </a:r>
            <a:r>
              <a:rPr spc="-40" dirty="0"/>
              <a:t> </a:t>
            </a:r>
            <a:r>
              <a:rPr spc="-5" dirty="0"/>
              <a:t>podataka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0134" y="1627266"/>
            <a:ext cx="6256020" cy="50526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4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Tipovi </a:t>
            </a:r>
            <a:r>
              <a:rPr sz="2800" dirty="0">
                <a:latin typeface="Arial"/>
                <a:cs typeface="Arial"/>
              </a:rPr>
              <a:t>podataka </a:t>
            </a:r>
            <a:r>
              <a:rPr sz="2800" spc="-5" dirty="0">
                <a:latin typeface="Arial"/>
                <a:cs typeface="Arial"/>
              </a:rPr>
              <a:t>(</a:t>
            </a:r>
            <a:r>
              <a:rPr sz="2800" spc="-5" dirty="0">
                <a:latin typeface="Courier New"/>
                <a:cs typeface="Courier New"/>
              </a:rPr>
              <a:t>dataType</a:t>
            </a:r>
            <a:r>
              <a:rPr sz="2800" spc="-5" dirty="0">
                <a:latin typeface="Arial"/>
                <a:cs typeface="Arial"/>
              </a:rPr>
              <a:t>) </a:t>
            </a:r>
            <a:r>
              <a:rPr sz="2800" spc="5" dirty="0">
                <a:latin typeface="Arial"/>
                <a:cs typeface="Arial"/>
              </a:rPr>
              <a:t>su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tipovi</a:t>
            </a:r>
            <a:endParaRPr sz="28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sz="2800" dirty="0">
                <a:latin typeface="Arial"/>
                <a:cs typeface="Arial"/>
              </a:rPr>
              <a:t>čije </a:t>
            </a:r>
            <a:r>
              <a:rPr sz="2800" spc="-5" dirty="0">
                <a:latin typeface="Arial"/>
                <a:cs typeface="Arial"/>
              </a:rPr>
              <a:t>vrednosti (podaci) nemaju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identitet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Vrste tipova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podataka: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440"/>
              </a:spcBef>
              <a:buSzPct val="77777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primitivni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tipovi</a:t>
            </a:r>
            <a:endParaRPr sz="2800" dirty="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405"/>
              </a:spcBef>
              <a:buSzPct val="75000"/>
              <a:buFont typeface="Wingdings"/>
              <a:buChar char=""/>
              <a:tabLst>
                <a:tab pos="1155700" algn="l"/>
              </a:tabLst>
            </a:pPr>
            <a:r>
              <a:rPr sz="2800" spc="-5" dirty="0">
                <a:latin typeface="Arial"/>
                <a:cs typeface="Arial"/>
              </a:rPr>
              <a:t>postojeći prosti </a:t>
            </a:r>
            <a:r>
              <a:rPr sz="2800" dirty="0">
                <a:latin typeface="Arial"/>
                <a:cs typeface="Arial"/>
              </a:rPr>
              <a:t>tipovi </a:t>
            </a:r>
            <a:r>
              <a:rPr sz="2800" spc="-5" dirty="0">
                <a:latin typeface="Arial"/>
                <a:cs typeface="Arial"/>
              </a:rPr>
              <a:t>podataka u jeziku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implementacije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434"/>
              </a:spcBef>
              <a:buSzPct val="77777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tipovi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nabrajanja</a:t>
            </a:r>
            <a:endParaRPr sz="2800" dirty="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405"/>
              </a:spcBef>
              <a:buSzPct val="75000"/>
              <a:buFont typeface="Wingdings"/>
              <a:buChar char=""/>
              <a:tabLst>
                <a:tab pos="1155700" algn="l"/>
              </a:tabLst>
            </a:pPr>
            <a:r>
              <a:rPr sz="2800" spc="-5" dirty="0">
                <a:latin typeface="Arial"/>
                <a:cs typeface="Arial"/>
              </a:rPr>
              <a:t>uzimaju vrednost </a:t>
            </a:r>
            <a:r>
              <a:rPr sz="2800" dirty="0">
                <a:latin typeface="Arial"/>
                <a:cs typeface="Arial"/>
              </a:rPr>
              <a:t>iz </a:t>
            </a:r>
            <a:r>
              <a:rPr sz="2800" spc="-5" dirty="0">
                <a:latin typeface="Arial"/>
                <a:cs typeface="Arial"/>
              </a:rPr>
              <a:t>definisanog skupa simboličkih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imena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5759" y="2785761"/>
            <a:ext cx="1727200" cy="862965"/>
          </a:xfrm>
          <a:prstGeom prst="rect">
            <a:avLst/>
          </a:prstGeom>
          <a:solidFill>
            <a:srgbClr val="FFFFB9"/>
          </a:solidFill>
          <a:ln w="8994">
            <a:solidFill>
              <a:srgbClr val="7F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635" algn="ctr">
              <a:lnSpc>
                <a:spcPts val="1410"/>
              </a:lnSpc>
              <a:spcBef>
                <a:spcPts val="165"/>
              </a:spcBef>
            </a:pPr>
            <a:r>
              <a:rPr sz="1200" spc="-20" dirty="0">
                <a:latin typeface="Arial"/>
                <a:cs typeface="Arial"/>
              </a:rPr>
              <a:t>&lt;&lt;primitive&gt;&gt;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ts val="1410"/>
              </a:lnSpc>
            </a:pPr>
            <a:r>
              <a:rPr sz="1200" b="1" spc="-25" dirty="0">
                <a:latin typeface="Arial"/>
                <a:cs typeface="Arial"/>
              </a:rPr>
              <a:t>int</a:t>
            </a:r>
            <a:endParaRPr sz="1200" dirty="0">
              <a:latin typeface="Arial"/>
              <a:cs typeface="Arial"/>
            </a:endParaRPr>
          </a:p>
          <a:p>
            <a:pPr marL="116839" marR="137160">
              <a:lnSpc>
                <a:spcPct val="103299"/>
              </a:lnSpc>
              <a:spcBef>
                <a:spcPts val="254"/>
              </a:spcBef>
            </a:pPr>
            <a:r>
              <a:rPr sz="1200" spc="-30" dirty="0">
                <a:latin typeface="Arial"/>
                <a:cs typeface="Arial"/>
              </a:rPr>
              <a:t>{vrednosti </a:t>
            </a:r>
            <a:r>
              <a:rPr sz="1200" dirty="0">
                <a:latin typeface="Arial"/>
                <a:cs typeface="Arial"/>
              </a:rPr>
              <a:t>u </a:t>
            </a:r>
            <a:r>
              <a:rPr sz="1200" spc="-30" dirty="0">
                <a:latin typeface="Arial"/>
                <a:cs typeface="Arial"/>
              </a:rPr>
              <a:t>opsegu:  </a:t>
            </a:r>
            <a:r>
              <a:rPr sz="1200" spc="-15" dirty="0">
                <a:latin typeface="Arial"/>
                <a:cs typeface="Arial"/>
              </a:rPr>
              <a:t>od </a:t>
            </a:r>
            <a:r>
              <a:rPr sz="1200" spc="-10" dirty="0">
                <a:latin typeface="Arial"/>
                <a:cs typeface="Arial"/>
              </a:rPr>
              <a:t>–2**31-1 </a:t>
            </a:r>
            <a:r>
              <a:rPr sz="1200" spc="-15" dirty="0">
                <a:latin typeface="Arial"/>
                <a:cs typeface="Arial"/>
              </a:rPr>
              <a:t>do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2**31}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36235" y="4118579"/>
            <a:ext cx="1175385" cy="398145"/>
          </a:xfrm>
          <a:prstGeom prst="rect">
            <a:avLst/>
          </a:prstGeom>
          <a:solidFill>
            <a:srgbClr val="FFFFB9"/>
          </a:solidFill>
          <a:ln w="8441">
            <a:solidFill>
              <a:srgbClr val="7F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0795" algn="ctr">
              <a:lnSpc>
                <a:spcPts val="1310"/>
              </a:lnSpc>
              <a:spcBef>
                <a:spcPts val="180"/>
              </a:spcBef>
            </a:pPr>
            <a:r>
              <a:rPr sz="1100" spc="-10" dirty="0">
                <a:latin typeface="Arial"/>
                <a:cs typeface="Arial"/>
              </a:rPr>
              <a:t>&lt;&lt;enumeration&gt;&gt;</a:t>
            </a:r>
            <a:endParaRPr sz="1100" dirty="0">
              <a:latin typeface="Arial"/>
              <a:cs typeface="Arial"/>
            </a:endParaRPr>
          </a:p>
          <a:p>
            <a:pPr marL="12700" algn="ctr">
              <a:lnSpc>
                <a:spcPts val="1310"/>
              </a:lnSpc>
            </a:pPr>
            <a:r>
              <a:rPr sz="1100" b="1" spc="-15" dirty="0">
                <a:latin typeface="Arial"/>
                <a:cs typeface="Arial"/>
              </a:rPr>
              <a:t>boolean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36234" y="4516724"/>
            <a:ext cx="1175385" cy="405765"/>
          </a:xfrm>
          <a:prstGeom prst="rect">
            <a:avLst/>
          </a:prstGeom>
          <a:solidFill>
            <a:srgbClr val="FFFFB9"/>
          </a:solidFill>
          <a:ln w="8441">
            <a:solidFill>
              <a:srgbClr val="7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3815" marR="832485">
              <a:lnSpc>
                <a:spcPts val="1270"/>
              </a:lnSpc>
              <a:spcBef>
                <a:spcPts val="254"/>
              </a:spcBef>
            </a:pPr>
            <a:r>
              <a:rPr sz="1100" spc="-5" dirty="0">
                <a:latin typeface="Arial"/>
                <a:cs typeface="Arial"/>
              </a:rPr>
              <a:t>true  </a:t>
            </a:r>
            <a:r>
              <a:rPr sz="1100" spc="10" dirty="0">
                <a:latin typeface="Arial"/>
                <a:cs typeface="Arial"/>
              </a:rPr>
              <a:t>f</a:t>
            </a:r>
            <a:r>
              <a:rPr sz="1100" spc="-15" dirty="0">
                <a:latin typeface="Arial"/>
                <a:cs typeface="Arial"/>
              </a:rPr>
              <a:t>a</a:t>
            </a:r>
            <a:r>
              <a:rPr sz="1100" spc="-45" dirty="0">
                <a:latin typeface="Arial"/>
                <a:cs typeface="Arial"/>
              </a:rPr>
              <a:t>l</a:t>
            </a:r>
            <a:r>
              <a:rPr sz="1100" spc="-25" dirty="0">
                <a:latin typeface="Arial"/>
                <a:cs typeface="Arial"/>
              </a:rPr>
              <a:t>s</a:t>
            </a:r>
            <a:r>
              <a:rPr sz="1100" spc="15" dirty="0">
                <a:latin typeface="Arial"/>
                <a:cs typeface="Arial"/>
              </a:rPr>
              <a:t>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42688" y="5465283"/>
            <a:ext cx="963294" cy="382905"/>
          </a:xfrm>
          <a:prstGeom prst="rect">
            <a:avLst/>
          </a:prstGeom>
          <a:solidFill>
            <a:srgbClr val="FFFFB9"/>
          </a:solidFill>
          <a:ln w="8315">
            <a:solidFill>
              <a:srgbClr val="7F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525" algn="ctr">
              <a:lnSpc>
                <a:spcPts val="1300"/>
              </a:lnSpc>
              <a:spcBef>
                <a:spcPts val="170"/>
              </a:spcBef>
            </a:pPr>
            <a:r>
              <a:rPr sz="1100" spc="-20" dirty="0">
                <a:latin typeface="Arial"/>
                <a:cs typeface="Arial"/>
              </a:rPr>
              <a:t>&lt;&lt;dataType&gt;&gt;</a:t>
            </a:r>
            <a:endParaRPr sz="1100" dirty="0">
              <a:latin typeface="Arial"/>
              <a:cs typeface="Arial"/>
            </a:endParaRPr>
          </a:p>
          <a:p>
            <a:pPr marL="19050" algn="ctr">
              <a:lnSpc>
                <a:spcPts val="1300"/>
              </a:lnSpc>
            </a:pPr>
            <a:r>
              <a:rPr sz="1100" b="1" spc="-5" dirty="0">
                <a:latin typeface="Arial"/>
                <a:cs typeface="Arial"/>
              </a:rPr>
              <a:t>Datum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500" y="648970"/>
            <a:ext cx="3352800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</a:t>
            </a:r>
            <a:r>
              <a:rPr spc="-10" dirty="0"/>
              <a:t>l</a:t>
            </a:r>
            <a:r>
              <a:rPr dirty="0"/>
              <a:t>ac</a:t>
            </a:r>
            <a:r>
              <a:rPr spc="-10" dirty="0"/>
              <a:t>ij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1016" y="2735071"/>
            <a:ext cx="6885940" cy="29052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Na </a:t>
            </a:r>
            <a:r>
              <a:rPr sz="2800" dirty="0">
                <a:latin typeface="Arial"/>
                <a:cs typeface="Arial"/>
              </a:rPr>
              <a:t>klasnim dijagramima se </a:t>
            </a:r>
            <a:r>
              <a:rPr sz="2800" spc="-5" dirty="0">
                <a:latin typeface="Arial"/>
                <a:cs typeface="Arial"/>
              </a:rPr>
              <a:t>pojavljuju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sve</a:t>
            </a:r>
          </a:p>
          <a:p>
            <a:pPr marL="354965">
              <a:lnSpc>
                <a:spcPct val="100000"/>
              </a:lnSpc>
              <a:spcBef>
                <a:spcPts val="10"/>
              </a:spcBef>
            </a:pPr>
            <a:r>
              <a:rPr sz="2800" dirty="0">
                <a:latin typeface="Arial"/>
                <a:cs typeface="Arial"/>
              </a:rPr>
              <a:t>četiri </a:t>
            </a:r>
            <a:r>
              <a:rPr sz="2800" spc="-5" dirty="0">
                <a:latin typeface="Arial"/>
                <a:cs typeface="Arial"/>
              </a:rPr>
              <a:t>(prve tri </a:t>
            </a:r>
            <a:r>
              <a:rPr sz="2800" dirty="0">
                <a:latin typeface="Arial"/>
                <a:cs typeface="Arial"/>
              </a:rPr>
              <a:t>su </a:t>
            </a:r>
            <a:r>
              <a:rPr sz="2800" spc="-5" dirty="0">
                <a:latin typeface="Arial"/>
                <a:cs typeface="Arial"/>
              </a:rPr>
              <a:t>češće) vrste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relacija: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57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zavisnost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</a:t>
            </a:r>
            <a:r>
              <a:rPr sz="2800" i="1" spc="-5" dirty="0">
                <a:latin typeface="Arial"/>
                <a:cs typeface="Arial"/>
              </a:rPr>
              <a:t>dependency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57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asocijacija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</a:t>
            </a:r>
            <a:r>
              <a:rPr sz="2800" i="1" spc="-5" dirty="0">
                <a:latin typeface="Arial"/>
                <a:cs typeface="Arial"/>
              </a:rPr>
              <a:t>association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56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generalizacija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</a:t>
            </a:r>
            <a:r>
              <a:rPr sz="2800" i="1" spc="-5" dirty="0">
                <a:latin typeface="Arial"/>
                <a:cs typeface="Arial"/>
              </a:rPr>
              <a:t>generalization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57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800" spc="-5" dirty="0">
                <a:latin typeface="Arial"/>
                <a:cs typeface="Arial"/>
              </a:rPr>
              <a:t>realizacija (</a:t>
            </a:r>
            <a:r>
              <a:rPr sz="2800" i="1" spc="-5" dirty="0">
                <a:latin typeface="Arial"/>
                <a:cs typeface="Arial"/>
              </a:rPr>
              <a:t>realization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8747" y="921530"/>
            <a:ext cx="2974456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Zavisnost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1016" y="2735070"/>
            <a:ext cx="4352925" cy="1121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99800"/>
              </a:lnSpc>
              <a:spcBef>
                <a:spcPts val="10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Povezuje stvari kod kojih  izmena nezavisne stvari utiče  na ponašanje zavisne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stvari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1016" y="3829302"/>
            <a:ext cx="6163945" cy="17068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Zavisna stvar koristi nezavisnu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stvar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Grafička notacija: klasa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zavisi </a:t>
            </a:r>
            <a:r>
              <a:rPr sz="2400" dirty="0">
                <a:latin typeface="Arial"/>
                <a:cs typeface="Arial"/>
              </a:rPr>
              <a:t>od </a:t>
            </a:r>
            <a:r>
              <a:rPr sz="2400" spc="-5" dirty="0">
                <a:latin typeface="Arial"/>
                <a:cs typeface="Arial"/>
              </a:rPr>
              <a:t>klase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</a:t>
            </a:r>
          </a:p>
          <a:p>
            <a:pPr marL="354965" marR="525780" indent="-342900">
              <a:lnSpc>
                <a:spcPct val="100000"/>
              </a:lnSpc>
              <a:spcBef>
                <a:spcPts val="56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Često se koristi kad </a:t>
            </a:r>
            <a:r>
              <a:rPr sz="2400" dirty="0">
                <a:latin typeface="Arial"/>
                <a:cs typeface="Arial"/>
              </a:rPr>
              <a:t>je </a:t>
            </a:r>
            <a:r>
              <a:rPr sz="2400" spc="-5" dirty="0">
                <a:latin typeface="Arial"/>
                <a:cs typeface="Arial"/>
              </a:rPr>
              <a:t>jedna klasa (B)  tip parametra operacije druge </a:t>
            </a:r>
            <a:r>
              <a:rPr sz="2400" dirty="0">
                <a:latin typeface="Arial"/>
                <a:cs typeface="Arial"/>
              </a:rPr>
              <a:t>klase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(A)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5582" y="3191256"/>
            <a:ext cx="401320" cy="297180"/>
          </a:xfrm>
          <a:custGeom>
            <a:avLst/>
            <a:gdLst/>
            <a:ahLst/>
            <a:cxnLst/>
            <a:rect l="l" t="t" r="r" b="b"/>
            <a:pathLst>
              <a:path w="401320" h="297179">
                <a:moveTo>
                  <a:pt x="0" y="0"/>
                </a:moveTo>
                <a:lnTo>
                  <a:pt x="0" y="297180"/>
                </a:lnTo>
                <a:lnTo>
                  <a:pt x="400812" y="297180"/>
                </a:lnTo>
                <a:lnTo>
                  <a:pt x="4008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7105" y="3192779"/>
            <a:ext cx="399415" cy="295910"/>
          </a:xfrm>
          <a:custGeom>
            <a:avLst/>
            <a:gdLst/>
            <a:ahLst/>
            <a:cxnLst/>
            <a:rect l="l" t="t" r="r" b="b"/>
            <a:pathLst>
              <a:path w="399415" h="295910">
                <a:moveTo>
                  <a:pt x="0" y="0"/>
                </a:moveTo>
                <a:lnTo>
                  <a:pt x="0" y="295655"/>
                </a:lnTo>
                <a:lnTo>
                  <a:pt x="399287" y="295655"/>
                </a:lnTo>
                <a:lnTo>
                  <a:pt x="39928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06142" y="3212082"/>
            <a:ext cx="154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51170" y="3191256"/>
            <a:ext cx="399415" cy="297180"/>
          </a:xfrm>
          <a:custGeom>
            <a:avLst/>
            <a:gdLst/>
            <a:ahLst/>
            <a:cxnLst/>
            <a:rect l="l" t="t" r="r" b="b"/>
            <a:pathLst>
              <a:path w="399415" h="297179">
                <a:moveTo>
                  <a:pt x="0" y="0"/>
                </a:moveTo>
                <a:lnTo>
                  <a:pt x="0" y="297180"/>
                </a:lnTo>
                <a:lnTo>
                  <a:pt x="399288" y="297180"/>
                </a:lnTo>
                <a:lnTo>
                  <a:pt x="3992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51169" y="3192779"/>
            <a:ext cx="399415" cy="295910"/>
          </a:xfrm>
          <a:custGeom>
            <a:avLst/>
            <a:gdLst/>
            <a:ahLst/>
            <a:cxnLst/>
            <a:rect l="l" t="t" r="r" b="b"/>
            <a:pathLst>
              <a:path w="399415" h="295910">
                <a:moveTo>
                  <a:pt x="0" y="0"/>
                </a:moveTo>
                <a:lnTo>
                  <a:pt x="0" y="295655"/>
                </a:lnTo>
                <a:lnTo>
                  <a:pt x="399287" y="295655"/>
                </a:lnTo>
                <a:lnTo>
                  <a:pt x="39928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81730" y="3212082"/>
            <a:ext cx="154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6393" y="3334511"/>
            <a:ext cx="875030" cy="1905"/>
          </a:xfrm>
          <a:custGeom>
            <a:avLst/>
            <a:gdLst/>
            <a:ahLst/>
            <a:cxnLst/>
            <a:rect l="l" t="t" r="r" b="b"/>
            <a:pathLst>
              <a:path w="875029" h="1904">
                <a:moveTo>
                  <a:pt x="0" y="0"/>
                </a:moveTo>
                <a:lnTo>
                  <a:pt x="874775" y="1523"/>
                </a:lnTo>
              </a:path>
            </a:pathLst>
          </a:custGeom>
          <a:ln w="9524">
            <a:solidFill>
              <a:srgbClr val="8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47538" y="3293364"/>
            <a:ext cx="104139" cy="82550"/>
          </a:xfrm>
          <a:custGeom>
            <a:avLst/>
            <a:gdLst/>
            <a:ahLst/>
            <a:cxnLst/>
            <a:rect l="l" t="t" r="r" b="b"/>
            <a:pathLst>
              <a:path w="104140" h="82550">
                <a:moveTo>
                  <a:pt x="0" y="82295"/>
                </a:moveTo>
                <a:lnTo>
                  <a:pt x="103631" y="41147"/>
                </a:lnTo>
                <a:lnTo>
                  <a:pt x="0" y="0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1016" y="322701"/>
            <a:ext cx="4650856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Generalizacija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300" y="1006215"/>
            <a:ext cx="5897880" cy="16741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1910"/>
              </a:lnSpc>
              <a:spcBef>
                <a:spcPts val="9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Povezuje opštije </a:t>
            </a:r>
            <a:r>
              <a:rPr sz="2400" dirty="0">
                <a:latin typeface="Arial"/>
                <a:cs typeface="Arial"/>
              </a:rPr>
              <a:t>sa </a:t>
            </a:r>
            <a:r>
              <a:rPr sz="2400" spc="-5" dirty="0">
                <a:latin typeface="Arial"/>
                <a:cs typeface="Arial"/>
              </a:rPr>
              <a:t>specijalizovanim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stvarima</a:t>
            </a:r>
            <a:endParaRPr sz="2400" dirty="0">
              <a:latin typeface="Arial"/>
              <a:cs typeface="Arial"/>
            </a:endParaRPr>
          </a:p>
          <a:p>
            <a:pPr marL="756285" lvl="1" indent="-287655">
              <a:lnSpc>
                <a:spcPts val="1670"/>
              </a:lnSpc>
              <a:buSzPct val="78571"/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Arial"/>
                <a:cs typeface="Arial"/>
              </a:rPr>
              <a:t>opštija stvar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superklasa, natklasa, osnovna </a:t>
            </a:r>
            <a:r>
              <a:rPr sz="2400" dirty="0">
                <a:latin typeface="Arial"/>
                <a:cs typeface="Arial"/>
              </a:rPr>
              <a:t>klasa ili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roditelj</a:t>
            </a:r>
            <a:endParaRPr sz="24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buSzPct val="78571"/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Arial"/>
                <a:cs typeface="Arial"/>
              </a:rPr>
              <a:t>specijalizovana stvar </a:t>
            </a: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subklasa, potklasa, izvedena </a:t>
            </a:r>
            <a:r>
              <a:rPr sz="2400" dirty="0">
                <a:latin typeface="Arial"/>
                <a:cs typeface="Arial"/>
              </a:rPr>
              <a:t>klasa ili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dete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832" y="2680391"/>
            <a:ext cx="450278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 err="1" smtClean="0">
                <a:latin typeface="Arial"/>
                <a:cs typeface="Arial"/>
              </a:rPr>
              <a:t>Generalizacija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znači: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201" y="3061906"/>
            <a:ext cx="7446645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algn="just">
              <a:lnSpc>
                <a:spcPct val="100000"/>
              </a:lnSpc>
              <a:spcBef>
                <a:spcPts val="100"/>
              </a:spcBef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–	</a:t>
            </a:r>
            <a:r>
              <a:rPr sz="2400" spc="-5" dirty="0">
                <a:latin typeface="Arial"/>
                <a:cs typeface="Arial"/>
              </a:rPr>
              <a:t>objekti dece </a:t>
            </a:r>
            <a:r>
              <a:rPr sz="2400" spc="5" dirty="0">
                <a:latin typeface="Arial"/>
                <a:cs typeface="Arial"/>
              </a:rPr>
              <a:t>se </a:t>
            </a:r>
            <a:r>
              <a:rPr sz="2400" spc="-5" dirty="0">
                <a:latin typeface="Arial"/>
                <a:cs typeface="Arial"/>
              </a:rPr>
              <a:t>mogu pojaviti gde god </a:t>
            </a:r>
            <a:r>
              <a:rPr sz="2400" spc="5" dirty="0">
                <a:latin typeface="Arial"/>
                <a:cs typeface="Arial"/>
              </a:rPr>
              <a:t>se </a:t>
            </a:r>
            <a:r>
              <a:rPr sz="2400" spc="-5" dirty="0">
                <a:latin typeface="Arial"/>
                <a:cs typeface="Arial"/>
              </a:rPr>
              <a:t>očekuje objekat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roditelja</a:t>
            </a:r>
            <a:endParaRPr sz="24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2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Deca nasleđuju osobine svojih roditelja, atribute </a:t>
            </a:r>
            <a:r>
              <a:rPr sz="2400" dirty="0">
                <a:latin typeface="Arial"/>
                <a:cs typeface="Arial"/>
              </a:rPr>
              <a:t>(strukturu) </a:t>
            </a:r>
            <a:r>
              <a:rPr sz="2400" spc="-5" dirty="0">
                <a:latin typeface="Arial"/>
                <a:cs typeface="Arial"/>
              </a:rPr>
              <a:t>i operacije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 err="1">
                <a:latin typeface="Arial"/>
                <a:cs typeface="Arial"/>
              </a:rPr>
              <a:t>ugovor</a:t>
            </a:r>
            <a:r>
              <a:rPr sz="2400" spc="-5" dirty="0" smtClean="0">
                <a:latin typeface="Arial"/>
                <a:cs typeface="Arial"/>
              </a:rPr>
              <a:t>)</a:t>
            </a:r>
            <a:endParaRPr lang="sr-Latn-RS" sz="2400" spc="-5" dirty="0" smtClean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  <a:buSzPct val="75000"/>
              <a:tabLst>
                <a:tab pos="354965" algn="l"/>
                <a:tab pos="355600" algn="l"/>
              </a:tabLst>
            </a:pPr>
            <a:endParaRPr sz="24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 err="1" smtClean="0">
                <a:latin typeface="Arial"/>
                <a:cs typeface="Arial"/>
              </a:rPr>
              <a:t>Redefinicija</a:t>
            </a:r>
            <a:r>
              <a:rPr sz="2400" spc="-5" dirty="0" smtClean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operacije omogućava njeno polimorfno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ponašanje</a:t>
            </a:r>
            <a:endParaRPr sz="24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Klasa </a:t>
            </a:r>
            <a:r>
              <a:rPr sz="2400" dirty="0">
                <a:latin typeface="Arial"/>
                <a:cs typeface="Arial"/>
              </a:rPr>
              <a:t>koja ima </a:t>
            </a:r>
            <a:r>
              <a:rPr sz="2400" spc="-5" dirty="0">
                <a:latin typeface="Arial"/>
                <a:cs typeface="Arial"/>
              </a:rPr>
              <a:t>samo jednog roditelja </a:t>
            </a:r>
            <a:r>
              <a:rPr sz="2400" dirty="0">
                <a:latin typeface="Arial"/>
                <a:cs typeface="Arial"/>
              </a:rPr>
              <a:t>koristi </a:t>
            </a:r>
            <a:r>
              <a:rPr sz="2400" spc="-5" dirty="0">
                <a:latin typeface="Arial"/>
                <a:cs typeface="Arial"/>
              </a:rPr>
              <a:t>jednostruko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nasleđivanje</a:t>
            </a:r>
            <a:endParaRPr sz="24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1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Klasa </a:t>
            </a:r>
            <a:r>
              <a:rPr sz="2400" dirty="0">
                <a:latin typeface="Arial"/>
                <a:cs typeface="Arial"/>
              </a:rPr>
              <a:t>koja ima </a:t>
            </a:r>
            <a:r>
              <a:rPr sz="2400" spc="-5" dirty="0">
                <a:latin typeface="Arial"/>
                <a:cs typeface="Arial"/>
              </a:rPr>
              <a:t>više roditelja koristi višestruko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nasleđivanje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0034" y="3479299"/>
            <a:ext cx="401320" cy="297180"/>
          </a:xfrm>
          <a:prstGeom prst="rect">
            <a:avLst/>
          </a:prstGeom>
          <a:solidFill>
            <a:srgbClr val="FFFFB9"/>
          </a:solidFill>
          <a:ln w="10284">
            <a:solidFill>
              <a:srgbClr val="7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254"/>
              </a:spcBef>
            </a:pPr>
            <a:r>
              <a:rPr sz="1350" b="1" spc="20" dirty="0">
                <a:latin typeface="Arial"/>
                <a:cs typeface="Arial"/>
              </a:rPr>
              <a:t>A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54102" y="3479299"/>
            <a:ext cx="402590" cy="297815"/>
          </a:xfrm>
          <a:custGeom>
            <a:avLst/>
            <a:gdLst/>
            <a:ahLst/>
            <a:cxnLst/>
            <a:rect l="l" t="t" r="r" b="b"/>
            <a:pathLst>
              <a:path w="402590" h="297814">
                <a:moveTo>
                  <a:pt x="402323" y="0"/>
                </a:moveTo>
                <a:lnTo>
                  <a:pt x="0" y="0"/>
                </a:lnTo>
                <a:lnTo>
                  <a:pt x="0" y="297192"/>
                </a:lnTo>
                <a:lnTo>
                  <a:pt x="402323" y="297192"/>
                </a:lnTo>
                <a:lnTo>
                  <a:pt x="402323" y="0"/>
                </a:lnTo>
                <a:close/>
              </a:path>
            </a:pathLst>
          </a:custGeom>
          <a:ln w="1028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59244" y="3484441"/>
            <a:ext cx="392430" cy="292100"/>
          </a:xfrm>
          <a:prstGeom prst="rect">
            <a:avLst/>
          </a:prstGeom>
          <a:solidFill>
            <a:srgbClr val="FFFFB9"/>
          </a:solidFill>
        </p:spPr>
        <p:txBody>
          <a:bodyPr vert="horz" wrap="square" lIns="0" tIns="2730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215"/>
              </a:spcBef>
            </a:pPr>
            <a:r>
              <a:rPr sz="1350" b="1" spc="20" dirty="0">
                <a:latin typeface="Arial"/>
                <a:cs typeface="Arial"/>
              </a:rPr>
              <a:t>B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80849" y="3622567"/>
            <a:ext cx="873760" cy="0"/>
          </a:xfrm>
          <a:custGeom>
            <a:avLst/>
            <a:gdLst/>
            <a:ahLst/>
            <a:cxnLst/>
            <a:rect l="l" t="t" r="r" b="b"/>
            <a:pathLst>
              <a:path w="873759">
                <a:moveTo>
                  <a:pt x="0" y="0"/>
                </a:moveTo>
                <a:lnTo>
                  <a:pt x="873252" y="0"/>
                </a:lnTo>
              </a:path>
            </a:pathLst>
          </a:custGeom>
          <a:ln w="10287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43220" y="3535119"/>
            <a:ext cx="216024" cy="174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6700" y="884715"/>
            <a:ext cx="4648200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Asocijacija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2731" y="1974729"/>
            <a:ext cx="4758690" cy="128817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4965" marR="5080" indent="-342900">
              <a:lnSpc>
                <a:spcPts val="2170"/>
              </a:lnSpc>
              <a:spcBef>
                <a:spcPts val="36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Specificira </a:t>
            </a:r>
            <a:r>
              <a:rPr sz="2400" dirty="0">
                <a:latin typeface="Arial"/>
                <a:cs typeface="Arial"/>
              </a:rPr>
              <a:t>da </a:t>
            </a:r>
            <a:r>
              <a:rPr sz="2400" spc="-5" dirty="0">
                <a:latin typeface="Arial"/>
                <a:cs typeface="Arial"/>
              </a:rPr>
              <a:t>li </a:t>
            </a:r>
            <a:r>
              <a:rPr sz="2400" spc="5" dirty="0">
                <a:latin typeface="Arial"/>
                <a:cs typeface="Arial"/>
              </a:rPr>
              <a:t>su </a:t>
            </a:r>
            <a:r>
              <a:rPr sz="2400" spc="-5" dirty="0">
                <a:latin typeface="Arial"/>
                <a:cs typeface="Arial"/>
              </a:rPr>
              <a:t>primerci </a:t>
            </a:r>
            <a:r>
              <a:rPr sz="2400" dirty="0">
                <a:latin typeface="Arial"/>
                <a:cs typeface="Arial"/>
              </a:rPr>
              <a:t>jedne </a:t>
            </a:r>
            <a:r>
              <a:rPr sz="2400" spc="-5" dirty="0">
                <a:latin typeface="Arial"/>
                <a:cs typeface="Arial"/>
              </a:rPr>
              <a:t>stvari  </a:t>
            </a:r>
            <a:r>
              <a:rPr sz="2400" dirty="0">
                <a:latin typeface="Arial"/>
                <a:cs typeface="Arial"/>
              </a:rPr>
              <a:t>povezani </a:t>
            </a:r>
            <a:r>
              <a:rPr sz="2400" spc="5" dirty="0">
                <a:latin typeface="Arial"/>
                <a:cs typeface="Arial"/>
              </a:rPr>
              <a:t>sa </a:t>
            </a:r>
            <a:r>
              <a:rPr sz="2400" spc="-5" dirty="0">
                <a:latin typeface="Arial"/>
                <a:cs typeface="Arial"/>
              </a:rPr>
              <a:t>primercima </a:t>
            </a:r>
            <a:r>
              <a:rPr sz="2400" dirty="0">
                <a:latin typeface="Arial"/>
                <a:cs typeface="Arial"/>
              </a:rPr>
              <a:t>druge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stvari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Asocijacija </a:t>
            </a:r>
            <a:r>
              <a:rPr sz="2400" spc="-5" dirty="0">
                <a:latin typeface="Arial"/>
                <a:cs typeface="Arial"/>
              </a:rPr>
              <a:t>je strukturna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relacija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7155" y="3401028"/>
            <a:ext cx="7755255" cy="389209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5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Asocijacija može </a:t>
            </a:r>
            <a:r>
              <a:rPr sz="2400" spc="-5" dirty="0">
                <a:latin typeface="Arial"/>
                <a:cs typeface="Arial"/>
              </a:rPr>
              <a:t>biti </a:t>
            </a:r>
            <a:r>
              <a:rPr sz="2400" dirty="0">
                <a:latin typeface="Arial"/>
                <a:cs typeface="Arial"/>
              </a:rPr>
              <a:t>unidirekcionalna </a:t>
            </a:r>
            <a:r>
              <a:rPr sz="2400" spc="-5" dirty="0">
                <a:latin typeface="Arial"/>
                <a:cs typeface="Arial"/>
              </a:rPr>
              <a:t>ili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bidirekcionalna</a:t>
            </a:r>
            <a:endParaRPr sz="24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225"/>
              </a:spcBef>
              <a:buSzPct val="77777"/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Arial"/>
                <a:cs typeface="Arial"/>
              </a:rPr>
              <a:t>jednosmerna, </a:t>
            </a:r>
            <a:r>
              <a:rPr sz="2400" spc="-10" dirty="0">
                <a:latin typeface="Arial"/>
                <a:cs typeface="Arial"/>
              </a:rPr>
              <a:t>odnosno </a:t>
            </a:r>
            <a:r>
              <a:rPr sz="2400" spc="-5" dirty="0">
                <a:latin typeface="Arial"/>
                <a:cs typeface="Arial"/>
              </a:rPr>
              <a:t>dvosmerna,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navigabilnost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Dozvoljena </a:t>
            </a:r>
            <a:r>
              <a:rPr sz="2400" spc="-5" dirty="0">
                <a:latin typeface="Arial"/>
                <a:cs typeface="Arial"/>
              </a:rPr>
              <a:t>je </a:t>
            </a:r>
            <a:r>
              <a:rPr sz="2400" dirty="0">
                <a:latin typeface="Arial"/>
                <a:cs typeface="Arial"/>
              </a:rPr>
              <a:t>i asocijacija </a:t>
            </a:r>
            <a:r>
              <a:rPr sz="2400" spc="5" dirty="0">
                <a:latin typeface="Arial"/>
                <a:cs typeface="Arial"/>
              </a:rPr>
              <a:t>sa </a:t>
            </a:r>
            <a:r>
              <a:rPr sz="2400" spc="-5" dirty="0">
                <a:latin typeface="Arial"/>
                <a:cs typeface="Arial"/>
              </a:rPr>
              <a:t>samim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sobom</a:t>
            </a:r>
            <a:endParaRPr sz="2400" dirty="0">
              <a:latin typeface="Arial"/>
              <a:cs typeface="Arial"/>
            </a:endParaRPr>
          </a:p>
          <a:p>
            <a:pPr marL="756285" lvl="1" indent="-287655">
              <a:lnSpc>
                <a:spcPct val="100000"/>
              </a:lnSpc>
              <a:spcBef>
                <a:spcPts val="225"/>
              </a:spcBef>
              <a:buSzPct val="77777"/>
              <a:buChar char="–"/>
              <a:tabLst>
                <a:tab pos="756285" algn="l"/>
                <a:tab pos="756920" algn="l"/>
              </a:tabLst>
            </a:pPr>
            <a:r>
              <a:rPr sz="2400" spc="-10" dirty="0">
                <a:latin typeface="Arial"/>
                <a:cs typeface="Arial"/>
              </a:rPr>
              <a:t>postoje </a:t>
            </a:r>
            <a:r>
              <a:rPr sz="2400" spc="-5" dirty="0">
                <a:latin typeface="Arial"/>
                <a:cs typeface="Arial"/>
              </a:rPr>
              <a:t>veze između objekata iste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klase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Uobičajeno </a:t>
            </a:r>
            <a:r>
              <a:rPr sz="2400" spc="-5" dirty="0">
                <a:latin typeface="Arial"/>
                <a:cs typeface="Arial"/>
              </a:rPr>
              <a:t>je </a:t>
            </a:r>
            <a:r>
              <a:rPr sz="2400" dirty="0">
                <a:latin typeface="Arial"/>
                <a:cs typeface="Arial"/>
              </a:rPr>
              <a:t>da </a:t>
            </a:r>
            <a:r>
              <a:rPr sz="2400" spc="-5" dirty="0">
                <a:latin typeface="Arial"/>
                <a:cs typeface="Arial"/>
              </a:rPr>
              <a:t>asocijacija povezuje </a:t>
            </a:r>
            <a:r>
              <a:rPr sz="2400" spc="-10" dirty="0">
                <a:latin typeface="Arial"/>
                <a:cs typeface="Arial"/>
              </a:rPr>
              <a:t>dve </a:t>
            </a:r>
            <a:r>
              <a:rPr sz="2400" dirty="0">
                <a:latin typeface="Arial"/>
                <a:cs typeface="Arial"/>
              </a:rPr>
              <a:t>klase </a:t>
            </a:r>
            <a:r>
              <a:rPr sz="2400" spc="-5" dirty="0">
                <a:latin typeface="Arial"/>
                <a:cs typeface="Arial"/>
              </a:rPr>
              <a:t>(binarna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asoc.)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Moguće </a:t>
            </a:r>
            <a:r>
              <a:rPr sz="2400" spc="-5" dirty="0">
                <a:latin typeface="Arial"/>
                <a:cs typeface="Arial"/>
              </a:rPr>
              <a:t>je </a:t>
            </a:r>
            <a:r>
              <a:rPr sz="2400" dirty="0">
                <a:latin typeface="Arial"/>
                <a:cs typeface="Arial"/>
              </a:rPr>
              <a:t>da asocijacija </a:t>
            </a:r>
            <a:r>
              <a:rPr sz="2400" spc="-5" dirty="0">
                <a:latin typeface="Arial"/>
                <a:cs typeface="Arial"/>
              </a:rPr>
              <a:t>povezuje </a:t>
            </a:r>
            <a:r>
              <a:rPr sz="2400" dirty="0">
                <a:latin typeface="Arial"/>
                <a:cs typeface="Arial"/>
              </a:rPr>
              <a:t>i </a:t>
            </a:r>
            <a:r>
              <a:rPr sz="2400" spc="-5" dirty="0">
                <a:latin typeface="Arial"/>
                <a:cs typeface="Arial"/>
              </a:rPr>
              <a:t>više </a:t>
            </a:r>
            <a:r>
              <a:rPr sz="2400" dirty="0">
                <a:latin typeface="Arial"/>
                <a:cs typeface="Arial"/>
              </a:rPr>
              <a:t>klasa </a:t>
            </a:r>
            <a:r>
              <a:rPr sz="2400" spc="-5" dirty="0">
                <a:latin typeface="Arial"/>
                <a:cs typeface="Arial"/>
              </a:rPr>
              <a:t>(n-arna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asocijacija)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29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Grafička notacija: </a:t>
            </a:r>
            <a:r>
              <a:rPr sz="2400" dirty="0">
                <a:latin typeface="Arial"/>
                <a:cs typeface="Arial"/>
              </a:rPr>
              <a:t>klasa A </a:t>
            </a:r>
            <a:r>
              <a:rPr sz="2400" spc="-5" dirty="0">
                <a:latin typeface="Arial"/>
                <a:cs typeface="Arial"/>
              </a:rPr>
              <a:t>je </a:t>
            </a:r>
            <a:r>
              <a:rPr sz="2400" dirty="0">
                <a:latin typeface="Arial"/>
                <a:cs typeface="Arial"/>
              </a:rPr>
              <a:t>u </a:t>
            </a:r>
            <a:r>
              <a:rPr sz="2400" spc="-5" dirty="0">
                <a:latin typeface="Arial"/>
                <a:cs typeface="Arial"/>
              </a:rPr>
              <a:t>asocijaciji </a:t>
            </a:r>
            <a:r>
              <a:rPr sz="2400" spc="5" dirty="0">
                <a:latin typeface="Arial"/>
                <a:cs typeface="Arial"/>
              </a:rPr>
              <a:t>sa </a:t>
            </a:r>
            <a:r>
              <a:rPr sz="2400" dirty="0">
                <a:latin typeface="Arial"/>
                <a:cs typeface="Arial"/>
              </a:rPr>
              <a:t>klasom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23294" y="3119633"/>
            <a:ext cx="390525" cy="297180"/>
          </a:xfrm>
          <a:prstGeom prst="rect">
            <a:avLst/>
          </a:prstGeom>
          <a:solidFill>
            <a:srgbClr val="FFFFB9"/>
          </a:solidFill>
          <a:ln w="10284">
            <a:solidFill>
              <a:srgbClr val="7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254"/>
              </a:spcBef>
            </a:pPr>
            <a:r>
              <a:rPr sz="1350" b="1" spc="20" dirty="0">
                <a:latin typeface="Arial"/>
                <a:cs typeface="Arial"/>
              </a:rPr>
              <a:t>A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97346" y="3119633"/>
            <a:ext cx="391795" cy="297815"/>
          </a:xfrm>
          <a:custGeom>
            <a:avLst/>
            <a:gdLst/>
            <a:ahLst/>
            <a:cxnLst/>
            <a:rect l="l" t="t" r="r" b="b"/>
            <a:pathLst>
              <a:path w="391795" h="297814">
                <a:moveTo>
                  <a:pt x="391673" y="0"/>
                </a:moveTo>
                <a:lnTo>
                  <a:pt x="0" y="0"/>
                </a:lnTo>
                <a:lnTo>
                  <a:pt x="0" y="297192"/>
                </a:lnTo>
                <a:lnTo>
                  <a:pt x="391673" y="297192"/>
                </a:lnTo>
                <a:lnTo>
                  <a:pt x="391673" y="0"/>
                </a:lnTo>
                <a:close/>
              </a:path>
            </a:pathLst>
          </a:custGeom>
          <a:ln w="10284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02488" y="3124776"/>
            <a:ext cx="381635" cy="292100"/>
          </a:xfrm>
          <a:prstGeom prst="rect">
            <a:avLst/>
          </a:prstGeom>
          <a:solidFill>
            <a:srgbClr val="FFFFB9"/>
          </a:solidFill>
        </p:spPr>
        <p:txBody>
          <a:bodyPr vert="horz" wrap="square" lIns="0" tIns="2730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215"/>
              </a:spcBef>
            </a:pPr>
            <a:r>
              <a:rPr sz="1350" b="1" spc="20" dirty="0">
                <a:latin typeface="Arial"/>
                <a:cs typeface="Arial"/>
              </a:rPr>
              <a:t>B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24093" y="3262902"/>
            <a:ext cx="873760" cy="0"/>
          </a:xfrm>
          <a:custGeom>
            <a:avLst/>
            <a:gdLst/>
            <a:ahLst/>
            <a:cxnLst/>
            <a:rect l="l" t="t" r="r" b="b"/>
            <a:pathLst>
              <a:path w="873759">
                <a:moveTo>
                  <a:pt x="0" y="0"/>
                </a:moveTo>
                <a:lnTo>
                  <a:pt x="873252" y="0"/>
                </a:lnTo>
              </a:path>
            </a:pathLst>
          </a:custGeom>
          <a:ln w="10287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1315" y="864923"/>
            <a:ext cx="4252462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Realizacija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1016" y="2738118"/>
            <a:ext cx="7733030" cy="5531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4965" marR="5080" indent="-342900">
              <a:lnSpc>
                <a:spcPct val="100600"/>
              </a:lnSpc>
              <a:spcBef>
                <a:spcPts val="85"/>
              </a:spcBef>
              <a:buSzPct val="77777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Semantička relacija između klasifikatora </a:t>
            </a:r>
            <a:r>
              <a:rPr sz="1800" dirty="0">
                <a:latin typeface="Arial"/>
                <a:cs typeface="Arial"/>
              </a:rPr>
              <a:t>od </a:t>
            </a:r>
            <a:r>
              <a:rPr sz="1800" spc="-5" dirty="0">
                <a:latin typeface="Arial"/>
                <a:cs typeface="Arial"/>
              </a:rPr>
              <a:t>kojih jedan specificira ugovor 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drugi </a:t>
            </a:r>
            <a:r>
              <a:rPr sz="1800" spc="-5" dirty="0">
                <a:latin typeface="Arial"/>
                <a:cs typeface="Arial"/>
              </a:rPr>
              <a:t>garantuje njegovu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implementaciju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1016" y="3284707"/>
            <a:ext cx="2316480" cy="6534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60"/>
              </a:spcBef>
              <a:buSzPct val="77777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Grafička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notacija:</a:t>
            </a:r>
            <a:endParaRPr sz="18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405"/>
              </a:spcBef>
              <a:tabLst>
                <a:tab pos="756285" algn="l"/>
              </a:tabLst>
            </a:pPr>
            <a:r>
              <a:rPr sz="1200" dirty="0">
                <a:latin typeface="Arial"/>
                <a:cs typeface="Arial"/>
              </a:rPr>
              <a:t>–	</a:t>
            </a:r>
            <a:r>
              <a:rPr sz="1600" spc="-5" dirty="0">
                <a:latin typeface="Arial"/>
                <a:cs typeface="Arial"/>
              </a:rPr>
              <a:t>kanonička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forma: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8216" y="4256022"/>
            <a:ext cx="17691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200" dirty="0">
                <a:latin typeface="Arial"/>
                <a:cs typeface="Arial"/>
              </a:rPr>
              <a:t>–	</a:t>
            </a:r>
            <a:r>
              <a:rPr sz="1600" spc="-5" dirty="0">
                <a:latin typeface="Arial"/>
                <a:cs typeface="Arial"/>
              </a:rPr>
              <a:t>skraćena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forma: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1016" y="4885433"/>
            <a:ext cx="4430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77777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Korišćenje interfejsa (relacija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zavisnosti)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8216" y="5210045"/>
            <a:ext cx="185928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200" dirty="0">
                <a:solidFill>
                  <a:srgbClr val="003265"/>
                </a:solidFill>
                <a:latin typeface="Arial"/>
                <a:cs typeface="Arial"/>
              </a:rPr>
              <a:t>–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" dirty="0">
                <a:latin typeface="Arial"/>
                <a:cs typeface="Arial"/>
              </a:rPr>
              <a:t>kanonička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forma: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8216" y="5798309"/>
            <a:ext cx="31146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–	</a:t>
            </a:r>
            <a:r>
              <a:rPr sz="1600" spc="-5" dirty="0">
                <a:latin typeface="Arial"/>
                <a:cs typeface="Arial"/>
              </a:rPr>
              <a:t>skraćena forma (</a:t>
            </a:r>
            <a:r>
              <a:rPr sz="1600" i="1" spc="-5" dirty="0">
                <a:latin typeface="Arial"/>
                <a:cs typeface="Arial"/>
              </a:rPr>
              <a:t>ball &amp;</a:t>
            </a:r>
            <a:r>
              <a:rPr sz="1600" i="1" spc="2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socket</a:t>
            </a:r>
            <a:r>
              <a:rPr sz="1600" spc="-5" dirty="0">
                <a:latin typeface="Arial"/>
                <a:cs typeface="Arial"/>
              </a:rPr>
              <a:t>):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8906" y="3628644"/>
            <a:ext cx="399415" cy="297180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295"/>
              </a:spcBef>
            </a:pPr>
            <a:r>
              <a:rPr sz="1000" b="1" spc="-5" dirty="0">
                <a:latin typeface="Tahoma"/>
                <a:cs typeface="Tahoma"/>
              </a:rPr>
              <a:t>K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3945" y="3546347"/>
            <a:ext cx="977265" cy="462280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305"/>
              </a:spcBef>
            </a:pPr>
            <a:r>
              <a:rPr sz="1000" spc="-5" dirty="0">
                <a:latin typeface="Tahoma"/>
                <a:cs typeface="Tahoma"/>
              </a:rPr>
              <a:t>&lt;&lt;interface&gt;&gt;</a:t>
            </a:r>
            <a:endParaRPr sz="1000">
              <a:latin typeface="Tahoma"/>
              <a:cs typeface="Tahoma"/>
            </a:endParaRPr>
          </a:p>
          <a:p>
            <a:pPr marL="7620" algn="ctr">
              <a:lnSpc>
                <a:spcPct val="100000"/>
              </a:lnSpc>
              <a:spcBef>
                <a:spcPts val="85"/>
              </a:spcBef>
            </a:pPr>
            <a:r>
              <a:rPr sz="1000" b="1" spc="-5" dirty="0"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0830" y="3771900"/>
            <a:ext cx="608330" cy="1905"/>
          </a:xfrm>
          <a:custGeom>
            <a:avLst/>
            <a:gdLst/>
            <a:ahLst/>
            <a:cxnLst/>
            <a:rect l="l" t="t" r="r" b="b"/>
            <a:pathLst>
              <a:path w="608329" h="1904">
                <a:moveTo>
                  <a:pt x="608075" y="0"/>
                </a:moveTo>
                <a:lnTo>
                  <a:pt x="0" y="1523"/>
                </a:lnTo>
              </a:path>
            </a:pathLst>
          </a:custGeom>
          <a:ln w="9524">
            <a:solidFill>
              <a:srgbClr val="8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26067" y="3684841"/>
            <a:ext cx="215264" cy="174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63133" y="5291327"/>
            <a:ext cx="401320" cy="295910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295"/>
              </a:spcBef>
            </a:pPr>
            <a:r>
              <a:rPr sz="1000" b="1" spc="-5" dirty="0">
                <a:latin typeface="Tahoma"/>
                <a:cs typeface="Tahoma"/>
              </a:rPr>
              <a:t>K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3330" y="5209032"/>
            <a:ext cx="975360" cy="462280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305"/>
              </a:spcBef>
            </a:pPr>
            <a:r>
              <a:rPr sz="1000" spc="-5" dirty="0">
                <a:latin typeface="Tahoma"/>
                <a:cs typeface="Tahoma"/>
              </a:rPr>
              <a:t>&lt;&lt;interface&gt;&gt;</a:t>
            </a:r>
            <a:endParaRPr sz="1000">
              <a:latin typeface="Tahoma"/>
              <a:cs typeface="Tahoma"/>
            </a:endParaRPr>
          </a:p>
          <a:p>
            <a:pPr marL="8890" algn="ctr">
              <a:lnSpc>
                <a:spcPct val="100000"/>
              </a:lnSpc>
              <a:spcBef>
                <a:spcPts val="85"/>
              </a:spcBef>
            </a:pPr>
            <a:r>
              <a:rPr sz="1000" b="1" spc="-5" dirty="0"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58690" y="5433059"/>
            <a:ext cx="504825" cy="1905"/>
          </a:xfrm>
          <a:custGeom>
            <a:avLst/>
            <a:gdLst/>
            <a:ahLst/>
            <a:cxnLst/>
            <a:rect l="l" t="t" r="r" b="b"/>
            <a:pathLst>
              <a:path w="504825" h="1904">
                <a:moveTo>
                  <a:pt x="504443" y="0"/>
                </a:moveTo>
                <a:lnTo>
                  <a:pt x="0" y="1523"/>
                </a:lnTo>
              </a:path>
            </a:pathLst>
          </a:custGeom>
          <a:ln w="9524">
            <a:solidFill>
              <a:srgbClr val="8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53927" y="5346001"/>
            <a:ext cx="216788" cy="175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17697" y="5291327"/>
            <a:ext cx="525780" cy="295910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545"/>
              </a:spcBef>
            </a:pPr>
            <a:r>
              <a:rPr sz="1000" b="1" spc="-5" dirty="0">
                <a:latin typeface="Tahoma"/>
                <a:cs typeface="Tahoma"/>
              </a:rPr>
              <a:t>Klijent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43477" y="5433059"/>
            <a:ext cx="340360" cy="1905"/>
          </a:xfrm>
          <a:custGeom>
            <a:avLst/>
            <a:gdLst/>
            <a:ahLst/>
            <a:cxnLst/>
            <a:rect l="l" t="t" r="r" b="b"/>
            <a:pathLst>
              <a:path w="340360" h="1904">
                <a:moveTo>
                  <a:pt x="0" y="0"/>
                </a:moveTo>
                <a:lnTo>
                  <a:pt x="339851" y="1523"/>
                </a:lnTo>
              </a:path>
            </a:pathLst>
          </a:custGeom>
          <a:ln w="9524">
            <a:solidFill>
              <a:srgbClr val="8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79697" y="5391911"/>
            <a:ext cx="104139" cy="83820"/>
          </a:xfrm>
          <a:custGeom>
            <a:avLst/>
            <a:gdLst/>
            <a:ahLst/>
            <a:cxnLst/>
            <a:rect l="l" t="t" r="r" b="b"/>
            <a:pathLst>
              <a:path w="104139" h="83820">
                <a:moveTo>
                  <a:pt x="0" y="83819"/>
                </a:moveTo>
                <a:lnTo>
                  <a:pt x="103631" y="41147"/>
                </a:lnTo>
                <a:lnTo>
                  <a:pt x="0" y="0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48250" y="5824727"/>
            <a:ext cx="399415" cy="299085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305"/>
              </a:spcBef>
            </a:pPr>
            <a:r>
              <a:rPr sz="1000" b="1" spc="-5" dirty="0">
                <a:latin typeface="Tahoma"/>
                <a:cs typeface="Tahoma"/>
              </a:rPr>
              <a:t>K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33303" y="5923597"/>
            <a:ext cx="172592" cy="2061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96999" y="6150353"/>
            <a:ext cx="86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3138" y="6019800"/>
            <a:ext cx="515620" cy="1905"/>
          </a:xfrm>
          <a:custGeom>
            <a:avLst/>
            <a:gdLst/>
            <a:ahLst/>
            <a:cxnLst/>
            <a:rect l="l" t="t" r="r" b="b"/>
            <a:pathLst>
              <a:path w="515620" h="1904">
                <a:moveTo>
                  <a:pt x="515111" y="0"/>
                </a:moveTo>
                <a:lnTo>
                  <a:pt x="0" y="1523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634106" y="5865876"/>
            <a:ext cx="605155" cy="299085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560"/>
              </a:spcBef>
            </a:pPr>
            <a:r>
              <a:rPr sz="1000" b="1" spc="-5" dirty="0">
                <a:latin typeface="Tahoma"/>
                <a:cs typeface="Tahoma"/>
              </a:rPr>
              <a:t>Klijent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61994" y="6019800"/>
            <a:ext cx="576580" cy="1905"/>
          </a:xfrm>
          <a:custGeom>
            <a:avLst/>
            <a:gdLst/>
            <a:ahLst/>
            <a:cxnLst/>
            <a:rect l="l" t="t" r="r" b="b"/>
            <a:pathLst>
              <a:path w="576579" h="1904">
                <a:moveTo>
                  <a:pt x="0" y="0"/>
                </a:moveTo>
                <a:lnTo>
                  <a:pt x="576071" y="1523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562477" y="4200144"/>
            <a:ext cx="399415" cy="299085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305"/>
              </a:spcBef>
            </a:pPr>
            <a:r>
              <a:rPr sz="1000" b="1" spc="-5" dirty="0">
                <a:latin typeface="Tahoma"/>
                <a:cs typeface="Tahoma"/>
              </a:rPr>
              <a:t>K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661603" y="4277677"/>
            <a:ext cx="204596" cy="204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726823" y="4504433"/>
            <a:ext cx="86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Tahoma"/>
                <a:cs typeface="Tahoma"/>
              </a:rPr>
              <a:t>I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861438" y="4375403"/>
            <a:ext cx="701040" cy="1905"/>
          </a:xfrm>
          <a:custGeom>
            <a:avLst/>
            <a:gdLst/>
            <a:ahLst/>
            <a:cxnLst/>
            <a:rect l="l" t="t" r="r" b="b"/>
            <a:pathLst>
              <a:path w="701039" h="1904">
                <a:moveTo>
                  <a:pt x="701039" y="0"/>
                </a:moveTo>
                <a:lnTo>
                  <a:pt x="0" y="1523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8246" y="748796"/>
            <a:ext cx="7423654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Primer osnovnih</a:t>
            </a:r>
            <a:r>
              <a:rPr spc="-40" dirty="0"/>
              <a:t> </a:t>
            </a:r>
            <a:r>
              <a:rPr spc="-5" dirty="0"/>
              <a:t>relacija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2886" y="5509259"/>
            <a:ext cx="1588135" cy="337185"/>
          </a:xfrm>
          <a:prstGeom prst="rect">
            <a:avLst/>
          </a:prstGeom>
          <a:solidFill>
            <a:srgbClr val="FFFFB9"/>
          </a:solidFill>
          <a:ln w="9524">
            <a:solidFill>
              <a:srgbClr val="8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00"/>
              </a:spcBef>
            </a:pPr>
            <a:r>
              <a:rPr sz="1400" b="1" spc="-5" dirty="0">
                <a:latin typeface="Arial"/>
                <a:cs typeface="Arial"/>
              </a:rPr>
              <a:t>Konzolni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prozor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09303" y="5504497"/>
          <a:ext cx="2534284" cy="3368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/>
                <a:gridCol w="537844"/>
                <a:gridCol w="1272540"/>
              </a:tblGrid>
              <a:tr h="163829">
                <a:tc rowSpan="2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Dijalog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B w="1270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Komponenta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  <a:tr h="1729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369186" y="4888991"/>
            <a:ext cx="292735" cy="620395"/>
          </a:xfrm>
          <a:custGeom>
            <a:avLst/>
            <a:gdLst/>
            <a:ahLst/>
            <a:cxnLst/>
            <a:rect l="l" t="t" r="r" b="b"/>
            <a:pathLst>
              <a:path w="292735" h="620395">
                <a:moveTo>
                  <a:pt x="0" y="620267"/>
                </a:moveTo>
                <a:lnTo>
                  <a:pt x="292607" y="0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2818" y="4888992"/>
            <a:ext cx="189230" cy="247015"/>
          </a:xfrm>
          <a:custGeom>
            <a:avLst/>
            <a:gdLst/>
            <a:ahLst/>
            <a:cxnLst/>
            <a:rect l="l" t="t" r="r" b="b"/>
            <a:pathLst>
              <a:path w="189229" h="247014">
                <a:moveTo>
                  <a:pt x="188976" y="0"/>
                </a:moveTo>
                <a:lnTo>
                  <a:pt x="0" y="164592"/>
                </a:lnTo>
                <a:lnTo>
                  <a:pt x="176784" y="246888"/>
                </a:lnTo>
                <a:lnTo>
                  <a:pt x="1889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72818" y="4888991"/>
            <a:ext cx="189230" cy="247015"/>
          </a:xfrm>
          <a:custGeom>
            <a:avLst/>
            <a:gdLst/>
            <a:ahLst/>
            <a:cxnLst/>
            <a:rect l="l" t="t" r="r" b="b"/>
            <a:pathLst>
              <a:path w="189229" h="247014">
                <a:moveTo>
                  <a:pt x="176783" y="246887"/>
                </a:moveTo>
                <a:lnTo>
                  <a:pt x="188975" y="0"/>
                </a:lnTo>
                <a:lnTo>
                  <a:pt x="0" y="164591"/>
                </a:lnTo>
                <a:lnTo>
                  <a:pt x="176783" y="246887"/>
                </a:lnTo>
                <a:close/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84169" y="4888991"/>
            <a:ext cx="234950" cy="620395"/>
          </a:xfrm>
          <a:custGeom>
            <a:avLst/>
            <a:gdLst/>
            <a:ahLst/>
            <a:cxnLst/>
            <a:rect l="l" t="t" r="r" b="b"/>
            <a:pathLst>
              <a:path w="234950" h="620395">
                <a:moveTo>
                  <a:pt x="234695" y="620267"/>
                </a:moveTo>
                <a:lnTo>
                  <a:pt x="0" y="0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84169" y="4888991"/>
            <a:ext cx="175260" cy="247015"/>
          </a:xfrm>
          <a:custGeom>
            <a:avLst/>
            <a:gdLst/>
            <a:ahLst/>
            <a:cxnLst/>
            <a:rect l="l" t="t" r="r" b="b"/>
            <a:pathLst>
              <a:path w="175260" h="247014">
                <a:moveTo>
                  <a:pt x="175259" y="188975"/>
                </a:moveTo>
                <a:lnTo>
                  <a:pt x="0" y="0"/>
                </a:lnTo>
                <a:lnTo>
                  <a:pt x="0" y="246887"/>
                </a:lnTo>
                <a:lnTo>
                  <a:pt x="175259" y="188975"/>
                </a:lnTo>
                <a:close/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234883" y="3215449"/>
          <a:ext cx="3422649" cy="1686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5125"/>
                <a:gridCol w="888364"/>
                <a:gridCol w="899160"/>
              </a:tblGrid>
              <a:tr h="326897"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Prozor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5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lnB w="12700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0217">
                <a:tc rowSpan="2">
                  <a:txBody>
                    <a:bodyPr/>
                    <a:lstStyle/>
                    <a:p>
                      <a:pPr marL="59055">
                        <a:lnSpc>
                          <a:spcPts val="1670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+otvori()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9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  <a:solidFill>
                      <a:srgbClr val="FFFFB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B w="12700">
                      <a:solidFill>
                        <a:srgbClr val="8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Dogadjaj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  <a:tr h="131921">
                <a:tc rowSpan="2">
                  <a:txBody>
                    <a:bodyPr/>
                    <a:lstStyle/>
                    <a:p>
                      <a:pPr marL="59055">
                        <a:lnSpc>
                          <a:spcPts val="1625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+zatvori()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B w="12700">
                      <a:solidFill>
                        <a:srgbClr val="8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  <a:tr h="882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  <a:tr h="72485">
                <a:tc rowSpan="2">
                  <a:txBody>
                    <a:bodyPr/>
                    <a:lstStyle/>
                    <a:p>
                      <a:pPr marL="59055">
                        <a:lnSpc>
                          <a:spcPts val="1645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+pomeri()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12700">
                      <a:solidFill>
                        <a:srgbClr val="8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  <a:tr h="1515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9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2503">
                <a:tc>
                  <a:txBody>
                    <a:bodyPr/>
                    <a:lstStyle/>
                    <a:p>
                      <a:pPr marL="59055">
                        <a:lnSpc>
                          <a:spcPts val="165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+prikazi()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solidFill>
                      <a:srgbClr val="FFFFB9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133">
                <a:tc>
                  <a:txBody>
                    <a:bodyPr/>
                    <a:lstStyle/>
                    <a:p>
                      <a:pPr marL="59055">
                        <a:lnSpc>
                          <a:spcPts val="1630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+obradiDogadjaj()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6646041" y="4003547"/>
            <a:ext cx="117475" cy="93345"/>
          </a:xfrm>
          <a:custGeom>
            <a:avLst/>
            <a:gdLst/>
            <a:ahLst/>
            <a:cxnLst/>
            <a:rect l="l" t="t" r="r" b="b"/>
            <a:pathLst>
              <a:path w="117475" h="93345">
                <a:moveTo>
                  <a:pt x="0" y="92963"/>
                </a:moveTo>
                <a:lnTo>
                  <a:pt x="117347" y="47243"/>
                </a:lnTo>
                <a:lnTo>
                  <a:pt x="0" y="0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1016" y="1021222"/>
            <a:ext cx="4102156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Agregacija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1016" y="2735070"/>
            <a:ext cx="7408545" cy="3362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75"/>
              </a:lnSpc>
              <a:spcBef>
                <a:spcPts val="10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Vrsta asocijacije kod </a:t>
            </a:r>
            <a:r>
              <a:rPr sz="2400" dirty="0">
                <a:latin typeface="Arial"/>
                <a:cs typeface="Arial"/>
              </a:rPr>
              <a:t>koje jedna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strana</a:t>
            </a:r>
            <a:endParaRPr sz="2400" dirty="0">
              <a:latin typeface="Arial"/>
              <a:cs typeface="Arial"/>
            </a:endParaRPr>
          </a:p>
          <a:p>
            <a:pPr marL="354965">
              <a:lnSpc>
                <a:spcPts val="2875"/>
              </a:lnSpc>
            </a:pPr>
            <a:r>
              <a:rPr sz="2400" spc="-5" dirty="0">
                <a:latin typeface="Arial"/>
                <a:cs typeface="Arial"/>
              </a:rPr>
              <a:t>igra ulogu celine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druga ulogu dela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whole/part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Celina sadrži delove ("</a:t>
            </a:r>
            <a:r>
              <a:rPr sz="2400" i="1" spc="-5" dirty="0">
                <a:latin typeface="Arial"/>
                <a:cs typeface="Arial"/>
              </a:rPr>
              <a:t>has-a</a:t>
            </a:r>
            <a:r>
              <a:rPr sz="2400" spc="-5" dirty="0">
                <a:latin typeface="Arial"/>
                <a:cs typeface="Arial"/>
              </a:rPr>
              <a:t>"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relacija)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Agregacija najčešće označava grupisanje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delova</a:t>
            </a:r>
            <a:endParaRPr sz="2400" dirty="0">
              <a:latin typeface="Arial"/>
              <a:cs typeface="Arial"/>
            </a:endParaRPr>
          </a:p>
          <a:p>
            <a:pPr marL="354965" marR="531495" indent="-342900">
              <a:lnSpc>
                <a:spcPts val="2870"/>
              </a:lnSpc>
              <a:spcBef>
                <a:spcPts val="68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Agregacija ne govori ništa </a:t>
            </a:r>
            <a:r>
              <a:rPr sz="2400" dirty="0">
                <a:latin typeface="Arial"/>
                <a:cs typeface="Arial"/>
              </a:rPr>
              <a:t>o </a:t>
            </a:r>
            <a:r>
              <a:rPr sz="2400" spc="-5" dirty="0">
                <a:latin typeface="Arial"/>
                <a:cs typeface="Arial"/>
              </a:rPr>
              <a:t>uzajamnom odnosu  životnih vekova celine </a:t>
            </a:r>
            <a:r>
              <a:rPr sz="2400" dirty="0">
                <a:latin typeface="Arial"/>
                <a:cs typeface="Arial"/>
              </a:rPr>
              <a:t>i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dela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Deo </a:t>
            </a:r>
            <a:r>
              <a:rPr sz="2400" dirty="0">
                <a:latin typeface="Arial"/>
                <a:cs typeface="Arial"/>
              </a:rPr>
              <a:t>u </a:t>
            </a:r>
            <a:r>
              <a:rPr sz="2400" spc="-5" dirty="0">
                <a:latin typeface="Arial"/>
                <a:cs typeface="Arial"/>
              </a:rPr>
              <a:t>agregaciji može biti zajednički deo više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celina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Grafička notacija: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70594" y="5706808"/>
          <a:ext cx="1758315" cy="2971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/>
                <a:gridCol w="781685"/>
                <a:gridCol w="400685"/>
              </a:tblGrid>
              <a:tr h="143255">
                <a:tc rowSpan="2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50" b="1" spc="-25" dirty="0">
                          <a:latin typeface="Arial"/>
                          <a:cs typeface="Arial"/>
                        </a:rPr>
                        <a:t>Celina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B w="12700">
                      <a:solidFill>
                        <a:srgbClr val="7F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50" b="1" spc="-5" dirty="0">
                          <a:latin typeface="Arial"/>
                          <a:cs typeface="Arial"/>
                        </a:rPr>
                        <a:t>Deo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  <a:tr h="1539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555810" y="5808916"/>
            <a:ext cx="237362" cy="925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6444" y="1576831"/>
            <a:ext cx="5031856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Kompozicija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1016" y="2735070"/>
            <a:ext cx="7205345" cy="328551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54965" marR="734060" indent="-342900">
              <a:lnSpc>
                <a:spcPts val="2870"/>
              </a:lnSpc>
              <a:spcBef>
                <a:spcPts val="20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Asocijacija kod koje postoji </a:t>
            </a:r>
            <a:r>
              <a:rPr sz="2400" dirty="0">
                <a:latin typeface="Arial"/>
                <a:cs typeface="Arial"/>
              </a:rPr>
              <a:t>odnos </a:t>
            </a:r>
            <a:r>
              <a:rPr sz="2400" spc="-5" dirty="0">
                <a:latin typeface="Arial"/>
                <a:cs typeface="Arial"/>
              </a:rPr>
              <a:t>celina/deo,  </a:t>
            </a:r>
            <a:r>
              <a:rPr sz="2400" dirty="0">
                <a:latin typeface="Arial"/>
                <a:cs typeface="Arial"/>
              </a:rPr>
              <a:t>ali je </a:t>
            </a:r>
            <a:r>
              <a:rPr sz="2400" spc="-5" dirty="0">
                <a:latin typeface="Arial"/>
                <a:cs typeface="Arial"/>
              </a:rPr>
              <a:t>celina odgovorna za životni vek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dela</a:t>
            </a:r>
            <a:endParaRPr sz="2400" dirty="0">
              <a:latin typeface="Arial"/>
              <a:cs typeface="Arial"/>
            </a:endParaRPr>
          </a:p>
          <a:p>
            <a:pPr marL="354965" marR="127635" indent="-342900">
              <a:lnSpc>
                <a:spcPts val="2870"/>
              </a:lnSpc>
              <a:spcBef>
                <a:spcPts val="58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Agregacija sa strogim vlasništvom </a:t>
            </a:r>
            <a:r>
              <a:rPr sz="2400" dirty="0">
                <a:latin typeface="Arial"/>
                <a:cs typeface="Arial"/>
              </a:rPr>
              <a:t>i </a:t>
            </a:r>
            <a:r>
              <a:rPr sz="2400" spc="-5" dirty="0">
                <a:latin typeface="Arial"/>
                <a:cs typeface="Arial"/>
              </a:rPr>
              <a:t>koincidentnim  životnim vekom dela </a:t>
            </a:r>
            <a:r>
              <a:rPr sz="2400" dirty="0">
                <a:latin typeface="Arial"/>
                <a:cs typeface="Arial"/>
              </a:rPr>
              <a:t>u </a:t>
            </a:r>
            <a:r>
              <a:rPr sz="2400" spc="-5" dirty="0">
                <a:latin typeface="Arial"/>
                <a:cs typeface="Arial"/>
              </a:rPr>
              <a:t>odnosu </a:t>
            </a:r>
            <a:r>
              <a:rPr sz="2400" dirty="0">
                <a:latin typeface="Arial"/>
                <a:cs typeface="Arial"/>
              </a:rPr>
              <a:t>na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celinu</a:t>
            </a:r>
            <a:endParaRPr sz="2400" dirty="0">
              <a:latin typeface="Arial"/>
              <a:cs typeface="Arial"/>
            </a:endParaRPr>
          </a:p>
          <a:p>
            <a:pPr marL="354965" marR="1685925" indent="-342900">
              <a:lnSpc>
                <a:spcPct val="100000"/>
              </a:lnSpc>
              <a:spcBef>
                <a:spcPts val="48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Deo može nastati </a:t>
            </a:r>
            <a:r>
              <a:rPr sz="2400" dirty="0">
                <a:latin typeface="Arial"/>
                <a:cs typeface="Arial"/>
              </a:rPr>
              <a:t>u </a:t>
            </a:r>
            <a:r>
              <a:rPr sz="2400" spc="-10" dirty="0">
                <a:latin typeface="Arial"/>
                <a:cs typeface="Arial"/>
              </a:rPr>
              <a:t>toku </a:t>
            </a:r>
            <a:r>
              <a:rPr sz="2400" spc="-5" dirty="0">
                <a:latin typeface="Arial"/>
                <a:cs typeface="Arial"/>
              </a:rPr>
              <a:t>života celina  </a:t>
            </a:r>
            <a:r>
              <a:rPr sz="2400" dirty="0">
                <a:latin typeface="Arial"/>
                <a:cs typeface="Arial"/>
              </a:rPr>
              <a:t>i </a:t>
            </a:r>
            <a:r>
              <a:rPr sz="2400" spc="-5" dirty="0">
                <a:latin typeface="Arial"/>
                <a:cs typeface="Arial"/>
              </a:rPr>
              <a:t>može biti uništen pre uništenja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celine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Deo </a:t>
            </a:r>
            <a:r>
              <a:rPr sz="2400" dirty="0">
                <a:latin typeface="Arial"/>
                <a:cs typeface="Arial"/>
              </a:rPr>
              <a:t>u </a:t>
            </a:r>
            <a:r>
              <a:rPr sz="2400" spc="-5" dirty="0">
                <a:latin typeface="Arial"/>
                <a:cs typeface="Arial"/>
              </a:rPr>
              <a:t>kompoziciji može biti deo samo </a:t>
            </a:r>
            <a:r>
              <a:rPr sz="2400" dirty="0">
                <a:latin typeface="Arial"/>
                <a:cs typeface="Arial"/>
              </a:rPr>
              <a:t>jedne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celine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Grafički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notacija: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10930" y="5706808"/>
          <a:ext cx="1758315" cy="2971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/>
                <a:gridCol w="781685"/>
                <a:gridCol w="400685"/>
              </a:tblGrid>
              <a:tr h="143255">
                <a:tc rowSpan="2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50" b="1" spc="-25" dirty="0">
                          <a:latin typeface="Arial"/>
                          <a:cs typeface="Arial"/>
                        </a:rPr>
                        <a:t>Celina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B w="12700">
                      <a:solidFill>
                        <a:srgbClr val="7F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50" b="1" spc="-5" dirty="0">
                          <a:latin typeface="Arial"/>
                          <a:cs typeface="Arial"/>
                        </a:rPr>
                        <a:t>Deo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  <a:tr h="1539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2384" marB="0">
                    <a:lnL w="12700">
                      <a:solidFill>
                        <a:srgbClr val="7F0000"/>
                      </a:solidFill>
                      <a:prstDash val="solid"/>
                    </a:lnL>
                    <a:lnR w="12700">
                      <a:solidFill>
                        <a:srgbClr val="7F0000"/>
                      </a:solidFill>
                      <a:prstDash val="solid"/>
                    </a:lnR>
                    <a:lnT w="12700">
                      <a:solidFill>
                        <a:srgbClr val="7F0000"/>
                      </a:solidFill>
                      <a:prstDash val="solid"/>
                    </a:lnT>
                    <a:lnB w="12700">
                      <a:solidFill>
                        <a:srgbClr val="7F0000"/>
                      </a:solidFill>
                      <a:prstDash val="solid"/>
                    </a:lnB>
                    <a:solidFill>
                      <a:srgbClr val="FFFFB9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196146" y="5808916"/>
            <a:ext cx="237362" cy="925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6444" y="1576831"/>
            <a:ext cx="4803256" cy="72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Ugnežđivanje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1022" y="2735071"/>
            <a:ext cx="6233160" cy="8801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4965" marR="5080" indent="-342900">
              <a:lnSpc>
                <a:spcPct val="100400"/>
              </a:lnSpc>
              <a:spcBef>
                <a:spcPts val="80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Označava pojam </a:t>
            </a:r>
            <a:r>
              <a:rPr sz="2800" dirty="0">
                <a:latin typeface="Arial"/>
                <a:cs typeface="Arial"/>
              </a:rPr>
              <a:t>kada </a:t>
            </a:r>
            <a:r>
              <a:rPr sz="2800" spc="-5" dirty="0">
                <a:latin typeface="Arial"/>
                <a:cs typeface="Arial"/>
              </a:rPr>
              <a:t>je </a:t>
            </a:r>
            <a:r>
              <a:rPr sz="2800" dirty="0">
                <a:latin typeface="Arial"/>
                <a:cs typeface="Arial"/>
              </a:rPr>
              <a:t>klasa </a:t>
            </a:r>
            <a:r>
              <a:rPr sz="2800" spc="-5" dirty="0">
                <a:latin typeface="Arial"/>
                <a:cs typeface="Arial"/>
              </a:rPr>
              <a:t>B  deklarisana u prostoru </a:t>
            </a:r>
            <a:r>
              <a:rPr sz="2800" dirty="0">
                <a:latin typeface="Arial"/>
                <a:cs typeface="Arial"/>
              </a:rPr>
              <a:t>imena klase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1016" y="4188966"/>
            <a:ext cx="60147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SzPct val="75000"/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Relacija ne </a:t>
            </a:r>
            <a:r>
              <a:rPr sz="2800" dirty="0">
                <a:latin typeface="Arial"/>
                <a:cs typeface="Arial"/>
              </a:rPr>
              <a:t>implicira </a:t>
            </a:r>
            <a:r>
              <a:rPr sz="2800" spc="-5" dirty="0">
                <a:latin typeface="Arial"/>
                <a:cs typeface="Arial"/>
              </a:rPr>
              <a:t>relaciju između  objekata </a:t>
            </a:r>
            <a:r>
              <a:rPr sz="2800" dirty="0">
                <a:latin typeface="Arial"/>
                <a:cs typeface="Arial"/>
              </a:rPr>
              <a:t>odgovarajućih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klasa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39289" y="3983735"/>
            <a:ext cx="875030" cy="1905"/>
          </a:xfrm>
          <a:custGeom>
            <a:avLst/>
            <a:gdLst/>
            <a:ahLst/>
            <a:cxnLst/>
            <a:rect l="l" t="t" r="r" b="b"/>
            <a:pathLst>
              <a:path w="875029" h="1904">
                <a:moveTo>
                  <a:pt x="0" y="0"/>
                </a:moveTo>
                <a:lnTo>
                  <a:pt x="874775" y="1523"/>
                </a:lnTo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8478" y="3838955"/>
            <a:ext cx="401320" cy="299085"/>
          </a:xfrm>
          <a:custGeom>
            <a:avLst/>
            <a:gdLst/>
            <a:ahLst/>
            <a:cxnLst/>
            <a:rect l="l" t="t" r="r" b="b"/>
            <a:pathLst>
              <a:path w="401320" h="299085">
                <a:moveTo>
                  <a:pt x="0" y="0"/>
                </a:moveTo>
                <a:lnTo>
                  <a:pt x="0" y="298704"/>
                </a:lnTo>
                <a:lnTo>
                  <a:pt x="400812" y="298704"/>
                </a:lnTo>
                <a:lnTo>
                  <a:pt x="4008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40001" y="3840479"/>
            <a:ext cx="399415" cy="297180"/>
          </a:xfrm>
          <a:custGeom>
            <a:avLst/>
            <a:gdLst/>
            <a:ahLst/>
            <a:cxnLst/>
            <a:rect l="l" t="t" r="r" b="b"/>
            <a:pathLst>
              <a:path w="399414" h="297179">
                <a:moveTo>
                  <a:pt x="0" y="0"/>
                </a:moveTo>
                <a:lnTo>
                  <a:pt x="0" y="297179"/>
                </a:lnTo>
                <a:lnTo>
                  <a:pt x="399287" y="297179"/>
                </a:lnTo>
                <a:lnTo>
                  <a:pt x="39928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14066" y="3838955"/>
            <a:ext cx="399415" cy="299085"/>
          </a:xfrm>
          <a:custGeom>
            <a:avLst/>
            <a:gdLst/>
            <a:ahLst/>
            <a:cxnLst/>
            <a:rect l="l" t="t" r="r" b="b"/>
            <a:pathLst>
              <a:path w="399414" h="299085">
                <a:moveTo>
                  <a:pt x="0" y="0"/>
                </a:moveTo>
                <a:lnTo>
                  <a:pt x="0" y="298704"/>
                </a:lnTo>
                <a:lnTo>
                  <a:pt x="399288" y="298704"/>
                </a:lnTo>
                <a:lnTo>
                  <a:pt x="3992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4065" y="3840479"/>
            <a:ext cx="401320" cy="297180"/>
          </a:xfrm>
          <a:custGeom>
            <a:avLst/>
            <a:gdLst/>
            <a:ahLst/>
            <a:cxnLst/>
            <a:rect l="l" t="t" r="r" b="b"/>
            <a:pathLst>
              <a:path w="401320" h="297179">
                <a:moveTo>
                  <a:pt x="0" y="0"/>
                </a:moveTo>
                <a:lnTo>
                  <a:pt x="0" y="297179"/>
                </a:lnTo>
                <a:lnTo>
                  <a:pt x="400811" y="297179"/>
                </a:lnTo>
                <a:lnTo>
                  <a:pt x="400811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69040" y="3861306"/>
            <a:ext cx="1430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7780" algn="l"/>
              </a:tabLst>
            </a:pPr>
            <a:r>
              <a:rPr sz="1400" b="1" dirty="0">
                <a:latin typeface="Arial"/>
                <a:cs typeface="Arial"/>
              </a:rPr>
              <a:t>A	B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45195" y="3896677"/>
            <a:ext cx="152780" cy="174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67743" y="3885690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577850"/>
            <a:ext cx="9372600" cy="6629400"/>
          </a:xfrm>
        </p:spPr>
        <p:txBody>
          <a:bodyPr>
            <a:normAutofit/>
          </a:bodyPr>
          <a:lstStyle/>
          <a:p>
            <a:pPr algn="just"/>
            <a:r>
              <a:rPr lang="sr-Latn-RS" sz="2400" dirty="0"/>
              <a:t>1. </a:t>
            </a:r>
            <a:r>
              <a:rPr lang="en-US" sz="2400" dirty="0"/>
              <a:t>Na</a:t>
            </a:r>
            <a:r>
              <a:rPr lang="sr-Latn-RS" sz="2400" dirty="0"/>
              <a:t>crtati dijagram klase na jeziku UML sledećeg sistema: škola ima ID, naziv, lokaciju, broj zaposlenih i broj studenata. Katedra ima ID i broj učionice. Škola sadrži jednu ili više katedri. Predmet ima svoj ID, naziv, font čaova i status. Svaka katedra nudi jedan ili više predmeta. Određeni predmet može biti ponuđen samo od strane jedne katedre. Svaka katedra ima predavača. Predavač ima ID, ime, prezime, godište, zvanje i mejl. Svaki predavač može raditi na jednoj ili na više katedri. Na više katedri može raditi više predavača. Student ima ID, ime, prezime, datum rođenja, odsek, smer, prosek i status. Student može prijaviti do 5 predmeta u školi, a više predmeta mogu prijaviti više različitih studenata. Predavač može predavati ne više od 3 predmeta. Svaki predmet može biti predavan od strane više predavača. Student može pohađati više od jedne škole, takođe više studenata može pohađati više škola.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1778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754</Words>
  <Application>Microsoft Office PowerPoint</Application>
  <PresentationFormat>Custom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Century Gothic</vt:lpstr>
      <vt:lpstr>Courier New</vt:lpstr>
      <vt:lpstr>Tahoma</vt:lpstr>
      <vt:lpstr>Times New Roman</vt:lpstr>
      <vt:lpstr>Wingdings</vt:lpstr>
      <vt:lpstr>Wingdings 3</vt:lpstr>
      <vt:lpstr>Ion</vt:lpstr>
      <vt:lpstr>DIJAGRAM KLASA</vt:lpstr>
      <vt:lpstr>PowerPoint Presentation</vt:lpstr>
      <vt:lpstr>PowerPoint Presentation</vt:lpstr>
      <vt:lpstr>Tipovi podataka</vt:lpstr>
      <vt:lpstr>Relacije</vt:lpstr>
      <vt:lpstr>Zavisnost</vt:lpstr>
      <vt:lpstr>Generalizacija</vt:lpstr>
      <vt:lpstr>Asocijacija</vt:lpstr>
      <vt:lpstr>Realizacija</vt:lpstr>
      <vt:lpstr>Primer osnovnih relacija</vt:lpstr>
      <vt:lpstr>Agregacija</vt:lpstr>
      <vt:lpstr>Kompozicija</vt:lpstr>
      <vt:lpstr>Ugnežđivanje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DIJAGRAM KLASA</dc:title>
  <dc:creator>Asistent</dc:creator>
  <cp:lastModifiedBy>Asistent</cp:lastModifiedBy>
  <cp:revision>3</cp:revision>
  <dcterms:created xsi:type="dcterms:W3CDTF">2019-04-17T07:52:44Z</dcterms:created>
  <dcterms:modified xsi:type="dcterms:W3CDTF">2019-04-17T08:12:08Z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2019-04-17T00:00:00Z</vt:filetime>
  </property>
</Properties>
</file>