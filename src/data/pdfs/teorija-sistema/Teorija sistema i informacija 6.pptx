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6" r:id="rId20"/>
    <p:sldId id="274" r:id="rId21"/>
    <p:sldId id="275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4" r:id="rId37"/>
    <p:sldId id="291" r:id="rId38"/>
    <p:sldId id="292" r:id="rId39"/>
    <p:sldId id="293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1782" y="9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FA1F3-F2A7-472E-8BC3-E69BC5C25C67}" type="datetimeFigureOut">
              <a:rPr lang="en-US" smtClean="0"/>
              <a:t>3/26/2017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52295C-0592-498F-A905-A4FB9B9C8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560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16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76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67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3/26/2017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470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3/26/2017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789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3/26/2017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73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3/26/2017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410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3/26/2017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4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3/26/2017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865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950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50119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8145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605266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9924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410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959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2E9AF7-2AA2-4D03-BF31-1087BAAE53AE}" type="datetimeFigureOut">
              <a:rPr lang="en-US" smtClean="0"/>
              <a:t>3/26/2017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520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Teorija</a:t>
            </a:r>
            <a:r>
              <a:rPr lang="en-US" dirty="0" smtClean="0"/>
              <a:t> </a:t>
            </a:r>
            <a:r>
              <a:rPr lang="en-US" dirty="0" err="1" smtClean="0"/>
              <a:t>sistema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informacija</a:t>
            </a:r>
            <a:r>
              <a:rPr lang="en-US" dirty="0" smtClean="0"/>
              <a:t> </a:t>
            </a:r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doc. </a:t>
            </a:r>
            <a:r>
              <a:rPr lang="en-US" dirty="0" err="1" smtClean="0"/>
              <a:t>dr</a:t>
            </a:r>
            <a:r>
              <a:rPr lang="en-US" dirty="0" smtClean="0"/>
              <a:t> Radovan </a:t>
            </a:r>
            <a:r>
              <a:rPr lang="en-US" dirty="0" err="1" smtClean="0"/>
              <a:t>Vladisavljev</a:t>
            </a:r>
            <a:r>
              <a:rPr lang="sr-Latn-RS" dirty="0" err="1" smtClean="0"/>
              <a:t>ić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587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Sprege</a:t>
            </a:r>
            <a:r>
              <a:rPr lang="en-US" dirty="0" smtClean="0"/>
              <a:t> u </a:t>
            </a:r>
            <a:r>
              <a:rPr lang="en-US" dirty="0" err="1" smtClean="0"/>
              <a:t>sistemu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Ovaj</a:t>
            </a:r>
            <a:r>
              <a:rPr lang="en-US" dirty="0" smtClean="0"/>
              <a:t> </a:t>
            </a:r>
            <a:r>
              <a:rPr lang="en-US" dirty="0" err="1" smtClean="0"/>
              <a:t>segmenat</a:t>
            </a:r>
            <a:r>
              <a:rPr lang="en-US" dirty="0" smtClean="0"/>
              <a:t> </a:t>
            </a:r>
            <a:r>
              <a:rPr lang="en-US" dirty="0" err="1" smtClean="0"/>
              <a:t>nam</a:t>
            </a:r>
            <a:r>
              <a:rPr lang="en-US" dirty="0" smtClean="0"/>
              <a:t> </a:t>
            </a:r>
            <a:r>
              <a:rPr lang="en-US" dirty="0" err="1" smtClean="0"/>
              <a:t>poma</a:t>
            </a:r>
            <a:r>
              <a:rPr lang="sr-Latn-RS" dirty="0" err="1" smtClean="0"/>
              <a:t>že</a:t>
            </a:r>
            <a:r>
              <a:rPr lang="sr-Latn-RS" dirty="0" smtClean="0"/>
              <a:t> da otkrijemo unutrašnje karakteristike sistema.</a:t>
            </a:r>
          </a:p>
          <a:p>
            <a:r>
              <a:rPr lang="sr-Latn-RS" dirty="0" smtClean="0"/>
              <a:t>Naša pažnja se sada usmerava na ono od čega se sastoji objekat istraživanja.</a:t>
            </a:r>
          </a:p>
          <a:p>
            <a:r>
              <a:rPr lang="sr-Latn-RS" dirty="0" smtClean="0"/>
              <a:t>Osnovno pitanje je kako od elemenata nastaje celina sa već upoznatim globalnim obeležjima.</a:t>
            </a:r>
          </a:p>
          <a:p>
            <a:r>
              <a:rPr lang="sr-Latn-RS" dirty="0" smtClean="0"/>
              <a:t>Fokus ove faze je na elemente sistema i veze među tim elementima.</a:t>
            </a:r>
          </a:p>
          <a:p>
            <a:r>
              <a:rPr lang="sr-Latn-RS" dirty="0" smtClean="0"/>
              <a:t>Elementi sistema kao i celina, imaju određene identifikacione, kvalitativne i kvantitativna obeležja.</a:t>
            </a:r>
          </a:p>
          <a:p>
            <a:r>
              <a:rPr lang="sr-Latn-RS" dirty="0" smtClean="0"/>
              <a:t>Elementi sistema ispoljavaju određena ponašanja, kao i celina i elementi poseduju ulaze i izlaze.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663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Kategorija veza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Veza između celine i elemenata.</a:t>
            </a:r>
          </a:p>
          <a:p>
            <a:r>
              <a:rPr lang="sr-Latn-RS" dirty="0" smtClean="0"/>
              <a:t>Veza između elemenata.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411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7631" y="0"/>
            <a:ext cx="630436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18517" y="733363"/>
            <a:ext cx="34815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r-Latn-RS" dirty="0"/>
              <a:t>Veza između celine i elemenata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622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Odnos nivoa agregacije (v) i (v+1)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933" y="1930400"/>
            <a:ext cx="10721099" cy="49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581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81000"/>
            <a:ext cx="12220497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435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" y="419100"/>
            <a:ext cx="1214392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970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Klasifikacija sistema sa 7 elemenata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Svaki kriterijum agregacije prouzrokuje jedan način dekomponovanija (odnosno komponovanja) sistema, odnosno jednu klasifikacionu strukturu. </a:t>
            </a:r>
          </a:p>
          <a:p>
            <a:r>
              <a:rPr lang="sr-Latn-RS" dirty="0" smtClean="0"/>
              <a:t>Iz ovoga može videti da je sistem skup svih relevantnih </a:t>
            </a:r>
            <a:r>
              <a:rPr lang="sr-Latn-RS" dirty="0" err="1" smtClean="0"/>
              <a:t>dekompozicionih</a:t>
            </a:r>
            <a:r>
              <a:rPr lang="sr-Latn-RS" dirty="0" smtClean="0"/>
              <a:t> sistema. </a:t>
            </a:r>
          </a:p>
          <a:p>
            <a:endParaRPr lang="sr-Latn-RS" dirty="0"/>
          </a:p>
          <a:p>
            <a:pPr marL="0" indent="0" algn="ctr">
              <a:buNone/>
            </a:pPr>
            <a:r>
              <a:rPr lang="sr-Latn-RS" sz="4000" dirty="0" smtClean="0"/>
              <a:t>S = </a:t>
            </a:r>
            <a:r>
              <a:rPr lang="en-US" sz="4000" dirty="0" smtClean="0"/>
              <a:t>{S</a:t>
            </a:r>
            <a:r>
              <a:rPr lang="en-US" sz="4000" baseline="-25000" dirty="0" smtClean="0"/>
              <a:t>1</a:t>
            </a:r>
            <a:r>
              <a:rPr lang="en-US" sz="4000" dirty="0" smtClean="0"/>
              <a:t>, S</a:t>
            </a:r>
            <a:r>
              <a:rPr lang="en-US" sz="4000" baseline="-25000" dirty="0" smtClean="0"/>
              <a:t>2</a:t>
            </a:r>
            <a:r>
              <a:rPr lang="en-US" sz="4000" dirty="0" smtClean="0"/>
              <a:t>, … , </a:t>
            </a:r>
            <a:r>
              <a:rPr lang="en-US" sz="4000" dirty="0" err="1" smtClean="0"/>
              <a:t>S</a:t>
            </a:r>
            <a:r>
              <a:rPr lang="en-US" sz="4000" baseline="-25000" dirty="0" err="1" smtClean="0"/>
              <a:t>k</a:t>
            </a:r>
            <a:r>
              <a:rPr lang="en-US" sz="4000" dirty="0" smtClean="0"/>
              <a:t>, …, </a:t>
            </a:r>
            <a:r>
              <a:rPr lang="en-US" sz="4000" dirty="0" err="1" smtClean="0"/>
              <a:t>S</a:t>
            </a:r>
            <a:r>
              <a:rPr lang="en-US" sz="4000" baseline="-25000" dirty="0" err="1" smtClean="0"/>
              <a:t>nk</a:t>
            </a:r>
            <a:r>
              <a:rPr lang="en-US" sz="4000" dirty="0" smtClean="0"/>
              <a:t>}</a:t>
            </a:r>
            <a:endParaRPr lang="sr-Latn-RS" sz="4000" dirty="0"/>
          </a:p>
        </p:txBody>
      </p:sp>
    </p:spTree>
    <p:extLst>
      <p:ext uri="{BB962C8B-B14F-4D97-AF65-F5344CB8AC3E}">
        <p14:creationId xmlns:p14="http://schemas.microsoft.com/office/powerpoint/2010/main" val="3786147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Veza između elemenata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Kada se ispituju </a:t>
            </a:r>
            <a:r>
              <a:rPr lang="en-US" dirty="0" err="1" smtClean="0"/>
              <a:t>odnosi</a:t>
            </a:r>
            <a:r>
              <a:rPr lang="en-US" dirty="0" smtClean="0"/>
              <a:t> </a:t>
            </a:r>
            <a:r>
              <a:rPr lang="sr-Latn-RS" dirty="0" smtClean="0"/>
              <a:t>među elementima sistema svrsishodno je da to ispitivanje podelimo u dva faze.</a:t>
            </a:r>
          </a:p>
          <a:p>
            <a:r>
              <a:rPr lang="sr-Latn-RS" dirty="0" smtClean="0"/>
              <a:t>U prvoj fazi tražiće se odgovori na to da li postoji veza između dva posmatrana elementa. U ovoj fazi otkrivamo statičke odnose.</a:t>
            </a:r>
          </a:p>
          <a:p>
            <a:r>
              <a:rPr lang="sr-Latn-RS" dirty="0" smtClean="0"/>
              <a:t>U drugoj fazi se traže odgovori na niz pitanja u pogledu dejstva, ponašanja, intenziteta, promena, itd. U ovoj fazi otkrivamo dinamičke odnose među elementima.</a:t>
            </a: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140049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Pojmovi i ispitivanju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err="1" smtClean="0"/>
              <a:t>e</a:t>
            </a:r>
            <a:r>
              <a:rPr lang="sr-Latn-RS" baseline="-25000" dirty="0" err="1" smtClean="0"/>
              <a:t>i</a:t>
            </a:r>
            <a:r>
              <a:rPr lang="sr-Latn-RS" dirty="0" smtClean="0"/>
              <a:t> – bilo koji element ispitivanja</a:t>
            </a:r>
          </a:p>
          <a:p>
            <a:r>
              <a:rPr lang="sr-Latn-RS" dirty="0" smtClean="0"/>
              <a:t>E = </a:t>
            </a:r>
            <a:r>
              <a:rPr lang="en-US" dirty="0" smtClean="0"/>
              <a:t>{</a:t>
            </a:r>
            <a:r>
              <a:rPr lang="sr-Latn-RS" dirty="0" smtClean="0"/>
              <a:t>e</a:t>
            </a:r>
            <a:r>
              <a:rPr lang="sr-Latn-RS" baseline="-25000" dirty="0" smtClean="0"/>
              <a:t>1</a:t>
            </a:r>
            <a:r>
              <a:rPr lang="sr-Latn-RS" dirty="0" smtClean="0"/>
              <a:t>, e</a:t>
            </a:r>
            <a:r>
              <a:rPr lang="sr-Latn-RS" baseline="-25000" dirty="0" smtClean="0"/>
              <a:t>2</a:t>
            </a:r>
            <a:r>
              <a:rPr lang="sr-Latn-RS" dirty="0" smtClean="0"/>
              <a:t>, e</a:t>
            </a:r>
            <a:r>
              <a:rPr lang="sr-Latn-RS" baseline="-25000" dirty="0" smtClean="0"/>
              <a:t>3</a:t>
            </a:r>
            <a:r>
              <a:rPr lang="sr-Latn-RS" dirty="0" smtClean="0"/>
              <a:t>, … , </a:t>
            </a:r>
            <a:r>
              <a:rPr lang="sr-Latn-RS" dirty="0" err="1" smtClean="0"/>
              <a:t>e</a:t>
            </a:r>
            <a:r>
              <a:rPr lang="sr-Latn-RS" baseline="-25000" dirty="0" err="1" smtClean="0"/>
              <a:t>n</a:t>
            </a:r>
            <a:r>
              <a:rPr lang="en-US" dirty="0" smtClean="0"/>
              <a:t>}</a:t>
            </a:r>
            <a:r>
              <a:rPr lang="sr-Latn-RS" dirty="0" smtClean="0"/>
              <a:t> – skup elemenata sistema</a:t>
            </a:r>
          </a:p>
          <a:p>
            <a:r>
              <a:rPr lang="sr-Latn-RS" dirty="0" smtClean="0"/>
              <a:t>n – broj elemenata sistema</a:t>
            </a:r>
          </a:p>
          <a:p>
            <a:r>
              <a:rPr lang="sr-Latn-RS" dirty="0" smtClean="0"/>
              <a:t>ξ – skup svojstava elemenata</a:t>
            </a:r>
          </a:p>
          <a:p>
            <a:r>
              <a:rPr lang="sr-Latn-RS" dirty="0" smtClean="0"/>
              <a:t>k – aspekat posmatranja odnosa među elementima</a:t>
            </a:r>
          </a:p>
          <a:p>
            <a:r>
              <a:rPr lang="sr-Latn-RS" dirty="0" err="1" smtClean="0"/>
              <a:t>r</a:t>
            </a:r>
            <a:r>
              <a:rPr lang="sr-Latn-RS" baseline="-25000" dirty="0" err="1" smtClean="0"/>
              <a:t>l</a:t>
            </a:r>
            <a:r>
              <a:rPr lang="sr-Latn-RS" dirty="0" smtClean="0"/>
              <a:t> – bilo koja relacija između dva elementa</a:t>
            </a:r>
          </a:p>
          <a:p>
            <a:r>
              <a:rPr lang="sr-Latn-RS" dirty="0" smtClean="0"/>
              <a:t>m – broj relacija</a:t>
            </a:r>
          </a:p>
          <a:p>
            <a:r>
              <a:rPr lang="sr-Latn-RS" dirty="0" smtClean="0"/>
              <a:t>p – skup osobina relacije</a:t>
            </a:r>
          </a:p>
          <a:p>
            <a:r>
              <a:rPr lang="sr-Latn-RS" dirty="0" smtClean="0"/>
              <a:t>R = </a:t>
            </a:r>
            <a:r>
              <a:rPr lang="en-US" dirty="0" smtClean="0"/>
              <a:t>{</a:t>
            </a:r>
            <a:r>
              <a:rPr lang="sr-Latn-RS" dirty="0" smtClean="0"/>
              <a:t>r1, r2, r3, … , </a:t>
            </a:r>
            <a:r>
              <a:rPr lang="sr-Latn-RS" dirty="0" err="1" smtClean="0"/>
              <a:t>rm</a:t>
            </a:r>
            <a:r>
              <a:rPr lang="en-US" dirty="0"/>
              <a:t> </a:t>
            </a:r>
            <a:r>
              <a:rPr lang="en-US" dirty="0" smtClean="0"/>
              <a:t>}</a:t>
            </a:r>
            <a:r>
              <a:rPr lang="sr-Latn-RS" dirty="0" smtClean="0"/>
              <a:t> – skup svih relacija među elementima sistema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219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Pojmovi i ispitivanju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err="1" smtClean="0"/>
              <a:t>R</a:t>
            </a:r>
            <a:r>
              <a:rPr lang="sr-Latn-RS" baseline="-25000" dirty="0" err="1" smtClean="0"/>
              <a:t>k</a:t>
            </a:r>
            <a:r>
              <a:rPr lang="sr-Latn-RS" dirty="0" smtClean="0"/>
              <a:t> – skup svih relacija sa aspekta k </a:t>
            </a:r>
          </a:p>
          <a:p>
            <a:r>
              <a:rPr lang="sr-Latn-RS" dirty="0" err="1" smtClean="0"/>
              <a:t>R</a:t>
            </a:r>
            <a:r>
              <a:rPr lang="sr-Latn-RS" baseline="-25000" dirty="0" err="1" smtClean="0"/>
              <a:t>k</a:t>
            </a:r>
            <a:r>
              <a:rPr lang="sr-Latn-RS" dirty="0" smtClean="0"/>
              <a:t> </a:t>
            </a:r>
            <a:r>
              <a:rPr lang="en-US" dirty="0" smtClean="0"/>
              <a:t>⊆</a:t>
            </a:r>
            <a:r>
              <a:rPr lang="sr-Latn-RS" dirty="0" smtClean="0"/>
              <a:t> R – bilo koja relacija između dva elementa</a:t>
            </a:r>
          </a:p>
          <a:p>
            <a:r>
              <a:rPr lang="sr-Latn-RS" dirty="0" err="1" smtClean="0"/>
              <a:t>Gk</a:t>
            </a:r>
            <a:r>
              <a:rPr lang="sr-Latn-RS" dirty="0" smtClean="0"/>
              <a:t> – statička struktura odnosa sa aspekta k</a:t>
            </a:r>
          </a:p>
          <a:p>
            <a:r>
              <a:rPr lang="sr-Latn-RS" dirty="0" smtClean="0"/>
              <a:t>G – statička struktura odnosa</a:t>
            </a:r>
          </a:p>
          <a:p>
            <a:r>
              <a:rPr lang="sr-Latn-RS" dirty="0" smtClean="0"/>
              <a:t>G = G</a:t>
            </a:r>
            <a:r>
              <a:rPr lang="sr-Latn-RS" baseline="-25000" dirty="0" smtClean="0"/>
              <a:t>1</a:t>
            </a:r>
            <a:r>
              <a:rPr lang="sr-Latn-RS" dirty="0" smtClean="0"/>
              <a:t> </a:t>
            </a:r>
            <a:r>
              <a:rPr lang="en-US" dirty="0" smtClean="0"/>
              <a:t>∪</a:t>
            </a:r>
            <a:r>
              <a:rPr lang="sr-Latn-RS" dirty="0" smtClean="0"/>
              <a:t> G</a:t>
            </a:r>
            <a:r>
              <a:rPr lang="sr-Latn-RS" baseline="-25000" dirty="0" smtClean="0"/>
              <a:t>2</a:t>
            </a:r>
            <a:r>
              <a:rPr lang="sr-Latn-RS" dirty="0" smtClean="0"/>
              <a:t> </a:t>
            </a:r>
            <a:r>
              <a:rPr lang="en-US" dirty="0" smtClean="0"/>
              <a:t>∪</a:t>
            </a:r>
            <a:r>
              <a:rPr lang="sr-Latn-RS" dirty="0" smtClean="0"/>
              <a:t> … </a:t>
            </a:r>
            <a:r>
              <a:rPr lang="en-US" dirty="0" smtClean="0"/>
              <a:t>∪</a:t>
            </a:r>
            <a:r>
              <a:rPr lang="sr-Latn-RS" dirty="0" smtClean="0"/>
              <a:t> </a:t>
            </a:r>
            <a:r>
              <a:rPr lang="sr-Latn-RS" dirty="0" err="1" smtClean="0"/>
              <a:t>G</a:t>
            </a:r>
            <a:r>
              <a:rPr lang="sr-Latn-RS" baseline="-25000" dirty="0" err="1" smtClean="0"/>
              <a:t>k</a:t>
            </a:r>
            <a:r>
              <a:rPr lang="sr-Latn-RS" dirty="0" smtClean="0"/>
              <a:t> </a:t>
            </a:r>
            <a:r>
              <a:rPr lang="en-US" dirty="0" smtClean="0"/>
              <a:t>∪</a:t>
            </a:r>
            <a:r>
              <a:rPr lang="sr-Latn-RS" dirty="0" smtClean="0"/>
              <a:t> … </a:t>
            </a:r>
            <a:r>
              <a:rPr lang="en-US" dirty="0" smtClean="0"/>
              <a:t>∪</a:t>
            </a:r>
            <a:r>
              <a:rPr lang="sr-Latn-RS" dirty="0" smtClean="0"/>
              <a:t> </a:t>
            </a:r>
            <a:r>
              <a:rPr lang="sr-Latn-RS" dirty="0" err="1" smtClean="0"/>
              <a:t>G</a:t>
            </a:r>
            <a:r>
              <a:rPr lang="sr-Latn-RS" baseline="-25000" dirty="0" err="1" smtClean="0"/>
              <a:t>nk</a:t>
            </a:r>
            <a:endParaRPr lang="sr-Latn-RS" baseline="-25000" dirty="0" smtClean="0"/>
          </a:p>
          <a:p>
            <a:r>
              <a:rPr lang="sr-Latn-RS" dirty="0" err="1" smtClean="0"/>
              <a:t>n</a:t>
            </a:r>
            <a:r>
              <a:rPr lang="sr-Latn-RS" baseline="-25000" dirty="0" err="1" smtClean="0"/>
              <a:t>k</a:t>
            </a:r>
            <a:r>
              <a:rPr lang="sr-Latn-RS" dirty="0" smtClean="0"/>
              <a:t> – broj aspekta posmatranja</a:t>
            </a:r>
          </a:p>
          <a:p>
            <a:r>
              <a:rPr lang="sr-Latn-RS" dirty="0" smtClean="0"/>
              <a:t>A </a:t>
            </a:r>
            <a:r>
              <a:rPr lang="sr-Latn-RS" baseline="30000" dirty="0" smtClean="0"/>
              <a:t>(1,0) </a:t>
            </a:r>
            <a:r>
              <a:rPr lang="sr-Latn-RS" dirty="0" smtClean="0"/>
              <a:t>– incidenta matrica (relacija, element)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698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Upoznavanje strukture sistema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Između dva elementa možemo da identifikujemo jednostruke ili višestruke veze.</a:t>
            </a:r>
          </a:p>
          <a:p>
            <a:r>
              <a:rPr lang="sr-Latn-RS" dirty="0" smtClean="0"/>
              <a:t>Elemente obeležimo sa </a:t>
            </a:r>
            <a:r>
              <a:rPr lang="sr-Latn-RS" dirty="0" err="1" smtClean="0"/>
              <a:t>e</a:t>
            </a:r>
            <a:r>
              <a:rPr lang="sr-Latn-RS" baseline="-25000" dirty="0" err="1" smtClean="0"/>
              <a:t>i</a:t>
            </a:r>
            <a:r>
              <a:rPr lang="sr-Latn-RS" dirty="0" smtClean="0"/>
              <a:t> odnosno e</a:t>
            </a:r>
            <a:r>
              <a:rPr lang="sr-Latn-RS" baseline="-25000" dirty="0" smtClean="0"/>
              <a:t>j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3016095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3735"/>
            <a:ext cx="12226776" cy="3928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545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Upoznavanje strukture sistema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U slučaju jednostrukih veza, relacija (r</a:t>
            </a:r>
            <a:r>
              <a:rPr lang="sr-Latn-RS" baseline="-25000" dirty="0" smtClean="0"/>
              <a:t>1</a:t>
            </a:r>
            <a:r>
              <a:rPr lang="sr-Latn-RS" dirty="0" smtClean="0"/>
              <a:t>) jednoznačna i može se odrediti putem elemenata (e</a:t>
            </a:r>
            <a:r>
              <a:rPr lang="sr-Latn-RS" baseline="-25000" dirty="0" smtClean="0"/>
              <a:t>1</a:t>
            </a:r>
            <a:r>
              <a:rPr lang="sr-Latn-RS" dirty="0" smtClean="0"/>
              <a:t>) i (e</a:t>
            </a:r>
            <a:r>
              <a:rPr lang="sr-Latn-RS" baseline="-25000" dirty="0" smtClean="0"/>
              <a:t>2</a:t>
            </a:r>
            <a:r>
              <a:rPr lang="sr-Latn-RS" dirty="0" smtClean="0"/>
              <a:t>)</a:t>
            </a:r>
          </a:p>
          <a:p>
            <a:pPr marL="0" indent="0" algn="ctr">
              <a:buNone/>
            </a:pPr>
            <a:r>
              <a:rPr lang="sr-Latn-RS" b="1" dirty="0" smtClean="0"/>
              <a:t>r</a:t>
            </a:r>
            <a:r>
              <a:rPr lang="sr-Latn-RS" b="1" baseline="-25000" dirty="0" smtClean="0"/>
              <a:t>1</a:t>
            </a:r>
            <a:r>
              <a:rPr lang="sr-Latn-RS" b="1" dirty="0" smtClean="0"/>
              <a:t> = (</a:t>
            </a:r>
            <a:r>
              <a:rPr lang="sr-Latn-RS" b="1" dirty="0" err="1" smtClean="0"/>
              <a:t>e</a:t>
            </a:r>
            <a:r>
              <a:rPr lang="sr-Latn-RS" b="1" baseline="-25000" dirty="0" err="1" smtClean="0"/>
              <a:t>i</a:t>
            </a:r>
            <a:r>
              <a:rPr lang="sr-Latn-RS" b="1" dirty="0" smtClean="0"/>
              <a:t>, e</a:t>
            </a:r>
            <a:r>
              <a:rPr lang="sr-Latn-RS" b="1" baseline="-25000" dirty="0" smtClean="0"/>
              <a:t>j</a:t>
            </a:r>
            <a:r>
              <a:rPr lang="sr-Latn-RS" b="1" dirty="0" smtClean="0"/>
              <a:t>) = (e</a:t>
            </a:r>
            <a:r>
              <a:rPr lang="sr-Latn-RS" b="1" baseline="-25000" dirty="0" smtClean="0"/>
              <a:t>j</a:t>
            </a:r>
            <a:r>
              <a:rPr lang="sr-Latn-RS" b="1" dirty="0" smtClean="0"/>
              <a:t>, </a:t>
            </a:r>
            <a:r>
              <a:rPr lang="sr-Latn-RS" b="1" dirty="0" err="1" smtClean="0"/>
              <a:t>e</a:t>
            </a:r>
            <a:r>
              <a:rPr lang="sr-Latn-RS" b="1" baseline="-25000" dirty="0" err="1" smtClean="0"/>
              <a:t>i</a:t>
            </a:r>
            <a:r>
              <a:rPr lang="sr-Latn-RS" b="1" dirty="0" smtClean="0"/>
              <a:t>)</a:t>
            </a:r>
          </a:p>
          <a:p>
            <a:r>
              <a:rPr lang="sr-Latn-RS" dirty="0" smtClean="0"/>
              <a:t>Iz ovog se može videti da je redosled elemenata u ovom trenutku nebitan.</a:t>
            </a:r>
          </a:p>
          <a:p>
            <a:r>
              <a:rPr lang="sr-Latn-RS" dirty="0" smtClean="0"/>
              <a:t>U višestrukim relacijama prikazin par ne omogućava jednoznačnu definiciju relacije.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706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783760"/>
            <a:ext cx="12192000" cy="5560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377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278" y="0"/>
            <a:ext cx="11305122" cy="685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922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Predstavljanje strukture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Pored </a:t>
            </a:r>
            <a:r>
              <a:rPr lang="sr-Latn-RS" dirty="0" err="1" smtClean="0"/>
              <a:t>grafova</a:t>
            </a:r>
            <a:r>
              <a:rPr lang="sr-Latn-RS" dirty="0" smtClean="0"/>
              <a:t> strukturu i relacije moguće je predstaviti i u matričnom obliku. </a:t>
            </a:r>
          </a:p>
          <a:p>
            <a:r>
              <a:rPr lang="sr-Latn-RS" dirty="0" smtClean="0"/>
              <a:t>Matrični prikaz je dobar za računarsku upotrebu.</a:t>
            </a:r>
          </a:p>
          <a:p>
            <a:r>
              <a:rPr lang="sr-Latn-RS" dirty="0" smtClean="0"/>
              <a:t>Za sada prikazujemo samo incidentu matricu.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946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Incidenta matrica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265" y="1930400"/>
            <a:ext cx="7606737" cy="462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952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Dinamičke strukture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Dinamičke strukture su usmereni </a:t>
            </a:r>
            <a:r>
              <a:rPr lang="sr-Latn-RS" dirty="0" err="1" smtClean="0"/>
              <a:t>grafovi</a:t>
            </a:r>
            <a:r>
              <a:rPr lang="sr-Latn-RS" dirty="0" smtClean="0"/>
              <a:t> (veze imaju strelicu).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772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1133612"/>
            <a:ext cx="12079777" cy="4524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136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897" y="0"/>
            <a:ext cx="7846074" cy="6858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206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Grafički oblika dinamičke strukture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16" y="2326031"/>
            <a:ext cx="10404335" cy="4424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913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Opšti </a:t>
            </a:r>
            <a:r>
              <a:rPr lang="sr-Latn-RS" dirty="0"/>
              <a:t>oblika dinamičke strukture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23" y="2501900"/>
            <a:ext cx="11932127" cy="212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007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Matrični oblik – matrica </a:t>
            </a:r>
            <a:r>
              <a:rPr lang="sr-Latn-RS" dirty="0" err="1" smtClean="0"/>
              <a:t>prethođenja</a:t>
            </a:r>
            <a:r>
              <a:rPr lang="sr-Latn-RS" dirty="0" smtClean="0"/>
              <a:t> čvorova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500" y="2228850"/>
            <a:ext cx="11851500" cy="3451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18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Matrični oblik – matrica </a:t>
            </a:r>
            <a:r>
              <a:rPr lang="sr-Latn-RS" dirty="0" err="1"/>
              <a:t>prethođenja</a:t>
            </a:r>
            <a:r>
              <a:rPr lang="sr-Latn-RS" dirty="0"/>
              <a:t> </a:t>
            </a:r>
            <a:r>
              <a:rPr lang="sr-Latn-RS" dirty="0" smtClean="0"/>
              <a:t>lukova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68" y="1758950"/>
            <a:ext cx="11844382" cy="4664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80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Matrični oblik – matrica </a:t>
            </a:r>
            <a:r>
              <a:rPr lang="sr-Latn-RS" dirty="0" smtClean="0"/>
              <a:t>čvorova - lukova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158114"/>
            <a:ext cx="10666412" cy="452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339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Matrični oblik – matrica </a:t>
            </a:r>
            <a:r>
              <a:rPr lang="sr-Latn-RS" dirty="0" smtClean="0"/>
              <a:t>lukova </a:t>
            </a:r>
            <a:r>
              <a:rPr lang="sr-Latn-RS" dirty="0"/>
              <a:t>- </a:t>
            </a:r>
            <a:r>
              <a:rPr lang="sr-Latn-RS" dirty="0" smtClean="0"/>
              <a:t>čvorova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" y="2220266"/>
            <a:ext cx="10234208" cy="448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341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Matrični oblik </a:t>
            </a:r>
            <a:r>
              <a:rPr lang="sr-Latn-RS" dirty="0" smtClean="0"/>
              <a:t>– incidenta matrica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902" y="2280312"/>
            <a:ext cx="9201150" cy="457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727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Relac</a:t>
            </a:r>
            <a:r>
              <a:rPr lang="sr-Latn-RS" dirty="0" smtClean="0"/>
              <a:t>i</a:t>
            </a:r>
            <a:r>
              <a:rPr lang="en-US" dirty="0" smtClean="0"/>
              <a:t>ja </a:t>
            </a:r>
            <a:r>
              <a:rPr lang="en-US" dirty="0" err="1" smtClean="0"/>
              <a:t>izme</a:t>
            </a:r>
            <a:r>
              <a:rPr lang="sr-Latn-RS" dirty="0" smtClean="0"/>
              <a:t>đ</a:t>
            </a:r>
            <a:r>
              <a:rPr lang="en-US" dirty="0" smtClean="0"/>
              <a:t>u ma</a:t>
            </a:r>
            <a:r>
              <a:rPr lang="sr-Latn-RS" dirty="0" smtClean="0"/>
              <a:t>trice</a:t>
            </a:r>
            <a:r>
              <a:rPr lang="en-US" dirty="0" smtClean="0"/>
              <a:t> </a:t>
            </a:r>
            <a:r>
              <a:rPr lang="en-US" dirty="0" err="1" smtClean="0"/>
              <a:t>pretho</a:t>
            </a:r>
            <a:r>
              <a:rPr lang="sr-Latn-RS" dirty="0" smtClean="0"/>
              <a:t>đ</a:t>
            </a:r>
            <a:r>
              <a:rPr lang="en-US" dirty="0" err="1" smtClean="0"/>
              <a:t>enja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Matrica</a:t>
            </a:r>
            <a:r>
              <a:rPr lang="en-US" dirty="0" smtClean="0"/>
              <a:t> </a:t>
            </a:r>
            <a:r>
              <a:rPr lang="en-US" dirty="0" err="1" smtClean="0"/>
              <a:t>pretho</a:t>
            </a:r>
            <a:r>
              <a:rPr lang="sr-Latn-RS" dirty="0" smtClean="0"/>
              <a:t>đ</a:t>
            </a:r>
            <a:r>
              <a:rPr lang="en-US" dirty="0" err="1" smtClean="0"/>
              <a:t>enja</a:t>
            </a:r>
            <a:r>
              <a:rPr lang="en-US" dirty="0" smtClean="0"/>
              <a:t> </a:t>
            </a:r>
            <a:r>
              <a:rPr lang="sr-Latn-RS" dirty="0" smtClean="0"/>
              <a:t>č</a:t>
            </a:r>
            <a:r>
              <a:rPr lang="en-US" dirty="0" err="1" smtClean="0"/>
              <a:t>vorova</a:t>
            </a:r>
            <a:r>
              <a:rPr lang="en-US" dirty="0" smtClean="0"/>
              <a:t> </a:t>
            </a:r>
            <a:r>
              <a:rPr lang="en-US" dirty="0" err="1"/>
              <a:t>jednaka</a:t>
            </a:r>
            <a:r>
              <a:rPr lang="en-US" dirty="0"/>
              <a:t> je </a:t>
            </a:r>
            <a:r>
              <a:rPr lang="en-US" dirty="0" err="1"/>
              <a:t>proizvodu</a:t>
            </a:r>
            <a:r>
              <a:rPr lang="en-US" dirty="0"/>
              <a:t> </a:t>
            </a:r>
            <a:r>
              <a:rPr lang="en-US" dirty="0" err="1"/>
              <a:t>matrice</a:t>
            </a:r>
            <a:r>
              <a:rPr lang="en-US" dirty="0"/>
              <a:t> </a:t>
            </a:r>
            <a:r>
              <a:rPr lang="en-US" dirty="0" err="1" smtClean="0"/>
              <a:t>pretho</a:t>
            </a:r>
            <a:r>
              <a:rPr lang="sr-Latn-RS" dirty="0" smtClean="0"/>
              <a:t>đ</a:t>
            </a:r>
            <a:r>
              <a:rPr lang="en-US" dirty="0" err="1" smtClean="0"/>
              <a:t>enja</a:t>
            </a:r>
            <a:r>
              <a:rPr lang="en-US" dirty="0" smtClean="0"/>
              <a:t> </a:t>
            </a:r>
            <a:r>
              <a:rPr lang="sr-Latn-RS" dirty="0" smtClean="0"/>
              <a:t>č</a:t>
            </a:r>
            <a:r>
              <a:rPr lang="en-US" dirty="0" err="1" smtClean="0"/>
              <a:t>vorova-Iukova</a:t>
            </a:r>
            <a:r>
              <a:rPr lang="en-US" dirty="0" smtClean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matricom</a:t>
            </a:r>
            <a:r>
              <a:rPr lang="en-US" dirty="0"/>
              <a:t> </a:t>
            </a:r>
            <a:r>
              <a:rPr lang="en-US" dirty="0" err="1"/>
              <a:t>prethodenja</a:t>
            </a:r>
            <a:r>
              <a:rPr lang="en-US" dirty="0"/>
              <a:t> </a:t>
            </a:r>
            <a:r>
              <a:rPr lang="en-US" dirty="0" err="1" smtClean="0"/>
              <a:t>lukova</a:t>
            </a:r>
            <a:r>
              <a:rPr lang="en-US" dirty="0" smtClean="0"/>
              <a:t>-</a:t>
            </a:r>
            <a:r>
              <a:rPr lang="sr-Latn-RS" dirty="0" smtClean="0"/>
              <a:t>č</a:t>
            </a:r>
            <a:r>
              <a:rPr lang="en-US" dirty="0" err="1" smtClean="0"/>
              <a:t>vorova</a:t>
            </a:r>
            <a:r>
              <a:rPr lang="sr-Latn-RS" dirty="0" smtClean="0"/>
              <a:t>.</a:t>
            </a:r>
          </a:p>
          <a:p>
            <a:endParaRPr lang="sr-Latn-RS" dirty="0"/>
          </a:p>
          <a:p>
            <a:pPr marL="0" indent="0" algn="ctr">
              <a:buNone/>
            </a:pPr>
            <a:r>
              <a:rPr lang="sr-Latn-RS" sz="4000" dirty="0" smtClean="0"/>
              <a:t>M</a:t>
            </a:r>
            <a:r>
              <a:rPr lang="sr-Latn-RS" sz="4000" baseline="30000" dirty="0" smtClean="0"/>
              <a:t>00</a:t>
            </a:r>
            <a:r>
              <a:rPr lang="sr-Latn-RS" sz="4000" dirty="0" smtClean="0"/>
              <a:t> = M</a:t>
            </a:r>
            <a:r>
              <a:rPr lang="sr-Latn-RS" sz="4000" baseline="30000" dirty="0" smtClean="0"/>
              <a:t>01</a:t>
            </a:r>
            <a:r>
              <a:rPr lang="sr-Latn-RS" sz="4000" dirty="0" smtClean="0"/>
              <a:t> x M</a:t>
            </a:r>
            <a:r>
              <a:rPr lang="sr-Latn-RS" sz="4000" baseline="30000" dirty="0" smtClean="0"/>
              <a:t>10</a:t>
            </a:r>
            <a:endParaRPr lang="en-US" sz="4000" baseline="30000" dirty="0"/>
          </a:p>
        </p:txBody>
      </p:sp>
    </p:spTree>
    <p:extLst>
      <p:ext uri="{BB962C8B-B14F-4D97-AF65-F5344CB8AC3E}">
        <p14:creationId xmlns:p14="http://schemas.microsoft.com/office/powerpoint/2010/main" val="1716395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9" y="1260942"/>
            <a:ext cx="12101323" cy="3844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253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Relac</a:t>
            </a:r>
            <a:r>
              <a:rPr lang="sr-Latn-RS" dirty="0"/>
              <a:t>i</a:t>
            </a:r>
            <a:r>
              <a:rPr lang="en-US" dirty="0"/>
              <a:t>ja </a:t>
            </a:r>
            <a:r>
              <a:rPr lang="en-US" dirty="0" err="1"/>
              <a:t>izme</a:t>
            </a:r>
            <a:r>
              <a:rPr lang="sr-Latn-RS" dirty="0"/>
              <a:t>đ</a:t>
            </a:r>
            <a:r>
              <a:rPr lang="en-US" dirty="0"/>
              <a:t>u ma</a:t>
            </a:r>
            <a:r>
              <a:rPr lang="sr-Latn-RS" dirty="0"/>
              <a:t>trice</a:t>
            </a:r>
            <a:r>
              <a:rPr lang="en-US" dirty="0"/>
              <a:t> </a:t>
            </a:r>
            <a:r>
              <a:rPr lang="en-US" dirty="0" err="1"/>
              <a:t>pretho</a:t>
            </a:r>
            <a:r>
              <a:rPr lang="sr-Latn-RS" dirty="0"/>
              <a:t>đ</a:t>
            </a:r>
            <a:r>
              <a:rPr lang="en-US" dirty="0" err="1"/>
              <a:t>enja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Matrica</a:t>
            </a:r>
            <a:r>
              <a:rPr lang="en-US" dirty="0"/>
              <a:t> </a:t>
            </a:r>
            <a:r>
              <a:rPr lang="en-US" dirty="0" err="1"/>
              <a:t>pretho</a:t>
            </a:r>
            <a:r>
              <a:rPr lang="sr-Latn-RS" dirty="0"/>
              <a:t>đ</a:t>
            </a:r>
            <a:r>
              <a:rPr lang="en-US" dirty="0" err="1"/>
              <a:t>enja</a:t>
            </a:r>
            <a:r>
              <a:rPr lang="en-US" dirty="0"/>
              <a:t> </a:t>
            </a:r>
            <a:r>
              <a:rPr lang="sr-Latn-RS" dirty="0"/>
              <a:t>č</a:t>
            </a:r>
            <a:r>
              <a:rPr lang="en-US" dirty="0" err="1"/>
              <a:t>vorova</a:t>
            </a:r>
            <a:r>
              <a:rPr lang="en-US" dirty="0"/>
              <a:t> </a:t>
            </a:r>
            <a:r>
              <a:rPr lang="en-US" dirty="0" err="1"/>
              <a:t>jednaka</a:t>
            </a:r>
            <a:r>
              <a:rPr lang="en-US" dirty="0"/>
              <a:t> je </a:t>
            </a:r>
            <a:r>
              <a:rPr lang="en-US" dirty="0" err="1"/>
              <a:t>proizvodu</a:t>
            </a:r>
            <a:r>
              <a:rPr lang="en-US" dirty="0"/>
              <a:t> </a:t>
            </a:r>
            <a:r>
              <a:rPr lang="en-US" dirty="0" err="1"/>
              <a:t>matrice</a:t>
            </a:r>
            <a:r>
              <a:rPr lang="en-US" dirty="0"/>
              <a:t> </a:t>
            </a:r>
            <a:r>
              <a:rPr lang="en-US" dirty="0" err="1"/>
              <a:t>pretho</a:t>
            </a:r>
            <a:r>
              <a:rPr lang="sr-Latn-RS" dirty="0"/>
              <a:t>đ</a:t>
            </a:r>
            <a:r>
              <a:rPr lang="en-US" dirty="0" err="1"/>
              <a:t>enja</a:t>
            </a:r>
            <a:r>
              <a:rPr lang="en-US" dirty="0"/>
              <a:t> </a:t>
            </a:r>
            <a:r>
              <a:rPr lang="en-US" dirty="0" err="1"/>
              <a:t>lukova</a:t>
            </a:r>
            <a:r>
              <a:rPr lang="en-US" dirty="0"/>
              <a:t>-</a:t>
            </a:r>
            <a:r>
              <a:rPr lang="sr-Latn-RS" dirty="0"/>
              <a:t>č</a:t>
            </a:r>
            <a:r>
              <a:rPr lang="en-US" dirty="0" err="1"/>
              <a:t>vorova</a:t>
            </a:r>
            <a:r>
              <a:rPr lang="en-US" dirty="0"/>
              <a:t> </a:t>
            </a:r>
            <a:r>
              <a:rPr lang="en-US" dirty="0" err="1" smtClean="0"/>
              <a:t>sa</a:t>
            </a:r>
            <a:r>
              <a:rPr lang="en-US" dirty="0" smtClean="0"/>
              <a:t> </a:t>
            </a:r>
            <a:r>
              <a:rPr lang="en-US" dirty="0" err="1"/>
              <a:t>matricom</a:t>
            </a:r>
            <a:r>
              <a:rPr lang="en-US" dirty="0"/>
              <a:t> </a:t>
            </a:r>
            <a:r>
              <a:rPr lang="en-US" dirty="0" err="1" smtClean="0"/>
              <a:t>prethodenja</a:t>
            </a:r>
            <a:r>
              <a:rPr lang="sr-Latn-RS" dirty="0" smtClean="0"/>
              <a:t> </a:t>
            </a:r>
            <a:r>
              <a:rPr lang="sr-Latn-RS" dirty="0"/>
              <a:t>č</a:t>
            </a:r>
            <a:r>
              <a:rPr lang="en-US" dirty="0" err="1"/>
              <a:t>vorova-Iukova</a:t>
            </a:r>
            <a:r>
              <a:rPr lang="en-US" dirty="0"/>
              <a:t> </a:t>
            </a:r>
            <a:r>
              <a:rPr lang="sr-Latn-RS" dirty="0" smtClean="0"/>
              <a:t>.</a:t>
            </a:r>
            <a:endParaRPr lang="sr-Latn-RS" dirty="0"/>
          </a:p>
          <a:p>
            <a:endParaRPr lang="sr-Latn-RS" dirty="0"/>
          </a:p>
          <a:p>
            <a:pPr marL="0" indent="0" algn="ctr">
              <a:buNone/>
            </a:pPr>
            <a:r>
              <a:rPr lang="sr-Latn-RS" sz="4000" dirty="0" smtClean="0"/>
              <a:t>M</a:t>
            </a:r>
            <a:r>
              <a:rPr lang="sr-Latn-RS" sz="4000" baseline="30000" dirty="0" smtClean="0"/>
              <a:t>11</a:t>
            </a:r>
            <a:r>
              <a:rPr lang="sr-Latn-RS" sz="4000" dirty="0" smtClean="0"/>
              <a:t> </a:t>
            </a:r>
            <a:r>
              <a:rPr lang="sr-Latn-RS" sz="4000" dirty="0"/>
              <a:t>= </a:t>
            </a:r>
            <a:r>
              <a:rPr lang="sr-Latn-RS" sz="4000" dirty="0" smtClean="0"/>
              <a:t>M</a:t>
            </a:r>
            <a:r>
              <a:rPr lang="sr-Latn-RS" sz="4000" baseline="30000" dirty="0" smtClean="0"/>
              <a:t>10</a:t>
            </a:r>
            <a:r>
              <a:rPr lang="sr-Latn-RS" sz="4000" dirty="0" smtClean="0"/>
              <a:t> </a:t>
            </a:r>
            <a:r>
              <a:rPr lang="sr-Latn-RS" sz="4000" dirty="0"/>
              <a:t>x </a:t>
            </a:r>
            <a:r>
              <a:rPr lang="sr-Latn-RS" sz="4000" dirty="0" smtClean="0"/>
              <a:t>M</a:t>
            </a:r>
            <a:r>
              <a:rPr lang="sr-Latn-RS" sz="4000" baseline="30000" dirty="0" smtClean="0"/>
              <a:t>01</a:t>
            </a:r>
            <a:endParaRPr lang="en-US" sz="4000" baseline="30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707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08" y="1592379"/>
            <a:ext cx="11537578" cy="371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391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Relacija </a:t>
            </a:r>
            <a:r>
              <a:rPr lang="pt-BR" dirty="0" smtClean="0"/>
              <a:t>izme</a:t>
            </a:r>
            <a:r>
              <a:rPr lang="sr-Latn-RS" dirty="0" smtClean="0"/>
              <a:t>đ</a:t>
            </a:r>
            <a:r>
              <a:rPr lang="pt-BR" dirty="0" smtClean="0"/>
              <a:t>u </a:t>
            </a:r>
            <a:r>
              <a:rPr lang="pt-BR" dirty="0"/>
              <a:t>matrica </a:t>
            </a:r>
            <a:r>
              <a:rPr lang="pt-BR" dirty="0" smtClean="0"/>
              <a:t>p</a:t>
            </a:r>
            <a:r>
              <a:rPr lang="sr-Latn-RS" dirty="0" err="1" smtClean="0"/>
              <a:t>re</a:t>
            </a:r>
            <a:r>
              <a:rPr lang="pt-BR" dirty="0" smtClean="0"/>
              <a:t>tho</a:t>
            </a:r>
            <a:r>
              <a:rPr lang="sr-Latn-RS" dirty="0" smtClean="0"/>
              <a:t>đ</a:t>
            </a:r>
            <a:r>
              <a:rPr lang="pt-BR" dirty="0" smtClean="0"/>
              <a:t>enja </a:t>
            </a:r>
            <a:r>
              <a:rPr lang="pt-BR" dirty="0"/>
              <a:t>i incidentne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 </a:t>
            </a:r>
            <a:r>
              <a:rPr lang="en-US" dirty="0" err="1"/>
              <a:t>slucaju</a:t>
            </a:r>
            <a:r>
              <a:rPr lang="en-US" dirty="0"/>
              <a:t> da </a:t>
            </a:r>
            <a:r>
              <a:rPr lang="en-US" dirty="0" err="1"/>
              <a:t>istu</a:t>
            </a:r>
            <a:r>
              <a:rPr lang="en-US" dirty="0"/>
              <a:t> </a:t>
            </a:r>
            <a:r>
              <a:rPr lang="en-US" dirty="0" err="1"/>
              <a:t>strukturu</a:t>
            </a:r>
            <a:r>
              <a:rPr lang="en-US" dirty="0"/>
              <a:t> </a:t>
            </a:r>
            <a:r>
              <a:rPr lang="en-US" dirty="0" err="1"/>
              <a:t>predstavljamo</a:t>
            </a:r>
            <a:r>
              <a:rPr lang="en-US" dirty="0"/>
              <a:t> </a:t>
            </a:r>
            <a:r>
              <a:rPr lang="en-US" dirty="0" err="1"/>
              <a:t>matricama</a:t>
            </a:r>
            <a:r>
              <a:rPr lang="en-US" dirty="0"/>
              <a:t> </a:t>
            </a:r>
            <a:r>
              <a:rPr lang="en-US" dirty="0" err="1" smtClean="0"/>
              <a:t>pretho</a:t>
            </a:r>
            <a:r>
              <a:rPr lang="sr-Latn-RS" dirty="0" smtClean="0"/>
              <a:t>đ</a:t>
            </a:r>
            <a:r>
              <a:rPr lang="en-US" dirty="0" err="1" smtClean="0"/>
              <a:t>enja</a:t>
            </a:r>
            <a:r>
              <a:rPr lang="en-US" dirty="0" smtClean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incidentnom</a:t>
            </a:r>
            <a:r>
              <a:rPr lang="en-US" dirty="0"/>
              <a:t> </a:t>
            </a:r>
            <a:r>
              <a:rPr lang="en-US" dirty="0" err="1"/>
              <a:t>matricom</a:t>
            </a:r>
            <a:r>
              <a:rPr lang="en-US" dirty="0"/>
              <a:t>, </a:t>
            </a:r>
            <a:r>
              <a:rPr lang="en-US" dirty="0" err="1"/>
              <a:t>tada</a:t>
            </a:r>
            <a:r>
              <a:rPr lang="en-US" dirty="0"/>
              <a:t> </a:t>
            </a:r>
            <a:r>
              <a:rPr lang="en-US" dirty="0" err="1"/>
              <a:t>izmedu</a:t>
            </a:r>
            <a:r>
              <a:rPr lang="en-US" dirty="0"/>
              <a:t> </a:t>
            </a:r>
            <a:r>
              <a:rPr lang="en-US" dirty="0" err="1"/>
              <a:t>njih</a:t>
            </a:r>
            <a:r>
              <a:rPr lang="en-US" dirty="0"/>
              <a:t> </a:t>
            </a:r>
            <a:r>
              <a:rPr lang="en-US" dirty="0" err="1"/>
              <a:t>postoji</a:t>
            </a:r>
            <a:r>
              <a:rPr lang="en-US" dirty="0"/>
              <a:t> </a:t>
            </a:r>
            <a:r>
              <a:rPr lang="en-US" dirty="0" err="1"/>
              <a:t>odredena</a:t>
            </a:r>
            <a:r>
              <a:rPr lang="en-US" dirty="0"/>
              <a:t> </a:t>
            </a:r>
            <a:r>
              <a:rPr lang="en-US" dirty="0" err="1"/>
              <a:t>relacija</a:t>
            </a:r>
            <a:r>
              <a:rPr lang="en-US" dirty="0" smtClean="0"/>
              <a:t>.</a:t>
            </a:r>
            <a:endParaRPr lang="sr-Latn-RS" dirty="0" smtClean="0"/>
          </a:p>
          <a:p>
            <a:endParaRPr lang="sr-Latn-RS" dirty="0"/>
          </a:p>
          <a:p>
            <a:pPr marL="0" indent="0" algn="ctr">
              <a:buNone/>
            </a:pPr>
            <a:r>
              <a:rPr lang="sr-Latn-RS" sz="4000" b="1" dirty="0" smtClean="0"/>
              <a:t>A10 = (M</a:t>
            </a:r>
            <a:r>
              <a:rPr lang="sr-Latn-RS" sz="4000" b="1" baseline="30000" dirty="0" smtClean="0"/>
              <a:t>01</a:t>
            </a:r>
            <a:r>
              <a:rPr lang="sr-Latn-RS" sz="4000" b="1" dirty="0" smtClean="0"/>
              <a:t>)</a:t>
            </a:r>
            <a:r>
              <a:rPr lang="sr-Latn-RS" sz="4000" b="1" baseline="30000" dirty="0" smtClean="0"/>
              <a:t>T</a:t>
            </a:r>
            <a:r>
              <a:rPr lang="sr-Latn-RS" sz="4000" b="1" dirty="0" smtClean="0"/>
              <a:t> – M</a:t>
            </a:r>
            <a:r>
              <a:rPr lang="sr-Latn-RS" sz="4000" b="1" baseline="30000" dirty="0" smtClean="0"/>
              <a:t>10</a:t>
            </a:r>
            <a:endParaRPr lang="en-US" sz="4000" b="1" baseline="30000" dirty="0"/>
          </a:p>
        </p:txBody>
      </p:sp>
    </p:spTree>
    <p:extLst>
      <p:ext uri="{BB962C8B-B14F-4D97-AF65-F5344CB8AC3E}">
        <p14:creationId xmlns:p14="http://schemas.microsoft.com/office/powerpoint/2010/main" val="3136164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217" y="0"/>
            <a:ext cx="98452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366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81000"/>
            <a:ext cx="12166072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010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Nejednakost izlazni i ulaznih relacija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Vrlo često se dešava da izlazne relacije nisu u istom broju sa ulaznim relacijama.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079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498" y="87084"/>
            <a:ext cx="9639051" cy="667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962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49" y="0"/>
            <a:ext cx="102060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57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Razrešenje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A</a:t>
            </a:r>
            <a:r>
              <a:rPr lang="sr-Latn-RS" baseline="30000" dirty="0" smtClean="0"/>
              <a:t>(j)</a:t>
            </a:r>
            <a:r>
              <a:rPr lang="sr-Latn-RS" dirty="0" smtClean="0"/>
              <a:t> = </a:t>
            </a:r>
            <a:r>
              <a:rPr lang="sr-Latn-RS" dirty="0" err="1" smtClean="0"/>
              <a:t>A</a:t>
            </a:r>
            <a:r>
              <a:rPr lang="sr-Latn-RS" baseline="-25000" dirty="0" err="1" smtClean="0"/>
              <a:t>i,j</a:t>
            </a:r>
            <a:r>
              <a:rPr lang="sr-Latn-RS" dirty="0" smtClean="0"/>
              <a:t> x Y</a:t>
            </a:r>
            <a:r>
              <a:rPr lang="sr-Latn-RS" baseline="30000" dirty="0" smtClean="0"/>
              <a:t>(i)</a:t>
            </a:r>
            <a:endParaRPr lang="en-US" baseline="30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7348" y="1665289"/>
            <a:ext cx="7489240" cy="4157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333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136" y="368299"/>
            <a:ext cx="7547113" cy="462915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849" y="889000"/>
            <a:ext cx="3351151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719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 smtClean="0"/>
              <a:t>Strukture</a:t>
            </a:r>
            <a:r>
              <a:rPr lang="en-US" b="1" dirty="0" smtClean="0"/>
              <a:t> </a:t>
            </a:r>
            <a:r>
              <a:rPr lang="en-US" b="1" dirty="0" err="1"/>
              <a:t>sistema</a:t>
            </a:r>
            <a:r>
              <a:rPr lang="en-US" b="1" dirty="0"/>
              <a:t> </a:t>
            </a:r>
            <a:r>
              <a:rPr lang="en-US" b="1" dirty="0" err="1" smtClean="0"/>
              <a:t>sa</a:t>
            </a:r>
            <a:r>
              <a:rPr lang="en-US" b="1" dirty="0" smtClean="0"/>
              <a:t> </a:t>
            </a:r>
            <a:r>
              <a:rPr lang="en-US" b="1" dirty="0" err="1"/>
              <a:t>redno</a:t>
            </a:r>
            <a:r>
              <a:rPr lang="en-US" b="1" dirty="0"/>
              <a:t> </a:t>
            </a:r>
            <a:r>
              <a:rPr lang="en-US" b="1" dirty="0" err="1"/>
              <a:t>vezanim</a:t>
            </a:r>
            <a:r>
              <a:rPr lang="en-US" b="1" dirty="0"/>
              <a:t> </a:t>
            </a:r>
            <a:r>
              <a:rPr lang="en-US" b="1" dirty="0" err="1"/>
              <a:t>elementima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0849" y="1470344"/>
            <a:ext cx="7971151" cy="538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049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913" y="21280"/>
            <a:ext cx="9990451" cy="683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375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 smtClean="0"/>
              <a:t>Strukture</a:t>
            </a:r>
            <a:r>
              <a:rPr lang="en-US" b="1" dirty="0" smtClean="0"/>
              <a:t> </a:t>
            </a:r>
            <a:r>
              <a:rPr lang="en-US" b="1" dirty="0" err="1"/>
              <a:t>sistema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</a:t>
            </a:r>
            <a:r>
              <a:rPr lang="en-US" b="1" dirty="0" err="1"/>
              <a:t>paralelno</a:t>
            </a:r>
            <a:r>
              <a:rPr lang="en-US" b="1" dirty="0"/>
              <a:t> </a:t>
            </a:r>
            <a:r>
              <a:rPr lang="en-US" b="1" dirty="0" err="1"/>
              <a:t>vezanim</a:t>
            </a:r>
            <a:r>
              <a:rPr lang="en-US" b="1" dirty="0"/>
              <a:t> </a:t>
            </a:r>
            <a:r>
              <a:rPr lang="en-US" b="1" dirty="0" err="1"/>
              <a:t>elementima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Ovde imamo dva tipa veza, i to su:</a:t>
            </a:r>
          </a:p>
          <a:p>
            <a:endParaRPr lang="sr-Latn-RS" dirty="0"/>
          </a:p>
          <a:p>
            <a:pPr>
              <a:buFont typeface="+mj-lt"/>
              <a:buAutoNum type="arabicPeriod"/>
            </a:pPr>
            <a:r>
              <a:rPr lang="sr-Latn-RS" dirty="0" smtClean="0"/>
              <a:t>po razvodnoj vezi</a:t>
            </a:r>
          </a:p>
          <a:p>
            <a:pPr>
              <a:buFont typeface="+mj-lt"/>
              <a:buAutoNum type="arabicPeriod"/>
            </a:pPr>
            <a:r>
              <a:rPr lang="sr-Latn-RS" dirty="0" smtClean="0"/>
              <a:t>po odvodnoj vezi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314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588" y="0"/>
            <a:ext cx="76352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340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0683" y="0"/>
            <a:ext cx="6146553" cy="6781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805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" y="533400"/>
            <a:ext cx="12159777" cy="5869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363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71" y="379614"/>
            <a:ext cx="11665209" cy="61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061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1459</TotalTime>
  <Words>731</Words>
  <Application>Microsoft Office PowerPoint</Application>
  <PresentationFormat>Widescreen</PresentationFormat>
  <Paragraphs>85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Arial</vt:lpstr>
      <vt:lpstr>Calibri</vt:lpstr>
      <vt:lpstr>Trebuchet MS</vt:lpstr>
      <vt:lpstr>Wingdings 3</vt:lpstr>
      <vt:lpstr>Facet</vt:lpstr>
      <vt:lpstr>Teorija sistema i informacija 6</vt:lpstr>
      <vt:lpstr>Sprege u sistemu</vt:lpstr>
      <vt:lpstr>Kategorija veza  </vt:lpstr>
      <vt:lpstr>PowerPoint Presentation</vt:lpstr>
      <vt:lpstr>Odnos nivoa agregacije (v) i (v+1)</vt:lpstr>
      <vt:lpstr>PowerPoint Presentation</vt:lpstr>
      <vt:lpstr>PowerPoint Presentation</vt:lpstr>
      <vt:lpstr>Klasifikacija sistema sa 7 elemenata</vt:lpstr>
      <vt:lpstr>Veza između elemenata</vt:lpstr>
      <vt:lpstr>Pojmovi i ispitivanju</vt:lpstr>
      <vt:lpstr>Pojmovi i ispitivanju</vt:lpstr>
      <vt:lpstr>Upoznavanje strukture sistema</vt:lpstr>
      <vt:lpstr>PowerPoint Presentation</vt:lpstr>
      <vt:lpstr>Upoznavanje strukture sistema</vt:lpstr>
      <vt:lpstr>PowerPoint Presentation</vt:lpstr>
      <vt:lpstr>PowerPoint Presentation</vt:lpstr>
      <vt:lpstr>Predstavljanje strukture</vt:lpstr>
      <vt:lpstr>Incidenta matrica</vt:lpstr>
      <vt:lpstr>Dinamičke strukture</vt:lpstr>
      <vt:lpstr>PowerPoint Presentation</vt:lpstr>
      <vt:lpstr>PowerPoint Presentation</vt:lpstr>
      <vt:lpstr>Grafički oblika dinamičke strukture</vt:lpstr>
      <vt:lpstr>Opšti oblika dinamičke strukture</vt:lpstr>
      <vt:lpstr>Matrični oblik – matrica prethođenja čvorova</vt:lpstr>
      <vt:lpstr>Matrični oblik – matrica prethođenja lukova</vt:lpstr>
      <vt:lpstr>Matrični oblik – matrica čvorova - lukova</vt:lpstr>
      <vt:lpstr>Matrični oblik – matrica lukova - čvorova</vt:lpstr>
      <vt:lpstr>Matrični oblik – incidenta matrica</vt:lpstr>
      <vt:lpstr>Relacija između matrice prethođenja</vt:lpstr>
      <vt:lpstr>PowerPoint Presentation</vt:lpstr>
      <vt:lpstr>Relacija između matrice prethođenja</vt:lpstr>
      <vt:lpstr>PowerPoint Presentation</vt:lpstr>
      <vt:lpstr>Relacija između matrica prethođenja i incidentne matrice</vt:lpstr>
      <vt:lpstr>PowerPoint Presentation</vt:lpstr>
      <vt:lpstr>PowerPoint Presentation</vt:lpstr>
      <vt:lpstr>Nejednakost izlazni i ulaznih relacija</vt:lpstr>
      <vt:lpstr>PowerPoint Presentation</vt:lpstr>
      <vt:lpstr>PowerPoint Presentation</vt:lpstr>
      <vt:lpstr>Razrešenje</vt:lpstr>
      <vt:lpstr>PowerPoint Presentation</vt:lpstr>
      <vt:lpstr>Strukture sistema sa redno vezanim elementima</vt:lpstr>
      <vt:lpstr>PowerPoint Presentation</vt:lpstr>
      <vt:lpstr>Strukture sistema sa paralelno vezanim elementima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Teorija sistema i informacija 3</dc:title>
  <dc:creator>Radovan</dc:creator>
  <cp:lastModifiedBy>Radovan</cp:lastModifiedBy>
  <cp:revision>175</cp:revision>
  <dcterms:created xsi:type="dcterms:W3CDTF">2017-03-02T15:24:38Z</dcterms:created>
  <dcterms:modified xsi:type="dcterms:W3CDTF">2017-03-26T17:44:02Z</dcterms:modified>
</cp:coreProperties>
</file>