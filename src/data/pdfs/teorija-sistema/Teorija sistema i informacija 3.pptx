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76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67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0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89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1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65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011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14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0526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92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10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5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E9AF7-2AA2-4D03-BF31-1087BAAE53AE}" type="datetimeFigureOut">
              <a:rPr lang="en-US" smtClean="0"/>
              <a:t>3/5/2017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9032A70-E418-46B7-B50E-BF244F0AB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2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Teorija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informacija</a:t>
            </a:r>
            <a:r>
              <a:rPr lang="en-US" dirty="0" smtClean="0"/>
              <a:t>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doc. </a:t>
            </a:r>
            <a:r>
              <a:rPr lang="en-US" dirty="0" err="1" smtClean="0"/>
              <a:t>dr</a:t>
            </a:r>
            <a:r>
              <a:rPr lang="en-US" dirty="0" smtClean="0"/>
              <a:t> Radovan </a:t>
            </a:r>
            <a:r>
              <a:rPr lang="en-US" dirty="0" err="1" smtClean="0"/>
              <a:t>Vladisavljev</a:t>
            </a:r>
            <a:r>
              <a:rPr lang="sr-Latn-RS" dirty="0" err="1" smtClean="0"/>
              <a:t>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8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Dalja diskusija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Pošto smo definisali šta je to sistem (barem u nekom meri) dalje ćemo diskutovati o pravcima razvoja teorija sistema.</a:t>
            </a:r>
          </a:p>
          <a:p>
            <a:r>
              <a:rPr lang="sr-Latn-RS" dirty="0" smtClean="0"/>
              <a:t>Takođe, produbićemo naša znanja o tipovima sistema kroz klasifikaciju.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894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Pravci razvoja teorija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 smtClean="0"/>
              <a:t>Generalistički</a:t>
            </a:r>
            <a:r>
              <a:rPr lang="sr-Latn-RS" dirty="0" smtClean="0"/>
              <a:t> pravac razvoja.</a:t>
            </a:r>
          </a:p>
          <a:p>
            <a:r>
              <a:rPr lang="sr-Latn-RS" dirty="0" smtClean="0"/>
              <a:t>Matematičko – formalistički pravac razvoja.</a:t>
            </a:r>
          </a:p>
          <a:p>
            <a:r>
              <a:rPr lang="sr-Latn-RS" dirty="0" smtClean="0"/>
              <a:t>Interdisciplinarni razvoj.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665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Generalistički</a:t>
            </a:r>
            <a:r>
              <a:rPr lang="sr-Latn-RS" dirty="0"/>
              <a:t> pravac razvoja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Teorija sistema je jedan opšti aspekt posmatranja i ima ulogu opšteg koncepcijskog modela.</a:t>
            </a:r>
          </a:p>
          <a:p>
            <a:r>
              <a:rPr lang="sr-Latn-RS" dirty="0" smtClean="0"/>
              <a:t>Za povećanje znanja ovim putem potrebna je upotreba opštih naučnih metoda koji nastaju sintezom više različitih disciplina.</a:t>
            </a:r>
          </a:p>
          <a:p>
            <a:r>
              <a:rPr lang="sr-Latn-RS" dirty="0" smtClean="0"/>
              <a:t>Ovo mogu da izvedu „naučni </a:t>
            </a:r>
            <a:r>
              <a:rPr lang="sr-Latn-RS" dirty="0" err="1" smtClean="0"/>
              <a:t>generalisti</a:t>
            </a:r>
            <a:r>
              <a:rPr lang="sr-Latn-RS" dirty="0" smtClean="0"/>
              <a:t>“ koji su upućeni u veći broj naučnih disciplina. </a:t>
            </a:r>
          </a:p>
          <a:p>
            <a:r>
              <a:rPr lang="sr-Latn-RS" dirty="0" smtClean="0"/>
              <a:t>Na osnovu ovih znanja postiže se teorijska osnova za građenje specijalističkih znanja.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52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Matematičko – formalistički pravac razvoja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Sistema znanja se proširuju time što se izrađuje matematički sistemski model i na osnovu njih se otkrivaju nova sistemska obeležja, nova ponašanja i novi zakoni. </a:t>
            </a:r>
          </a:p>
          <a:p>
            <a:r>
              <a:rPr lang="sr-Latn-RS" dirty="0" smtClean="0"/>
              <a:t>Diskretna matematika, teorija skupova, apstraktna algebra, ….</a:t>
            </a:r>
          </a:p>
          <a:p>
            <a:r>
              <a:rPr lang="sr-Latn-RS" dirty="0" smtClean="0"/>
              <a:t>Primena je moguća tamo gde se sistem može matematički opisati, što je relativno ograničen prostor.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67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Interdisciplinarni razvoj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Fokus je na rešavanju kompleksnih problema, a manje na proširenje i produbljene sistemski znanja. </a:t>
            </a:r>
          </a:p>
          <a:p>
            <a:r>
              <a:rPr lang="sr-Latn-RS" dirty="0" smtClean="0"/>
              <a:t>Sistem čovek – mašina je tipičan primer ovog pravca razvoja.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877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Ispitivanje i upoznavanje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Sam proces upoznavanja i ispitivanja je cikličan u kojem se naizmenično ponavljaju faze: definisanja i ispitivanja.</a:t>
            </a:r>
          </a:p>
          <a:p>
            <a:r>
              <a:rPr lang="sr-Latn-RS" dirty="0" smtClean="0"/>
              <a:t>Kada se upozna jedan sistem i definišu sve karakteristike tada ili se otvaraju nova polja ispitivanja ili se sistem izmeni.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856" y="3364837"/>
            <a:ext cx="319087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4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978" y="0"/>
            <a:ext cx="310465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66226" y="785004"/>
            <a:ext cx="30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66225" y="1377352"/>
            <a:ext cx="30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666224" y="2101970"/>
            <a:ext cx="30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3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66224" y="3171645"/>
            <a:ext cx="30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4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666223" y="4344838"/>
            <a:ext cx="30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5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666223" y="5477138"/>
            <a:ext cx="30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6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666222" y="6362147"/>
            <a:ext cx="30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 smtClean="0"/>
              <a:t>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948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Definisanje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Početak algoritma je definisanje (koje se javlja na još nekoliko mesta 1, 3, 7)</a:t>
            </a:r>
          </a:p>
          <a:p>
            <a:r>
              <a:rPr lang="sr-Latn-RS" dirty="0" smtClean="0"/>
              <a:t>Polazi se od onoga što se zna o originalu (subjektu modelovanja) i to se preslikava na model M, odnosno na definiciju.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301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15" y="144429"/>
            <a:ext cx="9409689" cy="671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835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Vrste preslikavanja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 smtClean="0"/>
              <a:t>Homomorfno</a:t>
            </a:r>
            <a:r>
              <a:rPr lang="sr-Latn-RS" dirty="0" smtClean="0"/>
              <a:t>, pojednostavljivanje (model Y ne poseduje bogatstvo detalja originala X)</a:t>
            </a:r>
          </a:p>
          <a:p>
            <a:r>
              <a:rPr lang="sr-Latn-RS" dirty="0" smtClean="0"/>
              <a:t>Izomorfno, potpuno preslikavanje originala na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70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Izomorfno preslikavanje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045" y="1269999"/>
            <a:ext cx="7673513" cy="5474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86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 smtClean="0"/>
              <a:t>Homomorfno</a:t>
            </a:r>
            <a:r>
              <a:rPr lang="sr-Latn-RS" dirty="0" smtClean="0"/>
              <a:t> </a:t>
            </a:r>
            <a:r>
              <a:rPr lang="sr-Latn-RS" dirty="0"/>
              <a:t>preslikavanje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39" y="1365964"/>
            <a:ext cx="7397469" cy="52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79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Klasifikacija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Svrha klasifikacije je savladavanje kompleksnosti.</a:t>
            </a:r>
          </a:p>
          <a:p>
            <a:r>
              <a:rPr lang="sr-Latn-RS" dirty="0" smtClean="0"/>
              <a:t>Klasifikacija čini da se jedna pojava učini preglednijom i jasnijom.</a:t>
            </a:r>
          </a:p>
          <a:p>
            <a:r>
              <a:rPr lang="sr-Latn-RS" dirty="0" smtClean="0"/>
              <a:t>U dosadašnjim predavanjima već smo se sreli sa </a:t>
            </a:r>
            <a:r>
              <a:rPr lang="sr-Latn-RS" dirty="0" err="1" smtClean="0"/>
              <a:t>Boldingovom</a:t>
            </a:r>
            <a:r>
              <a:rPr lang="sr-Latn-RS" dirty="0" smtClean="0"/>
              <a:t> klasifikacijom.</a:t>
            </a:r>
          </a:p>
          <a:p>
            <a:r>
              <a:rPr lang="sr-Latn-RS" dirty="0" smtClean="0"/>
              <a:t>Međutim, klasifikacija najviše zavisi od pogleda na sistem.</a:t>
            </a:r>
          </a:p>
          <a:p>
            <a:r>
              <a:rPr lang="sr-Latn-RS" dirty="0" smtClean="0"/>
              <a:t>Tako da imamo: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Globalni nivo (nivo celine),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Aspekt unutrašnjih karakteristika,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Sa gledišta njihovog okruženja.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09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Globalna obeležja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Način nastanka.</a:t>
            </a:r>
          </a:p>
          <a:p>
            <a:r>
              <a:rPr lang="sr-Latn-RS" dirty="0" smtClean="0"/>
              <a:t>Pojavni oblik.</a:t>
            </a:r>
          </a:p>
          <a:p>
            <a:r>
              <a:rPr lang="sr-Latn-RS" dirty="0" smtClean="0"/>
              <a:t>Složenost.</a:t>
            </a:r>
          </a:p>
          <a:p>
            <a:r>
              <a:rPr lang="sr-Latn-RS" dirty="0" smtClean="0"/>
              <a:t>Povezanost sa okruženjem.</a:t>
            </a:r>
          </a:p>
          <a:p>
            <a:r>
              <a:rPr lang="sr-Latn-RS" dirty="0" smtClean="0"/>
              <a:t>Funkcionisanje</a:t>
            </a:r>
          </a:p>
          <a:p>
            <a:r>
              <a:rPr lang="sr-Latn-RS" dirty="0" smtClean="0"/>
              <a:t>Kompleksnost ponašanja.</a:t>
            </a:r>
          </a:p>
          <a:p>
            <a:r>
              <a:rPr lang="sr-Latn-RS" dirty="0" err="1" smtClean="0"/>
              <a:t>Bouldingova</a:t>
            </a:r>
            <a:r>
              <a:rPr lang="sr-Latn-RS" dirty="0" smtClean="0"/>
              <a:t> </a:t>
            </a:r>
            <a:r>
              <a:rPr lang="sr-Latn-RS" dirty="0" err="1" smtClean="0"/>
              <a:t>klasifkacija</a:t>
            </a:r>
            <a:r>
              <a:rPr lang="sr-Latn-R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438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sa gledišta načina nastanka </a:t>
            </a:r>
            <a:r>
              <a:rPr lang="el-GR" dirty="0" smtClean="0"/>
              <a:t>ξ</a:t>
            </a:r>
            <a:r>
              <a:rPr lang="sr-Latn-RS" baseline="-25000" dirty="0" smtClean="0"/>
              <a:t>10</a:t>
            </a:r>
            <a:endParaRPr lang="en-US" baseline="-25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Prirodni </a:t>
            </a:r>
          </a:p>
          <a:p>
            <a:r>
              <a:rPr lang="sr-Latn-RS" dirty="0" smtClean="0"/>
              <a:t>Veštački</a:t>
            </a:r>
          </a:p>
          <a:p>
            <a:r>
              <a:rPr lang="sr-Latn-RS" dirty="0" smtClean="0"/>
              <a:t>Prelazni (nastaju u interakciji čoveka i prirode)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607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po pojavnom obliku </a:t>
            </a:r>
            <a:r>
              <a:rPr lang="el-GR" dirty="0" smtClean="0"/>
              <a:t>ξ</a:t>
            </a:r>
            <a:r>
              <a:rPr lang="sr-Latn-RS" baseline="-25000" dirty="0" smtClean="0"/>
              <a:t>20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Realni</a:t>
            </a:r>
          </a:p>
          <a:p>
            <a:r>
              <a:rPr lang="sr-Latn-RS" dirty="0" smtClean="0"/>
              <a:t>Apstraktni</a:t>
            </a:r>
          </a:p>
          <a:p>
            <a:r>
              <a:rPr lang="sr-Latn-RS" dirty="0" smtClean="0"/>
              <a:t>Sistemi koju u sebi sadrže realne i apstraktne komponente (organizacije imaju apstraktne i realne </a:t>
            </a:r>
            <a:r>
              <a:rPr lang="sr-Latn-RS" dirty="0" err="1" smtClean="0"/>
              <a:t>komponenete</a:t>
            </a:r>
            <a:r>
              <a:rPr lang="sr-Latn-RS" dirty="0" smtClean="0"/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267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prema stepenu složenosti </a:t>
            </a:r>
            <a:r>
              <a:rPr lang="el-GR" dirty="0" smtClean="0"/>
              <a:t>ξ</a:t>
            </a:r>
            <a:r>
              <a:rPr lang="sr-Latn-RS" baseline="-25000" dirty="0" smtClean="0"/>
              <a:t>30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Složenost sistema je obeležje koje na globalnom nivou odražava sve njegove unutrašnje karakteristike.</a:t>
            </a:r>
          </a:p>
          <a:p>
            <a:r>
              <a:rPr lang="sr-Latn-RS" dirty="0" smtClean="0"/>
              <a:t>Ne postoji egzaktni nivo merenja složenosti, ali i pored toga možemo uočiti: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Proste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Složene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Veoma složene i 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Kompleksne sisteme.</a:t>
            </a:r>
          </a:p>
        </p:txBody>
      </p:sp>
    </p:spTree>
    <p:extLst>
      <p:ext uri="{BB962C8B-B14F-4D97-AF65-F5344CB8AC3E}">
        <p14:creationId xmlns:p14="http://schemas.microsoft.com/office/powerpoint/2010/main" val="2690002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Relacije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 smtClean="0"/>
              <a:t>Elemente (n)</a:t>
            </a:r>
          </a:p>
          <a:p>
            <a:r>
              <a:rPr lang="sr-Latn-RS" dirty="0" smtClean="0"/>
              <a:t>Njihove veze (V)</a:t>
            </a:r>
          </a:p>
          <a:p>
            <a:r>
              <a:rPr lang="sr-Latn-RS" dirty="0" smtClean="0"/>
              <a:t>Broj struktura (S)</a:t>
            </a:r>
          </a:p>
          <a:p>
            <a:r>
              <a:rPr lang="sr-Latn-RS" dirty="0" smtClean="0"/>
              <a:t>U slučaju da imamo dva elementa (n=2), možemo identifikovati četiri različite strukture (S=4).</a:t>
            </a:r>
          </a:p>
          <a:p>
            <a:r>
              <a:rPr lang="sr-Latn-RS" dirty="0" smtClean="0"/>
              <a:t>S</a:t>
            </a:r>
            <a:r>
              <a:rPr lang="sr-Latn-RS" baseline="-25000" dirty="0" smtClean="0"/>
              <a:t>1</a:t>
            </a:r>
            <a:r>
              <a:rPr lang="sr-Latn-RS" dirty="0" smtClean="0"/>
              <a:t> – nema relacija</a:t>
            </a:r>
          </a:p>
          <a:p>
            <a:r>
              <a:rPr lang="sr-Latn-RS" dirty="0" smtClean="0"/>
              <a:t>S</a:t>
            </a:r>
            <a:r>
              <a:rPr lang="sr-Latn-RS" baseline="-25000" dirty="0" smtClean="0"/>
              <a:t>2</a:t>
            </a:r>
            <a:r>
              <a:rPr lang="sr-Latn-RS" dirty="0" smtClean="0"/>
              <a:t> – element E</a:t>
            </a:r>
            <a:r>
              <a:rPr lang="sr-Latn-RS" baseline="-25000" dirty="0" smtClean="0"/>
              <a:t>1</a:t>
            </a:r>
            <a:r>
              <a:rPr lang="sr-Latn-RS" dirty="0" smtClean="0"/>
              <a:t> deluje na E</a:t>
            </a:r>
            <a:r>
              <a:rPr lang="sr-Latn-RS" baseline="-25000" dirty="0" smtClean="0"/>
              <a:t>2</a:t>
            </a:r>
          </a:p>
          <a:p>
            <a:r>
              <a:rPr lang="sr-Latn-RS" dirty="0" smtClean="0"/>
              <a:t>S</a:t>
            </a:r>
            <a:r>
              <a:rPr lang="sr-Latn-RS" baseline="-25000" dirty="0" smtClean="0"/>
              <a:t>3</a:t>
            </a:r>
            <a:r>
              <a:rPr lang="sr-Latn-RS" dirty="0" smtClean="0"/>
              <a:t> – element E</a:t>
            </a:r>
            <a:r>
              <a:rPr lang="sr-Latn-RS" baseline="-25000" dirty="0" smtClean="0"/>
              <a:t>2</a:t>
            </a:r>
            <a:r>
              <a:rPr lang="sr-Latn-RS" dirty="0" smtClean="0"/>
              <a:t> deluje na E</a:t>
            </a:r>
            <a:r>
              <a:rPr lang="sr-Latn-RS" baseline="-25000" dirty="0" smtClean="0"/>
              <a:t>1</a:t>
            </a:r>
          </a:p>
          <a:p>
            <a:r>
              <a:rPr lang="sr-Latn-RS" dirty="0" smtClean="0"/>
              <a:t>S</a:t>
            </a:r>
            <a:r>
              <a:rPr lang="sr-Latn-RS" baseline="-25000" dirty="0" smtClean="0"/>
              <a:t>4</a:t>
            </a:r>
            <a:r>
              <a:rPr lang="sr-Latn-RS" dirty="0" smtClean="0"/>
              <a:t> – elementi E</a:t>
            </a:r>
            <a:r>
              <a:rPr lang="sr-Latn-RS" baseline="-25000" dirty="0" smtClean="0"/>
              <a:t>1</a:t>
            </a:r>
            <a:r>
              <a:rPr lang="sr-Latn-RS" dirty="0" smtClean="0"/>
              <a:t> i E</a:t>
            </a:r>
            <a:r>
              <a:rPr lang="sr-Latn-RS" baseline="-25000" dirty="0" smtClean="0"/>
              <a:t>2</a:t>
            </a:r>
            <a:r>
              <a:rPr lang="sr-Latn-RS" dirty="0" smtClean="0"/>
              <a:t> uzajamno deluju jedni na druge.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596" y="2270507"/>
            <a:ext cx="4167250" cy="3770853"/>
          </a:xfrm>
        </p:spPr>
      </p:pic>
    </p:spTree>
    <p:extLst>
      <p:ext uri="{BB962C8B-B14F-4D97-AF65-F5344CB8AC3E}">
        <p14:creationId xmlns:p14="http://schemas.microsoft.com/office/powerpoint/2010/main" val="1591703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Određivanje broja veza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Iz prethodnog primera možemo videti da se matematički može odrediti broj veza formulom:</a:t>
            </a:r>
          </a:p>
          <a:p>
            <a:endParaRPr lang="sr-Latn-RS" dirty="0"/>
          </a:p>
          <a:p>
            <a:pPr marL="0" indent="0" algn="ctr">
              <a:buNone/>
            </a:pPr>
            <a:r>
              <a:rPr lang="sr-Latn-RS" sz="5400" dirty="0" smtClean="0"/>
              <a:t>V = n . (n - 1)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309160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Određivanje broja struktura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U odnosu na broj veza moguće je odrediti broj struktura i to formulom:</a:t>
            </a:r>
          </a:p>
          <a:p>
            <a:endParaRPr lang="sr-Latn-RS" dirty="0"/>
          </a:p>
          <a:p>
            <a:pPr marL="0" indent="0" algn="ctr">
              <a:buNone/>
            </a:pPr>
            <a:r>
              <a:rPr lang="sr-Latn-RS" sz="3600" dirty="0" smtClean="0"/>
              <a:t>S = 2</a:t>
            </a:r>
            <a:r>
              <a:rPr lang="sr-Latn-RS" sz="3600" baseline="30000" dirty="0" smtClean="0"/>
              <a:t>V </a:t>
            </a:r>
            <a:r>
              <a:rPr lang="sr-Latn-RS" sz="3600" dirty="0" smtClean="0"/>
              <a:t>= 2</a:t>
            </a:r>
            <a:r>
              <a:rPr lang="sr-Latn-RS" sz="3600" baseline="30000" dirty="0" smtClean="0"/>
              <a:t>n-(n-1)</a:t>
            </a:r>
          </a:p>
          <a:p>
            <a:endParaRPr lang="sr-Latn-RS" baseline="30000" dirty="0"/>
          </a:p>
          <a:p>
            <a:r>
              <a:rPr lang="sr-Latn-RS" dirty="0" smtClean="0"/>
              <a:t>Drugim rečima broj mogućih struktura (S) je funkcija od broja elemenata (n) sistema, i to eksponencijalna funkcija.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36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Zaključak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PROSTI SISTEMI – imaju mali broj elemenata, </a:t>
            </a:r>
            <a:r>
              <a:rPr lang="sr-Latn-RS" dirty="0" err="1" smtClean="0"/>
              <a:t>determinističku</a:t>
            </a:r>
            <a:r>
              <a:rPr lang="sr-Latn-RS" dirty="0" smtClean="0"/>
              <a:t> strukturu, jednostavna </a:t>
            </a:r>
            <a:r>
              <a:rPr lang="sr-Latn-RS" dirty="0" err="1" smtClean="0"/>
              <a:t>deterministička</a:t>
            </a:r>
            <a:r>
              <a:rPr lang="sr-Latn-RS" dirty="0" smtClean="0"/>
              <a:t> ponašanja, uglavnom su lako </a:t>
            </a:r>
            <a:r>
              <a:rPr lang="sr-Latn-RS" dirty="0" err="1" smtClean="0"/>
              <a:t>odredivi</a:t>
            </a:r>
            <a:r>
              <a:rPr lang="sr-Latn-RS" dirty="0" smtClean="0"/>
              <a:t> i ne postoje metodološke prepreke za njihovo ispitivanje.</a:t>
            </a:r>
          </a:p>
          <a:p>
            <a:r>
              <a:rPr lang="sr-Latn-RS" dirty="0" smtClean="0"/>
              <a:t>SLOŽENI SISTEMI – imaju veći broj elemenata, složeniju strukturu, ponašanje im je složenije, ali su </a:t>
            </a:r>
            <a:r>
              <a:rPr lang="sr-Latn-RS" dirty="0" err="1" smtClean="0"/>
              <a:t>deterministički</a:t>
            </a:r>
            <a:r>
              <a:rPr lang="sr-Latn-RS" dirty="0" smtClean="0"/>
              <a:t>.  </a:t>
            </a:r>
          </a:p>
          <a:p>
            <a:r>
              <a:rPr lang="sr-Latn-RS" dirty="0" smtClean="0"/>
              <a:t>VEOMA SLOŽENI SISTEMI – veliki broj elemenata, složenu strukturu koja je </a:t>
            </a:r>
            <a:r>
              <a:rPr lang="sr-Latn-RS" dirty="0" err="1" smtClean="0"/>
              <a:t>deterministička</a:t>
            </a:r>
            <a:r>
              <a:rPr lang="sr-Latn-RS" dirty="0" smtClean="0"/>
              <a:t>, ponašanje im je stohastičko.</a:t>
            </a:r>
          </a:p>
          <a:p>
            <a:r>
              <a:rPr lang="sr-Latn-RS" dirty="0" smtClean="0"/>
              <a:t>KOMPLEKSNI SISTEMI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929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sa aspekta povezanosti sa okruženjem </a:t>
            </a:r>
            <a:r>
              <a:rPr lang="el-GR" dirty="0" smtClean="0"/>
              <a:t>ξ</a:t>
            </a:r>
            <a:r>
              <a:rPr lang="sr-Latn-RS" baseline="-25000" dirty="0" smtClean="0"/>
              <a:t>40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Otvoreni sistemi</a:t>
            </a:r>
          </a:p>
          <a:p>
            <a:r>
              <a:rPr lang="sr-Latn-RS" dirty="0" smtClean="0"/>
              <a:t>Zatvoreni sistemi</a:t>
            </a:r>
          </a:p>
          <a:p>
            <a:r>
              <a:rPr lang="sr-Latn-RS" dirty="0" smtClean="0"/>
              <a:t>Poluotvoreni sistemi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3886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Otvoreni sistem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22" y="1637743"/>
            <a:ext cx="7989614" cy="491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549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Otvoreni sistem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Otvoreni sistemi imaju razmenu sa okruženjem.</a:t>
            </a:r>
          </a:p>
          <a:p>
            <a:r>
              <a:rPr lang="sr-Latn-RS" dirty="0" smtClean="0"/>
              <a:t>Kod ovih sistema možemo uočiti da poseduju ulazne, izlazne i u ulazno izlazne elemente.</a:t>
            </a:r>
          </a:p>
          <a:p>
            <a:r>
              <a:rPr lang="sr-Latn-RS" dirty="0" smtClean="0"/>
              <a:t>U našem primeru E</a:t>
            </a:r>
            <a:r>
              <a:rPr lang="sr-Latn-RS" baseline="-25000" dirty="0" smtClean="0"/>
              <a:t>1</a:t>
            </a:r>
            <a:r>
              <a:rPr lang="sr-Latn-RS" dirty="0" smtClean="0"/>
              <a:t> je ulazno izlazni element.</a:t>
            </a:r>
          </a:p>
          <a:p>
            <a:r>
              <a:rPr lang="sr-Latn-RS" dirty="0" smtClean="0"/>
              <a:t> E</a:t>
            </a:r>
            <a:r>
              <a:rPr lang="sr-Latn-RS" baseline="-25000" dirty="0" smtClean="0"/>
              <a:t>2</a:t>
            </a:r>
            <a:r>
              <a:rPr lang="sr-Latn-RS" dirty="0" smtClean="0"/>
              <a:t> i </a:t>
            </a:r>
            <a:r>
              <a:rPr lang="sr-Latn-RS" dirty="0" err="1" smtClean="0"/>
              <a:t>E</a:t>
            </a:r>
            <a:r>
              <a:rPr lang="sr-Latn-RS" baseline="-25000" dirty="0" err="1" smtClean="0"/>
              <a:t>n</a:t>
            </a:r>
            <a:r>
              <a:rPr lang="sr-Latn-RS" dirty="0" smtClean="0"/>
              <a:t> su izlazni elementi.</a:t>
            </a:r>
          </a:p>
          <a:p>
            <a:r>
              <a:rPr lang="sr-Latn-RS" dirty="0" smtClean="0"/>
              <a:t>E</a:t>
            </a:r>
            <a:r>
              <a:rPr lang="sr-Latn-RS" baseline="-25000" dirty="0" smtClean="0"/>
              <a:t>3</a:t>
            </a:r>
            <a:r>
              <a:rPr lang="sr-Latn-RS" dirty="0" smtClean="0"/>
              <a:t> i </a:t>
            </a:r>
            <a:r>
              <a:rPr lang="sr-Latn-RS" dirty="0" err="1" smtClean="0"/>
              <a:t>E</a:t>
            </a:r>
            <a:r>
              <a:rPr lang="sr-Latn-RS" baseline="-25000" dirty="0" err="1" smtClean="0"/>
              <a:t>i</a:t>
            </a:r>
            <a:r>
              <a:rPr lang="sr-Latn-RS" dirty="0" smtClean="0"/>
              <a:t> su ulazni elementi.</a:t>
            </a:r>
          </a:p>
        </p:txBody>
      </p:sp>
    </p:spTree>
    <p:extLst>
      <p:ext uri="{BB962C8B-B14F-4D97-AF65-F5344CB8AC3E}">
        <p14:creationId xmlns:p14="http://schemas.microsoft.com/office/powerpoint/2010/main" val="815457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Zatvoreni sistemi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506229"/>
            <a:ext cx="8588523" cy="450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53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Zatvoreni sistemi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Kod ovih sistema nema razmene sa okruženjem.</a:t>
            </a:r>
          </a:p>
          <a:p>
            <a:r>
              <a:rPr lang="sr-Latn-RS" dirty="0" smtClean="0"/>
              <a:t>Drugim rečima skup elemenata koji su u interakciji sa okruženjem je prazan skup.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009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Poluotvoreni sistemi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Ovo su posebna kategorija sistema koji imaju samo ulaze ili samo izlaze.</a:t>
            </a:r>
          </a:p>
          <a:p>
            <a:r>
              <a:rPr lang="sr-Latn-RS" dirty="0" smtClean="0"/>
              <a:t>Sistemi koji imaju samo izlaze nisu retka pojava. </a:t>
            </a:r>
          </a:p>
          <a:p>
            <a:r>
              <a:rPr lang="sr-Latn-RS" dirty="0" smtClean="0"/>
              <a:t>Primer: neobnovljivi izvori energije.</a:t>
            </a:r>
          </a:p>
          <a:p>
            <a:r>
              <a:rPr lang="sr-Latn-RS" dirty="0" smtClean="0"/>
              <a:t>Sistemi koji imaju samo ulaz su takođe časti u praksi. </a:t>
            </a:r>
          </a:p>
          <a:p>
            <a:r>
              <a:rPr lang="sr-Latn-RS" dirty="0" smtClean="0"/>
              <a:t>Primer: deponije, paraziti, neravnopravni odnosi.</a:t>
            </a:r>
          </a:p>
          <a:p>
            <a:r>
              <a:rPr lang="sr-Latn-RS" dirty="0" smtClean="0"/>
              <a:t>Ovi sistemi postoje dokle god postoji potencijalna razlika između njih i okoline.</a:t>
            </a:r>
          </a:p>
        </p:txBody>
      </p:sp>
    </p:spTree>
    <p:extLst>
      <p:ext uri="{BB962C8B-B14F-4D97-AF65-F5344CB8AC3E}">
        <p14:creationId xmlns:p14="http://schemas.microsoft.com/office/powerpoint/2010/main" val="1008955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prema funkcionalnost </a:t>
            </a:r>
            <a:r>
              <a:rPr lang="el-GR" dirty="0" smtClean="0"/>
              <a:t>ξ</a:t>
            </a:r>
            <a:r>
              <a:rPr lang="sr-Latn-RS" baseline="-25000" dirty="0" smtClean="0"/>
              <a:t>50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Najznačajniji pogledi sa stanovišta sistema prema funkcionalnosti su:</a:t>
            </a:r>
          </a:p>
          <a:p>
            <a:pPr>
              <a:buFont typeface="+mj-lt"/>
              <a:buAutoNum type="arabicPeriod"/>
            </a:pPr>
            <a:r>
              <a:rPr lang="sr-Latn-RS" dirty="0" smtClean="0"/>
              <a:t>Sistemi prema dinamičnosti </a:t>
            </a:r>
            <a:r>
              <a:rPr lang="el-GR" dirty="0"/>
              <a:t>ξ</a:t>
            </a:r>
            <a:r>
              <a:rPr lang="sr-Latn-RS" baseline="-25000" dirty="0" smtClean="0"/>
              <a:t>51</a:t>
            </a:r>
            <a:endParaRPr lang="sr-Latn-RS" dirty="0" smtClean="0"/>
          </a:p>
          <a:p>
            <a:pPr>
              <a:buFont typeface="+mj-lt"/>
              <a:buAutoNum type="arabicPeriod"/>
            </a:pPr>
            <a:r>
              <a:rPr lang="sr-Latn-RS" dirty="0" smtClean="0"/>
              <a:t>Sistemi prema načinu ispoljavanja </a:t>
            </a:r>
            <a:r>
              <a:rPr lang="el-GR" dirty="0"/>
              <a:t>ξ</a:t>
            </a:r>
            <a:r>
              <a:rPr lang="sr-Latn-RS" baseline="-25000" dirty="0" smtClean="0"/>
              <a:t>52</a:t>
            </a:r>
            <a:endParaRPr lang="sr-Latn-RS" dirty="0" smtClean="0"/>
          </a:p>
          <a:p>
            <a:pPr>
              <a:buFont typeface="+mj-lt"/>
              <a:buAutoNum type="arabicPeriod"/>
            </a:pPr>
            <a:r>
              <a:rPr lang="sr-Latn-RS" dirty="0" smtClean="0"/>
              <a:t>Sistemi prema trajanju </a:t>
            </a:r>
            <a:r>
              <a:rPr lang="el-GR" dirty="0"/>
              <a:t>ξ</a:t>
            </a:r>
            <a:r>
              <a:rPr lang="sr-Latn-RS" baseline="-25000" dirty="0" smtClean="0"/>
              <a:t>53</a:t>
            </a:r>
            <a:endParaRPr lang="sr-Latn-RS" dirty="0" smtClean="0"/>
          </a:p>
          <a:p>
            <a:pPr>
              <a:buFont typeface="+mj-lt"/>
              <a:buAutoNum type="arabicPeriod"/>
            </a:pPr>
            <a:r>
              <a:rPr lang="sr-Latn-RS" dirty="0" smtClean="0"/>
              <a:t>Sistemi prema izvesnosti </a:t>
            </a:r>
            <a:r>
              <a:rPr lang="el-GR" dirty="0"/>
              <a:t>ξ</a:t>
            </a:r>
            <a:r>
              <a:rPr lang="sr-Latn-RS" baseline="-25000" dirty="0" smtClean="0"/>
              <a:t>54</a:t>
            </a:r>
            <a:endParaRPr lang="sr-Latn-RS" dirty="0" smtClean="0"/>
          </a:p>
          <a:p>
            <a:pPr>
              <a:buFont typeface="+mj-lt"/>
              <a:buAutoNum type="arabicPeriod"/>
            </a:pPr>
            <a:r>
              <a:rPr lang="sr-Latn-RS" dirty="0" smtClean="0"/>
              <a:t>Sistemi prema stabilnosti </a:t>
            </a:r>
            <a:r>
              <a:rPr lang="el-GR" dirty="0"/>
              <a:t>ξ</a:t>
            </a:r>
            <a:r>
              <a:rPr lang="sr-Latn-RS" baseline="-25000" dirty="0" smtClean="0"/>
              <a:t>55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341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Sistemi prema dinamičnosti </a:t>
            </a:r>
            <a:r>
              <a:rPr lang="el-GR" dirty="0"/>
              <a:t>ξ</a:t>
            </a:r>
            <a:r>
              <a:rPr lang="sr-Latn-RS" baseline="-25000" dirty="0" smtClean="0"/>
              <a:t>51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Nulta promena, ovde je sistem neaktivan.</a:t>
            </a:r>
          </a:p>
          <a:p>
            <a:r>
              <a:rPr lang="sr-Latn-RS" dirty="0" smtClean="0"/>
              <a:t>Male konstantne promene. </a:t>
            </a:r>
          </a:p>
          <a:p>
            <a:r>
              <a:rPr lang="sr-Latn-RS" dirty="0" smtClean="0"/>
              <a:t>Male promenjive promene.</a:t>
            </a:r>
          </a:p>
          <a:p>
            <a:r>
              <a:rPr lang="sr-Latn-RS" dirty="0" smtClean="0"/>
              <a:t>Velike konstantne promene.</a:t>
            </a:r>
          </a:p>
          <a:p>
            <a:r>
              <a:rPr lang="sr-Latn-RS" dirty="0" smtClean="0"/>
              <a:t>Velike promenjive promene.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878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33" y="155131"/>
            <a:ext cx="7546216" cy="661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882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Sistemi prema načinu ispoljavanja </a:t>
            </a:r>
            <a:r>
              <a:rPr lang="el-GR" dirty="0"/>
              <a:t>ξ</a:t>
            </a:r>
            <a:r>
              <a:rPr lang="sr-Latn-RS" baseline="-25000" dirty="0"/>
              <a:t>52</a:t>
            </a:r>
            <a:r>
              <a:rPr lang="sr-Latn-RS" dirty="0"/>
              <a:t/>
            </a:r>
            <a:br>
              <a:rPr lang="sr-Latn-R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b="1" dirty="0" smtClean="0"/>
              <a:t>Sistemi sa pasivnim funkcionisanjem</a:t>
            </a:r>
            <a:r>
              <a:rPr lang="sr-Latn-RS" dirty="0" smtClean="0"/>
              <a:t>. Ovi sistemi se stalno prilagođavaju svojem okruženju ili konstantno ispoljavaju određeno ponašanje.</a:t>
            </a:r>
          </a:p>
          <a:p>
            <a:r>
              <a:rPr lang="sr-Latn-RS" b="1" dirty="0" smtClean="0"/>
              <a:t>Sistemi sa aktivnim funkcionisanjem</a:t>
            </a:r>
            <a:r>
              <a:rPr lang="sr-Latn-RS" dirty="0" smtClean="0"/>
              <a:t>. Sve obrnuto od prethodnog slučaja plus imaju težnju ka nekom određenom cilju.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590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Sistemi prema trajanju </a:t>
            </a:r>
            <a:r>
              <a:rPr lang="el-GR" dirty="0"/>
              <a:t>ξ</a:t>
            </a:r>
            <a:r>
              <a:rPr lang="sr-Latn-RS" baseline="-25000" dirty="0"/>
              <a:t>53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Sistemi sa konačnim funkcionisanjem. Ovi sistemi kada određeno stanje prestaju da funkcionišu. </a:t>
            </a:r>
          </a:p>
          <a:p>
            <a:r>
              <a:rPr lang="sr-Latn-RS" dirty="0" smtClean="0"/>
              <a:t>Sistemi sa beskonačnim funkcionisanjem.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120" y="3252157"/>
            <a:ext cx="3343095" cy="334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76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Sistemi prema izvesnosti </a:t>
            </a:r>
            <a:r>
              <a:rPr lang="el-GR" dirty="0"/>
              <a:t>ξ</a:t>
            </a:r>
            <a:r>
              <a:rPr lang="sr-Latn-RS" baseline="-25000" dirty="0"/>
              <a:t>54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 smtClean="0"/>
              <a:t>Determinističko</a:t>
            </a:r>
            <a:r>
              <a:rPr lang="sr-Latn-RS" dirty="0" smtClean="0"/>
              <a:t> funkcionisanje.</a:t>
            </a:r>
          </a:p>
          <a:p>
            <a:r>
              <a:rPr lang="sr-Latn-RS" dirty="0" smtClean="0"/>
              <a:t>Stohastičko funkcionisanje.</a:t>
            </a:r>
          </a:p>
          <a:p>
            <a:r>
              <a:rPr lang="sr-Latn-RS" dirty="0" smtClean="0"/>
              <a:t>Sistemi sa neizvesnim funkcionisanjem.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296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sa </a:t>
            </a:r>
            <a:r>
              <a:rPr lang="sr-Latn-RS" dirty="0" err="1" smtClean="0"/>
              <a:t>determinističkim</a:t>
            </a:r>
            <a:r>
              <a:rPr lang="sr-Latn-RS" dirty="0" smtClean="0"/>
              <a:t> funkcionisanjem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Svojstvo </a:t>
            </a:r>
            <a:r>
              <a:rPr lang="sr-Latn-RS" dirty="0" err="1" smtClean="0"/>
              <a:t>determinisičkog</a:t>
            </a:r>
            <a:r>
              <a:rPr lang="sr-Latn-RS" dirty="0" smtClean="0"/>
              <a:t> ponašanja je određenost na globalnome nivou.</a:t>
            </a:r>
          </a:p>
          <a:p>
            <a:r>
              <a:rPr lang="sr-Latn-RS" dirty="0" smtClean="0"/>
              <a:t>Određenost i </a:t>
            </a:r>
            <a:r>
              <a:rPr lang="sr-Latn-RS" dirty="0" err="1" smtClean="0"/>
              <a:t>jednoznačnost</a:t>
            </a:r>
            <a:r>
              <a:rPr lang="sr-Latn-RS" dirty="0" smtClean="0"/>
              <a:t> su osnovne karakteristike ovih sistema.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19" y="3653646"/>
            <a:ext cx="3810000" cy="25527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884" y="3204125"/>
            <a:ext cx="6089377" cy="342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0342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Sistemi sa </a:t>
            </a:r>
            <a:r>
              <a:rPr lang="sr-Latn-RS" dirty="0" smtClean="0"/>
              <a:t>stohastičkim </a:t>
            </a:r>
            <a:r>
              <a:rPr lang="sr-Latn-RS" dirty="0"/>
              <a:t>funkcionisanjem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se pod istim okolnostima i uticajima javljaju različita ponašanja i ispoljava različite efekte.</a:t>
            </a:r>
          </a:p>
          <a:p>
            <a:r>
              <a:rPr lang="sr-Latn-RS" dirty="0" smtClean="0"/>
              <a:t>Ovo ponašanje se može predvideti na statističkim nivou. (ponavljanjem se može utvrditi neka zakonitost)</a:t>
            </a:r>
          </a:p>
          <a:p>
            <a:r>
              <a:rPr lang="sr-Latn-RS" dirty="0" smtClean="0"/>
              <a:t>Verovatnoćom se može utvrditi određen stepen izvesnosti prilikom predviđanja.    </a:t>
            </a:r>
          </a:p>
          <a:p>
            <a:r>
              <a:rPr lang="sr-Latn-RS" dirty="0" smtClean="0"/>
              <a:t>Višeznačnost je glavna karakteristika ovog sistema.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209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NAPOMENA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Prilikom istraživanja prvo imamo sisteme sa neizvesnim funkcionisanjem.</a:t>
            </a:r>
          </a:p>
          <a:p>
            <a:r>
              <a:rPr lang="sr-Latn-RS" dirty="0" smtClean="0"/>
              <a:t>Što ga više upoznajemo to se približavamo stohastičkim sistemima.</a:t>
            </a:r>
          </a:p>
          <a:p>
            <a:r>
              <a:rPr lang="sr-Latn-RS" dirty="0" smtClean="0"/>
              <a:t>Kada se razviju dovoljno jake metode kojim se može opisati sistem i predvideti njegovo ponašanja tada ulazimo u domen </a:t>
            </a:r>
            <a:r>
              <a:rPr lang="sr-Latn-RS" dirty="0" err="1" smtClean="0"/>
              <a:t>determinističkih</a:t>
            </a:r>
            <a:r>
              <a:rPr lang="sr-Latn-RS" dirty="0" smtClean="0"/>
              <a:t> sistema.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486" y="4017264"/>
            <a:ext cx="3953256" cy="284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682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Sistemi prema stabilnosti </a:t>
            </a:r>
            <a:r>
              <a:rPr lang="el-GR" dirty="0"/>
              <a:t>ξ</a:t>
            </a:r>
            <a:r>
              <a:rPr lang="sr-Latn-RS" baseline="-25000" dirty="0"/>
              <a:t>55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Sistemi sa </a:t>
            </a:r>
            <a:r>
              <a:rPr lang="sr-Latn-RS" b="1" dirty="0" smtClean="0"/>
              <a:t>stabilnim</a:t>
            </a:r>
            <a:r>
              <a:rPr lang="sr-Latn-RS" dirty="0" smtClean="0"/>
              <a:t> funkcionisanjem. Ovi sistemi posle izbacivanja iz ravnoteže, teže da se vrate u ravnotežno stanje.</a:t>
            </a:r>
          </a:p>
          <a:p>
            <a:r>
              <a:rPr lang="sr-Latn-RS" dirty="0" smtClean="0"/>
              <a:t>Sistemi sa </a:t>
            </a:r>
            <a:r>
              <a:rPr lang="sr-Latn-RS" b="1" dirty="0" smtClean="0"/>
              <a:t>nestabilnim</a:t>
            </a:r>
            <a:r>
              <a:rPr lang="sr-Latn-RS" dirty="0" smtClean="0"/>
              <a:t> funkcionisanjem. Ovi sistemi se ne mogu sami vratiti u ravnotežno stanje.</a:t>
            </a:r>
          </a:p>
          <a:p>
            <a:r>
              <a:rPr lang="sr-Latn-RS" b="1" dirty="0" smtClean="0"/>
              <a:t>Indiferentni</a:t>
            </a:r>
            <a:r>
              <a:rPr lang="sr-Latn-RS" dirty="0" smtClean="0"/>
              <a:t> sistemi. Posle dejstva </a:t>
            </a:r>
            <a:r>
              <a:rPr lang="sr-Latn-RS" dirty="0" err="1" smtClean="0"/>
              <a:t>neravnotežnih</a:t>
            </a:r>
            <a:r>
              <a:rPr lang="sr-Latn-RS" dirty="0" smtClean="0"/>
              <a:t> dejstava ostaju u </a:t>
            </a:r>
            <a:r>
              <a:rPr lang="sr-Latn-RS" dirty="0" err="1" smtClean="0"/>
              <a:t>neravnotežnom</a:t>
            </a:r>
            <a:r>
              <a:rPr lang="sr-Latn-RS" dirty="0" smtClean="0"/>
              <a:t> stanju.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764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Sistemi prema kompleksnosti </a:t>
            </a:r>
            <a:r>
              <a:rPr lang="el-GR" dirty="0" smtClean="0"/>
              <a:t>ξ</a:t>
            </a:r>
            <a:r>
              <a:rPr lang="sr-Latn-RS" baseline="-25000" dirty="0" smtClean="0"/>
              <a:t>60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err="1" smtClean="0"/>
              <a:t>Samoregulišući</a:t>
            </a:r>
            <a:r>
              <a:rPr lang="sr-Latn-RS" dirty="0" smtClean="0"/>
              <a:t> sistemi </a:t>
            </a:r>
            <a:r>
              <a:rPr lang="el-GR" dirty="0"/>
              <a:t>ξ</a:t>
            </a:r>
            <a:r>
              <a:rPr lang="sr-Latn-RS" baseline="-25000" dirty="0" smtClean="0"/>
              <a:t>61</a:t>
            </a:r>
            <a:endParaRPr lang="sr-Latn-RS" dirty="0" smtClean="0"/>
          </a:p>
          <a:p>
            <a:r>
              <a:rPr lang="sr-Latn-RS" dirty="0" smtClean="0"/>
              <a:t>Adaptivni sistemi </a:t>
            </a:r>
            <a:r>
              <a:rPr lang="el-GR" dirty="0"/>
              <a:t>ξ</a:t>
            </a:r>
            <a:r>
              <a:rPr lang="sr-Latn-RS" baseline="-25000" dirty="0" smtClean="0"/>
              <a:t>62</a:t>
            </a:r>
            <a:endParaRPr lang="sr-Latn-RS" dirty="0" smtClean="0"/>
          </a:p>
          <a:p>
            <a:r>
              <a:rPr lang="sr-Latn-RS" dirty="0" smtClean="0"/>
              <a:t>Samoobučavajući sistemi </a:t>
            </a:r>
            <a:r>
              <a:rPr lang="el-GR" dirty="0"/>
              <a:t>ξ</a:t>
            </a:r>
            <a:r>
              <a:rPr lang="sr-Latn-RS" baseline="-25000" dirty="0" smtClean="0"/>
              <a:t>63</a:t>
            </a:r>
            <a:endParaRPr lang="sr-Latn-RS" dirty="0" smtClean="0"/>
          </a:p>
          <a:p>
            <a:r>
              <a:rPr lang="sr-Latn-RS" dirty="0" err="1" smtClean="0"/>
              <a:t>Samorazvojni</a:t>
            </a:r>
            <a:r>
              <a:rPr lang="sr-Latn-RS" dirty="0" smtClean="0"/>
              <a:t> sistemi </a:t>
            </a:r>
            <a:r>
              <a:rPr lang="el-GR" dirty="0"/>
              <a:t>ξ</a:t>
            </a:r>
            <a:r>
              <a:rPr lang="sr-Latn-RS" baseline="-25000" dirty="0" smtClean="0"/>
              <a:t>64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645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Samoregulišući</a:t>
            </a:r>
            <a:r>
              <a:rPr lang="sr-Latn-RS" dirty="0"/>
              <a:t> sistemi </a:t>
            </a:r>
            <a:r>
              <a:rPr lang="el-GR" dirty="0"/>
              <a:t>ξ</a:t>
            </a:r>
            <a:r>
              <a:rPr lang="sr-Latn-RS" baseline="-25000" dirty="0"/>
              <a:t>61</a:t>
            </a:r>
            <a:r>
              <a:rPr lang="sr-Latn-RS" dirty="0"/>
              <a:t/>
            </a:r>
            <a:br>
              <a:rPr lang="sr-Latn-R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Ovi sistemi su u stanju da regulišu svoje ponašanje.</a:t>
            </a:r>
          </a:p>
          <a:p>
            <a:r>
              <a:rPr lang="sr-Latn-RS" dirty="0" smtClean="0"/>
              <a:t>Za ovo im je potrebna određen struktura.</a:t>
            </a:r>
          </a:p>
          <a:p>
            <a:r>
              <a:rPr lang="sr-Latn-RS" dirty="0" smtClean="0"/>
              <a:t>Negativna povratna veza je ključna za ove sisteme.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468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59" y="254150"/>
            <a:ext cx="9585058" cy="6528698"/>
          </a:xfrm>
        </p:spPr>
      </p:pic>
    </p:spTree>
    <p:extLst>
      <p:ext uri="{BB962C8B-B14F-4D97-AF65-F5344CB8AC3E}">
        <p14:creationId xmlns:p14="http://schemas.microsoft.com/office/powerpoint/2010/main" val="10374555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Adaptivni sistemi </a:t>
            </a:r>
            <a:r>
              <a:rPr lang="el-GR" dirty="0"/>
              <a:t>ξ</a:t>
            </a:r>
            <a:r>
              <a:rPr lang="sr-Latn-RS" baseline="-25000" dirty="0"/>
              <a:t>62</a:t>
            </a:r>
            <a:r>
              <a:rPr lang="sr-Latn-RS" dirty="0"/>
              <a:t/>
            </a:r>
            <a:br>
              <a:rPr lang="sr-Latn-R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Kada jedan sistem ima sposobnost da prilagođavanja promene svog </a:t>
            </a:r>
            <a:r>
              <a:rPr lang="sr-Latn-RS" dirty="0" err="1" smtClean="0"/>
              <a:t>okruđenja</a:t>
            </a:r>
            <a:r>
              <a:rPr lang="sr-Latn-RS" dirty="0" smtClean="0"/>
              <a:t>, tada kažemo da se radi o adaptivnom sistemu.</a:t>
            </a:r>
          </a:p>
          <a:p>
            <a:r>
              <a:rPr lang="sr-Latn-RS" dirty="0" smtClean="0"/>
              <a:t>Adaptivni sistem na globalnom nivou sadrži dva sistema. </a:t>
            </a:r>
          </a:p>
          <a:p>
            <a:r>
              <a:rPr lang="sr-Latn-RS" dirty="0" smtClean="0"/>
              <a:t>Prvi je interni regulator</a:t>
            </a:r>
          </a:p>
          <a:p>
            <a:r>
              <a:rPr lang="sr-Latn-RS" dirty="0" smtClean="0"/>
              <a:t>Drugi je adaptivni regulator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019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765" y="113439"/>
            <a:ext cx="8414119" cy="662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2667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Samoobučavajući sistemi </a:t>
            </a:r>
            <a:r>
              <a:rPr lang="el-GR" dirty="0"/>
              <a:t>ξ</a:t>
            </a:r>
            <a:r>
              <a:rPr lang="sr-Latn-RS" baseline="-25000" dirty="0"/>
              <a:t>63</a:t>
            </a:r>
            <a:r>
              <a:rPr lang="sr-Latn-RS" dirty="0"/>
              <a:t/>
            </a:r>
            <a:br>
              <a:rPr lang="sr-Latn-R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Prilikom interakcije sa okruženjem sistem poboljšava svoja buduća dejstva.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6738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err="1"/>
              <a:t>Samorazvojni</a:t>
            </a:r>
            <a:r>
              <a:rPr lang="sr-Latn-RS" dirty="0"/>
              <a:t> sistemi </a:t>
            </a:r>
            <a:r>
              <a:rPr lang="el-GR" dirty="0"/>
              <a:t>ξ</a:t>
            </a:r>
            <a:r>
              <a:rPr lang="sr-Latn-RS" baseline="-25000" dirty="0"/>
              <a:t>64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Povećana sposobnost prilagođavanja.</a:t>
            </a:r>
          </a:p>
          <a:p>
            <a:r>
              <a:rPr lang="sr-Latn-RS" dirty="0" smtClean="0"/>
              <a:t>Povećana sposobnost učenja.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1237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601</TotalTime>
  <Words>1302</Words>
  <Application>Microsoft Office PowerPoint</Application>
  <PresentationFormat>Widescreen</PresentationFormat>
  <Paragraphs>175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Trebuchet MS</vt:lpstr>
      <vt:lpstr>Wingdings 3</vt:lpstr>
      <vt:lpstr>Facet</vt:lpstr>
      <vt:lpstr>Teorija sistema i informacija 3</vt:lpstr>
      <vt:lpstr>Dalja diskusija</vt:lpstr>
      <vt:lpstr>Pravci razvoja teorija sistema</vt:lpstr>
      <vt:lpstr>Generalistički pravac razvoja</vt:lpstr>
      <vt:lpstr>Matematičko – formalistički pravac razvoja</vt:lpstr>
      <vt:lpstr>Interdisciplinarni razvoj</vt:lpstr>
      <vt:lpstr>Ispitivanje i upoznavanje sistema</vt:lpstr>
      <vt:lpstr>PowerPoint Presentation</vt:lpstr>
      <vt:lpstr>Definisanje</vt:lpstr>
      <vt:lpstr>PowerPoint Presentation</vt:lpstr>
      <vt:lpstr>Vrste preslikavanja</vt:lpstr>
      <vt:lpstr>Izomorfno preslikavanje</vt:lpstr>
      <vt:lpstr>Homomorfno preslikavanje</vt:lpstr>
      <vt:lpstr>Klasifikacija sistema</vt:lpstr>
      <vt:lpstr>Globalna obeležja</vt:lpstr>
      <vt:lpstr>Sistemi sa gledišta načina nastanka ξ10</vt:lpstr>
      <vt:lpstr>Sistemi po pojavnom obliku ξ20</vt:lpstr>
      <vt:lpstr>Sistemi prema stepenu složenosti ξ30</vt:lpstr>
      <vt:lpstr>Relacije</vt:lpstr>
      <vt:lpstr>Određivanje broja veza</vt:lpstr>
      <vt:lpstr>Određivanje broja struktura</vt:lpstr>
      <vt:lpstr>Zaključak</vt:lpstr>
      <vt:lpstr>Sistemi sa aspekta povezanosti sa okruženjem ξ40</vt:lpstr>
      <vt:lpstr>Otvoreni sistem</vt:lpstr>
      <vt:lpstr>Otvoreni sistem</vt:lpstr>
      <vt:lpstr>Zatvoreni sistemi</vt:lpstr>
      <vt:lpstr>Zatvoreni sistemi</vt:lpstr>
      <vt:lpstr>Poluotvoreni sistemi</vt:lpstr>
      <vt:lpstr>Sistemi prema funkcionalnost ξ50</vt:lpstr>
      <vt:lpstr>Sistemi prema dinamičnosti ξ51</vt:lpstr>
      <vt:lpstr>PowerPoint Presentation</vt:lpstr>
      <vt:lpstr>Sistemi prema načinu ispoljavanja ξ52 </vt:lpstr>
      <vt:lpstr>Sistemi prema trajanju ξ53</vt:lpstr>
      <vt:lpstr>Sistemi prema izvesnosti ξ54</vt:lpstr>
      <vt:lpstr>Sistemi sa determinističkim funkcionisanjem</vt:lpstr>
      <vt:lpstr>Sistemi sa stohastičkim funkcionisanjem</vt:lpstr>
      <vt:lpstr>NAPOMENA</vt:lpstr>
      <vt:lpstr>Sistemi prema stabilnosti ξ55 </vt:lpstr>
      <vt:lpstr>Sistemi prema kompleksnosti ξ60</vt:lpstr>
      <vt:lpstr>Samoregulišući sistemi ξ61 </vt:lpstr>
      <vt:lpstr>PowerPoint Presentation</vt:lpstr>
      <vt:lpstr>Adaptivni sistemi ξ62 </vt:lpstr>
      <vt:lpstr>PowerPoint Presentation</vt:lpstr>
      <vt:lpstr>Samoobučavajući sistemi ξ63 </vt:lpstr>
      <vt:lpstr>Samorazvojni sistemi ξ64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Teorija sistema i informacija 3</dc:title>
  <dc:creator>Radovan</dc:creator>
  <cp:lastModifiedBy>Radovan</cp:lastModifiedBy>
  <cp:revision>54</cp:revision>
  <dcterms:created xsi:type="dcterms:W3CDTF">2017-03-02T15:24:38Z</dcterms:created>
  <dcterms:modified xsi:type="dcterms:W3CDTF">2017-03-05T14:28:02Z</dcterms:modified>
</cp:coreProperties>
</file>