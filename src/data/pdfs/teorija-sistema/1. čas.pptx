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62" r:id="rId5"/>
    <p:sldId id="261" r:id="rId6"/>
    <p:sldId id="259" r:id="rId7"/>
    <p:sldId id="260" r:id="rId8"/>
    <p:sldId id="258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16A4-6A8E-4293-800C-D492951AE4A8}" type="datetimeFigureOut">
              <a:rPr lang="en-US" smtClean="0"/>
              <a:t>09-Apr-19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F2BD-D198-4D89-B280-E807E56767E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16A4-6A8E-4293-800C-D492951AE4A8}" type="datetimeFigureOut">
              <a:rPr lang="en-US" smtClean="0"/>
              <a:t>09-Apr-19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F2BD-D198-4D89-B280-E807E56767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16A4-6A8E-4293-800C-D492951AE4A8}" type="datetimeFigureOut">
              <a:rPr lang="en-US" smtClean="0"/>
              <a:t>09-Apr-19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F2BD-D198-4D89-B280-E807E56767E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16A4-6A8E-4293-800C-D492951AE4A8}" type="datetimeFigureOut">
              <a:rPr lang="en-US" smtClean="0"/>
              <a:t>09-Apr-19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F2BD-D198-4D89-B280-E807E56767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16A4-6A8E-4293-800C-D492951AE4A8}" type="datetimeFigureOut">
              <a:rPr lang="en-US" smtClean="0"/>
              <a:t>09-Apr-19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F2BD-D198-4D89-B280-E807E56767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16A4-6A8E-4293-800C-D492951AE4A8}" type="datetimeFigureOut">
              <a:rPr lang="en-US" smtClean="0"/>
              <a:t>09-Apr-19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F2BD-D198-4D89-B280-E807E56767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16A4-6A8E-4293-800C-D492951AE4A8}" type="datetimeFigureOut">
              <a:rPr lang="en-US" smtClean="0"/>
              <a:t>09-Apr-19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F2BD-D198-4D89-B280-E807E56767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16A4-6A8E-4293-800C-D492951AE4A8}" type="datetimeFigureOut">
              <a:rPr lang="en-US" smtClean="0"/>
              <a:t>09-Apr-19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F2BD-D198-4D89-B280-E807E56767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16A4-6A8E-4293-800C-D492951AE4A8}" type="datetimeFigureOut">
              <a:rPr lang="en-US" smtClean="0"/>
              <a:t>09-Apr-19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FD0F2BD-D198-4D89-B280-E807E56767E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16A4-6A8E-4293-800C-D492951AE4A8}" type="datetimeFigureOut">
              <a:rPr lang="en-US" smtClean="0"/>
              <a:t>09-Apr-19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F2BD-D198-4D89-B280-E807E56767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16A4-6A8E-4293-800C-D492951AE4A8}" type="datetimeFigureOut">
              <a:rPr lang="en-US" smtClean="0"/>
              <a:t>09-Apr-19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F2BD-D198-4D89-B280-E807E56767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37D16A4-6A8E-4293-800C-D492951AE4A8}" type="datetimeFigureOut">
              <a:rPr lang="en-US" smtClean="0"/>
              <a:t>09-Apr-19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FD0F2BD-D198-4D89-B280-E807E56767EE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sr-Latn-RS" dirty="0" smtClean="0"/>
              <a:t>UML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sr-Latn-RS" dirty="0" smtClean="0"/>
              <a:t>UML predstavlja jezik modelovanja koji pomaže da se vizuelno prikaže korisnicima </a:t>
            </a:r>
          </a:p>
          <a:p>
            <a:pPr>
              <a:buFont typeface="Wingdings" pitchFamily="2" charset="2"/>
              <a:buChar char="Ø"/>
            </a:pPr>
            <a:r>
              <a:rPr lang="sr-Latn-RS" dirty="0" smtClean="0"/>
              <a:t>On dokumentuje elemente softverskih sistema.</a:t>
            </a:r>
          </a:p>
          <a:p>
            <a:pPr>
              <a:buFont typeface="Wingdings" pitchFamily="2" charset="2"/>
              <a:buChar char="Ø"/>
            </a:pPr>
            <a:r>
              <a:rPr lang="sr-Latn-RS" dirty="0" smtClean="0"/>
              <a:t>Osnovni elementi modela su: </a:t>
            </a:r>
          </a:p>
          <a:p>
            <a:pPr marL="514350" indent="-514350">
              <a:buAutoNum type="arabicParenR"/>
            </a:pPr>
            <a:r>
              <a:rPr lang="sr-Latn-RS" dirty="0" smtClean="0"/>
              <a:t>K</a:t>
            </a:r>
            <a:r>
              <a:rPr lang="sr-Latn-RS" dirty="0" smtClean="0"/>
              <a:t>lase, veze između njih</a:t>
            </a:r>
          </a:p>
          <a:p>
            <a:pPr marL="514350" indent="-514350">
              <a:buAutoNum type="arabicParenR"/>
            </a:pPr>
            <a:r>
              <a:rPr lang="sr-Latn-RS" dirty="0" smtClean="0"/>
              <a:t>Objekti, veze između njih</a:t>
            </a:r>
          </a:p>
          <a:p>
            <a:pPr marL="514350" indent="-514350">
              <a:buAutoNum type="arabicParenR"/>
            </a:pPr>
            <a:r>
              <a:rPr lang="en-US" dirty="0" smtClean="0"/>
              <a:t>P</a:t>
            </a:r>
            <a:r>
              <a:rPr lang="sr-Latn-RS" dirty="0" smtClean="0"/>
              <a:t>aketi</a:t>
            </a:r>
          </a:p>
          <a:p>
            <a:pPr marL="514350" indent="-514350">
              <a:buAutoNum type="arabicParenR"/>
            </a:pPr>
            <a:r>
              <a:rPr lang="en-US" dirty="0" smtClean="0"/>
              <a:t>I</a:t>
            </a:r>
            <a:r>
              <a:rPr lang="sr-Latn-RS" dirty="0" smtClean="0"/>
              <a:t>nterfejs</a:t>
            </a:r>
          </a:p>
          <a:p>
            <a:pPr marL="514350" indent="-51435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sr-Latn-RS" dirty="0" smtClean="0"/>
              <a:t>Objekat opisuje pojedinačni predmet bilo da je stvaran ili apstraktan sa definisanom ulogom u domenu problema.</a:t>
            </a:r>
          </a:p>
          <a:p>
            <a:pPr algn="just">
              <a:buFont typeface="Wingdings" pitchFamily="2" charset="2"/>
              <a:buChar char="Ø"/>
            </a:pPr>
            <a:r>
              <a:rPr lang="sr-Latn-RS" dirty="0" smtClean="0"/>
              <a:t>Određen je svojim stanjem, ponašanjem i identitetom.</a:t>
            </a:r>
          </a:p>
          <a:p>
            <a:pPr algn="just">
              <a:buFont typeface="Wingdings" pitchFamily="2" charset="2"/>
              <a:buChar char="Ø"/>
            </a:pPr>
            <a:r>
              <a:rPr lang="sr-Latn-RS" dirty="0" smtClean="0"/>
              <a:t>Stanje objekta obuhvata sve osobine posmatranog objekta i sve vrednosti tih osobina.</a:t>
            </a:r>
          </a:p>
          <a:p>
            <a:pPr algn="just">
              <a:buFont typeface="Wingdings" pitchFamily="2" charset="2"/>
              <a:buChar char="Ø"/>
            </a:pPr>
            <a:r>
              <a:rPr lang="sr-Latn-RS" dirty="0" smtClean="0"/>
              <a:t>Osobine objekata su predstavljane njegovim atributima, a vrednosti tih osobina vrednostima atributa.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sr-Latn-RS" dirty="0" smtClean="0"/>
              <a:t>Ponašanje objekata zavisi od operacije izvršene nad tim objektom i od stanja u kojem se on nalazio u trenutku njenog izvršenja. </a:t>
            </a:r>
          </a:p>
          <a:p>
            <a:pPr algn="just">
              <a:buFont typeface="Wingdings" pitchFamily="2" charset="2"/>
              <a:buChar char="Ø"/>
            </a:pPr>
            <a:r>
              <a:rPr lang="sr-Latn-RS" dirty="0" smtClean="0"/>
              <a:t>Svaka osobina objekata ima neku vrednost jednostavnu ili složenu.</a:t>
            </a:r>
          </a:p>
          <a:p>
            <a:pPr algn="just">
              <a:buFont typeface="Wingdings" pitchFamily="2" charset="2"/>
              <a:buChar char="Ø"/>
            </a:pPr>
            <a:r>
              <a:rPr lang="sr-Latn-RS" dirty="0" smtClean="0"/>
              <a:t>Osobina ima statičku ili dinamičku vrednost. </a:t>
            </a:r>
          </a:p>
          <a:p>
            <a:pPr algn="just">
              <a:buFont typeface="Wingdings" pitchFamily="2" charset="2"/>
              <a:buChar char="Ø"/>
            </a:pPr>
            <a:r>
              <a:rPr lang="sr-Latn-RS" dirty="0" smtClean="0"/>
              <a:t>Statička vrenost je vrednost koja se tokom vremena ne menja, a dinamička suprotno. 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sr-Latn-RS" dirty="0" smtClean="0"/>
              <a:t>Identitet je karakteristika objekata kojom se on identifikuje iz skupa objekata. </a:t>
            </a:r>
          </a:p>
          <a:p>
            <a:pPr algn="just">
              <a:buFont typeface="Wingdings" pitchFamily="2" charset="2"/>
              <a:buChar char="Ø"/>
            </a:pPr>
            <a:r>
              <a:rPr lang="sr-Latn-RS" dirty="0" smtClean="0"/>
              <a:t>Struktura objekata čini skup svih njegovih atributa i operacija.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Dve vrste UML dijagrama: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sr-Latn-RS" dirty="0" smtClean="0"/>
              <a:t>Statički – klas dijagram, dijagram objekata, dijagram paketa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D</a:t>
            </a:r>
            <a:r>
              <a:rPr lang="sr-Latn-RS" dirty="0" smtClean="0"/>
              <a:t>inamički – dijagram komuniakcije, dijagram slučaja, dijagram sekvence</a:t>
            </a:r>
          </a:p>
          <a:p>
            <a:endParaRPr lang="sr-Latn-RS" dirty="0" smtClean="0"/>
          </a:p>
          <a:p>
            <a:pPr>
              <a:buFont typeface="Wingdings" pitchFamily="2" charset="2"/>
              <a:buChar char="Ø"/>
            </a:pPr>
            <a:r>
              <a:rPr lang="sr-Latn-RS" dirty="0" smtClean="0"/>
              <a:t>Vezama se opisuju različite zakonitosti i ograničenja koja važe između objekata i sistema.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Klase i objekti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sr-Latn-RS" dirty="0" smtClean="0"/>
              <a:t>Klasa predstavlja skup objekata koji imaju iste atribute i operacije.</a:t>
            </a:r>
          </a:p>
          <a:p>
            <a:pPr>
              <a:buFont typeface="Wingdings" pitchFamily="2" charset="2"/>
              <a:buChar char="Ø"/>
            </a:pPr>
            <a:r>
              <a:rPr lang="sr-Latn-RS" dirty="0" smtClean="0"/>
              <a:t>Objekat je pojam posmatrane klase i ima određenu ulogu u sistemu.</a:t>
            </a:r>
          </a:p>
          <a:p>
            <a:pPr>
              <a:buFont typeface="Wingdings" pitchFamily="2" charset="2"/>
              <a:buChar char="Ø"/>
            </a:pPr>
            <a:r>
              <a:rPr lang="sr-Latn-RS" dirty="0" smtClean="0"/>
              <a:t>Spoljašnji izgled klasa može biti podeljen u tri dela:</a:t>
            </a:r>
          </a:p>
          <a:p>
            <a:pPr>
              <a:buNone/>
            </a:pPr>
            <a:r>
              <a:rPr lang="sr-Latn-RS" dirty="0" smtClean="0"/>
              <a:t>   1) javni</a:t>
            </a:r>
          </a:p>
          <a:p>
            <a:pPr>
              <a:buNone/>
            </a:pPr>
            <a:r>
              <a:rPr lang="sr-Latn-RS" dirty="0" smtClean="0"/>
              <a:t>   2) zaštićeni</a:t>
            </a:r>
          </a:p>
          <a:p>
            <a:pPr>
              <a:buNone/>
            </a:pPr>
            <a:r>
              <a:rPr lang="sr-Latn-RS" dirty="0" smtClean="0"/>
              <a:t>   3) privatni</a:t>
            </a:r>
            <a:endParaRPr lang="sr-Latn-RS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sr-Latn-RS" dirty="0" smtClean="0"/>
              <a:t>Javni deo predstavlja skup deklaracija koje su dostupne objektima drugih klasa</a:t>
            </a:r>
          </a:p>
          <a:p>
            <a:pPr algn="just">
              <a:buFont typeface="Wingdings" pitchFamily="2" charset="2"/>
              <a:buChar char="Ø"/>
            </a:pPr>
            <a:r>
              <a:rPr lang="sr-Latn-RS" dirty="0" smtClean="0"/>
              <a:t>Zaštićeni deo je skup svih deklaracija koje su dostupne samo toj klasi i njenim podklasama.</a:t>
            </a:r>
          </a:p>
          <a:p>
            <a:pPr algn="just">
              <a:buFont typeface="Wingdings" pitchFamily="2" charset="2"/>
              <a:buChar char="Ø"/>
            </a:pPr>
            <a:r>
              <a:rPr lang="sr-Latn-RS" dirty="0" smtClean="0"/>
              <a:t>Privatni deo je skup svih deklaracija koje su dostupne samo toj klasi.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Dijagrami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sr-Latn-RS" dirty="0" smtClean="0"/>
              <a:t>Dijagrami predstavljaju grafičku prezentaciju skupa povezanih elemenata.</a:t>
            </a:r>
          </a:p>
          <a:p>
            <a:pPr algn="just">
              <a:buFont typeface="Wingdings" pitchFamily="2" charset="2"/>
              <a:buChar char="Ø"/>
            </a:pPr>
            <a:r>
              <a:rPr lang="sr-Latn-RS" dirty="0" smtClean="0"/>
              <a:t>Pojavljuju se u obliku stvari povezani relacijama. </a:t>
            </a:r>
          </a:p>
          <a:p>
            <a:pPr algn="just">
              <a:buFont typeface="Wingdings" pitchFamily="2" charset="2"/>
              <a:buChar char="Ø"/>
            </a:pPr>
            <a:r>
              <a:rPr lang="sr-Latn-RS" dirty="0" smtClean="0"/>
              <a:t>Vrste UML dijagrama:</a:t>
            </a:r>
          </a:p>
          <a:p>
            <a:pPr marL="514350" indent="-514350">
              <a:buAutoNum type="arabicParenR"/>
            </a:pPr>
            <a:r>
              <a:rPr lang="en-US" dirty="0" smtClean="0"/>
              <a:t>D</a:t>
            </a:r>
            <a:r>
              <a:rPr lang="sr-Latn-RS" dirty="0" smtClean="0"/>
              <a:t>ijagram za prikaz statičkih aspekata sistema</a:t>
            </a:r>
          </a:p>
          <a:p>
            <a:pPr marL="514350" indent="-514350">
              <a:buAutoNum type="arabicParenR"/>
            </a:pPr>
            <a:r>
              <a:rPr lang="sr-Latn-RS" dirty="0" smtClean="0"/>
              <a:t>Dijagram za prikaz dinamičkih aspekata sistema</a:t>
            </a:r>
          </a:p>
          <a:p>
            <a:pPr marL="514350" indent="-51435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sr-Latn-RS" dirty="0" smtClean="0"/>
              <a:t>Dijagram slučaja – USE 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38912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sr-Latn-RS" dirty="0" smtClean="0"/>
              <a:t>Prikazuje skup slučajeva korišćenja i aktera. Dijagram prikazuje ponašanje sistema, podsistema, klase ili interfejsa.</a:t>
            </a:r>
          </a:p>
          <a:p>
            <a:pPr>
              <a:buFont typeface="Wingdings" pitchFamily="2" charset="2"/>
              <a:buChar char="Ø"/>
            </a:pPr>
            <a:r>
              <a:rPr lang="sr-Latn-RS" dirty="0" smtClean="0"/>
              <a:t>Ovaj dijagram služi korisniku da razume šta sistem radi , a verifikatoru da proveri funkcionisanje .</a:t>
            </a:r>
          </a:p>
          <a:p>
            <a:pPr>
              <a:buFont typeface="Wingdings" pitchFamily="2" charset="2"/>
              <a:buChar char="Ø"/>
            </a:pPr>
            <a:r>
              <a:rPr lang="sr-Latn-RS" dirty="0" smtClean="0"/>
              <a:t>Elementi dijagrama: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S</a:t>
            </a:r>
            <a:r>
              <a:rPr lang="sr-Latn-RS" dirty="0" smtClean="0"/>
              <a:t>lučajevi korišćenja 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A</a:t>
            </a:r>
            <a:r>
              <a:rPr lang="sr-Latn-RS" dirty="0" smtClean="0"/>
              <a:t>kteri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R</a:t>
            </a:r>
            <a:r>
              <a:rPr lang="sr-Latn-RS" dirty="0" smtClean="0"/>
              <a:t>elacije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Z</a:t>
            </a:r>
            <a:r>
              <a:rPr lang="sr-Latn-RS" dirty="0" smtClean="0"/>
              <a:t>avisnosti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G</a:t>
            </a:r>
            <a:r>
              <a:rPr lang="sr-Latn-RS" dirty="0" smtClean="0"/>
              <a:t>eneralizacija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P</a:t>
            </a:r>
            <a:r>
              <a:rPr lang="sr-Latn-RS" dirty="0" smtClean="0"/>
              <a:t>aketi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0"/>
            <a:ext cx="8229600" cy="6248400"/>
          </a:xfrm>
        </p:spPr>
        <p:txBody>
          <a:bodyPr/>
          <a:lstStyle/>
          <a:p>
            <a:pPr marL="514350" indent="-514350" algn="just">
              <a:buFont typeface="+mj-lt"/>
              <a:buAutoNum type="arabicParenR"/>
            </a:pPr>
            <a:r>
              <a:rPr lang="sr-Latn-RS" dirty="0" smtClean="0"/>
              <a:t>Slučaj korišćenja je opis skupa sekvenci akcija uključujući varijante koje sistem obavlja da bi proizveo vidljiv rezultat. Ponašanje slučaja korišćenja se opisuje tokom događaja: kada slučaj korišćenja počne i kada se završava, kada vrši interakciju sa akterima, kada se razmenjuju poruke i objekti. Postoje osnovni i alternativni tokovi događaja.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sr-Latn-RS" dirty="0" smtClean="0"/>
              <a:t>Akteri predstavljaju neki zajednički skup uloga. Akter može biti korisnik ili neki sistem.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sr-Latn-RS" dirty="0" smtClean="0"/>
              <a:t>Relacija komunikacija prikazuje se punom linijom. Komunikaciju može izazvati akter ili slučaj korišćenja.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sr-Latn-RS" dirty="0" smtClean="0"/>
              <a:t>Relacija uključivanja prikazuje se isprekidanom linijom sa strelicom i natpisom  INCLUDE. Koristi se da opiše zajedničko ponašanje između više slučajeva korišćenja.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None/>
            </a:pPr>
            <a:r>
              <a:rPr lang="sr-Latn-RS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5) </a:t>
            </a:r>
            <a:r>
              <a:rPr lang="sr-Latn-RS" dirty="0" smtClean="0"/>
              <a:t>Relacija proširivanja prikazuje se isprekidanom linijom sa strelicom i natpisom EXTEND.</a:t>
            </a:r>
          </a:p>
          <a:p>
            <a:pPr marL="514350" indent="-514350" algn="just">
              <a:buNone/>
            </a:pPr>
            <a:r>
              <a:rPr lang="sr-Latn-RS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6)  </a:t>
            </a:r>
            <a:r>
              <a:rPr lang="sr-Latn-RS" dirty="0" smtClean="0"/>
              <a:t>Relacija generalizacije prikazuje se punom linijom sa trougaonom strelicom na kraju. Ova relacija predstavlja vezu između roditelja i deteta (dete nasleđuje osobine roditelja)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Prednosti USE CASE modela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sr-Latn-RS" dirty="0" smtClean="0"/>
              <a:t>Komunikacija sa krajnjim korisnicima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</a:t>
            </a:r>
            <a:r>
              <a:rPr lang="sr-Latn-RS" dirty="0" smtClean="0"/>
              <a:t>dentifikacija korisnika sistema i onoga što sistem treba da radi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V</a:t>
            </a:r>
            <a:r>
              <a:rPr lang="sr-Latn-RS" dirty="0" smtClean="0"/>
              <a:t>erifikacija svih primljenih zahteva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sr-Latn-RS" dirty="0" smtClean="0"/>
              <a:t>1. zadatak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/>
          <a:lstStyle/>
          <a:p>
            <a:pPr algn="just">
              <a:buNone/>
            </a:pPr>
            <a:r>
              <a:rPr lang="sr-Latn-RS" dirty="0" smtClean="0"/>
              <a:t>Iscrtati USE CASE dijagram koji se odnosi na upis godine na fakultet</a:t>
            </a:r>
          </a:p>
          <a:p>
            <a:pPr algn="just">
              <a:buNone/>
            </a:pPr>
            <a:r>
              <a:rPr lang="sr-Latn-RS" dirty="0" smtClean="0"/>
              <a:t>Student upisuje prvu godinu studija , pre upisa polaže prijemni ispit, nakon upisa godine student sluša predavanja. Student predaje dokumentaciju službeniku studentske službe i prilikom predaje naknadno dostavlja lekarsko uverenje i overenje od suda. Na prijemnom ispitu je asistent. Profesor vrši rangiranje kandidata, upis studenata u prvu godinu. Da bi upisao godinu student mora prvo uplatiti obavezu prema fakultetu. Profesor, asistent i službenik studentske službe se vode kao zaposleni na fakultetu.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sr-Latn-RS" dirty="0" smtClean="0"/>
              <a:t>2. zadatak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sr-Latn-RS" dirty="0" smtClean="0"/>
              <a:t>   Nacrtati dijagram koji opisuje studentski dom. Student treba da se useli u dom. Kod upravnika podnosi dokumentaciju koja mu je potrebna, da bi se uselio. Pre nego što donose dokumentaciju student donosi potvrdu o uplaćenoj stanarini u suprotnom se neće moći useliti. Kada predaje dokumentaciju student dodatno predaje lekarsko uverenje i potvrdu o godišnjim primanjima. U domu se nalazi i zamenik upravnika. Zamenik vodi sekundarne poslove u domu. Upravnik i zamenik su zaposleni u domu.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77</TotalTime>
  <Words>740</Words>
  <Application>Microsoft Office PowerPoint</Application>
  <PresentationFormat>On-screen Show (4:3)</PresentationFormat>
  <Paragraphs>64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Flow</vt:lpstr>
      <vt:lpstr>UML</vt:lpstr>
      <vt:lpstr>Slide 2</vt:lpstr>
      <vt:lpstr>Slide 3</vt:lpstr>
      <vt:lpstr>Slide 4</vt:lpstr>
      <vt:lpstr>Slide 5</vt:lpstr>
      <vt:lpstr>Dve vrste UML dijagrama:</vt:lpstr>
      <vt:lpstr>Klase i objekti</vt:lpstr>
      <vt:lpstr>Slide 8</vt:lpstr>
      <vt:lpstr>Dijagrami</vt:lpstr>
      <vt:lpstr>Dijagram slučaja – USE CASE</vt:lpstr>
      <vt:lpstr>Slide 11</vt:lpstr>
      <vt:lpstr>Slide 12</vt:lpstr>
      <vt:lpstr>Prednosti USE CASE modela</vt:lpstr>
      <vt:lpstr>1. zadatak</vt:lpstr>
      <vt:lpstr>2. zadatak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</dc:title>
  <dc:creator>I5 Pro</dc:creator>
  <cp:lastModifiedBy>I5 Pro</cp:lastModifiedBy>
  <cp:revision>8</cp:revision>
  <dcterms:created xsi:type="dcterms:W3CDTF">2019-04-09T21:15:05Z</dcterms:created>
  <dcterms:modified xsi:type="dcterms:W3CDTF">2019-04-09T22:32:20Z</dcterms:modified>
</cp:coreProperties>
</file>