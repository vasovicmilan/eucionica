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FA1F3-F2A7-472E-8BC3-E69BC5C25C67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2295C-0592-498F-A905-A4FB9B9C8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60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 err="1" smtClean="0"/>
              <a:t>Gaia</a:t>
            </a:r>
            <a:r>
              <a:rPr lang="sr-Latn-RS" dirty="0" smtClean="0"/>
              <a:t> hipoteza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295C-0592-498F-A905-A4FB9B9C84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14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6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7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67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70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8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3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1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65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5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011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14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0526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92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10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5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E9AF7-2AA2-4D03-BF31-1087BAAE53A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2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Teorija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informacija</a:t>
            </a:r>
            <a:r>
              <a:rPr lang="en-US" dirty="0" smtClean="0"/>
              <a:t> </a:t>
            </a:r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doc. </a:t>
            </a:r>
            <a:r>
              <a:rPr lang="en-US" dirty="0" err="1" smtClean="0"/>
              <a:t>dr</a:t>
            </a:r>
            <a:r>
              <a:rPr lang="en-US" dirty="0" smtClean="0"/>
              <a:t> Radovan </a:t>
            </a:r>
            <a:r>
              <a:rPr lang="en-US" dirty="0" err="1" smtClean="0"/>
              <a:t>Vladisavljev</a:t>
            </a:r>
            <a:r>
              <a:rPr lang="sr-Latn-RS" dirty="0" err="1" smtClean="0"/>
              <a:t>ić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587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Definisanje</a:t>
            </a:r>
            <a:r>
              <a:rPr lang="en-US" dirty="0" smtClean="0"/>
              <a:t> </a:t>
            </a:r>
            <a:r>
              <a:rPr lang="en-US" dirty="0" err="1" smtClean="0"/>
              <a:t>objekta</a:t>
            </a:r>
            <a:r>
              <a:rPr lang="en-US" dirty="0" smtClean="0"/>
              <a:t> </a:t>
            </a:r>
            <a:r>
              <a:rPr lang="en-US" dirty="0" err="1" smtClean="0"/>
              <a:t>istra</a:t>
            </a:r>
            <a:r>
              <a:rPr lang="sr-Latn-RS" dirty="0" err="1" smtClean="0"/>
              <a:t>živanja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Ovo je prvi korak u istraživanju sistema.</a:t>
            </a:r>
          </a:p>
          <a:p>
            <a:r>
              <a:rPr lang="sr-Latn-RS" dirty="0" smtClean="0"/>
              <a:t>Osnovne kategorije koje se u ovom koraku pojavljuju su: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Pojam,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Sud,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Zaključak,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Definicija,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Divizija,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470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Pojam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Idejni odraz (misao) o bitnim osobinama ili relacijama (odnosima) o nekom objektu.</a:t>
            </a:r>
          </a:p>
          <a:p>
            <a:r>
              <a:rPr lang="sr-Latn-RS" dirty="0" smtClean="0"/>
              <a:t>Prema drugim definicijama pojam je misao o suštini ili biti onoga što mislimo, odnosno o bitnim osobinama onoga što mislimo.</a:t>
            </a:r>
          </a:p>
          <a:p>
            <a:r>
              <a:rPr lang="sr-Latn-RS" dirty="0" smtClean="0"/>
              <a:t>U istraživanju sistema uvek se polazi od toga šta su prethodnici uradili, napisali, misli, …</a:t>
            </a:r>
          </a:p>
          <a:p>
            <a:r>
              <a:rPr lang="sr-Latn-RS" dirty="0" smtClean="0"/>
              <a:t>Ovde možemo identifikovati primarne podatke o nekom objektu, sekundarne i </a:t>
            </a:r>
            <a:r>
              <a:rPr lang="sr-Latn-RS" dirty="0" err="1" smtClean="0"/>
              <a:t>tercijalne</a:t>
            </a:r>
            <a:r>
              <a:rPr lang="sr-Latn-RS" dirty="0" smtClean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7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Izvori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Primerni izvori su vezani za prethodna istraživanja posmatranog sistema (ili sličnog). </a:t>
            </a:r>
          </a:p>
          <a:p>
            <a:r>
              <a:rPr lang="sr-Latn-RS" dirty="0" smtClean="0"/>
              <a:t>Sekundarni izvori su ono što su drugi pisali o objektu istraživanja, ali direktno istraživali objekat (kompilacija radova, is.).</a:t>
            </a:r>
          </a:p>
          <a:p>
            <a:r>
              <a:rPr lang="sr-Latn-RS" dirty="0" err="1" smtClean="0"/>
              <a:t>Tercijalni</a:t>
            </a:r>
            <a:r>
              <a:rPr lang="sr-Latn-RS" dirty="0" smtClean="0"/>
              <a:t> izvori su materijali koji služe da objasne neki aspekat posmatranog objekta na prilično površnom nivou.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65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Problem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Vremenom se naše znanje proširuje, otkrivamo nove pristupe posmatranja.</a:t>
            </a:r>
          </a:p>
          <a:p>
            <a:r>
              <a:rPr lang="sr-Latn-RS" dirty="0" smtClean="0"/>
              <a:t>Sam objekat se tokom vremena menja.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14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Osobine pojma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Dimenzije pojma ili obuhvatnost pojma označava skup pojedinih objekata na kome se može primeniti njegov termin.</a:t>
            </a:r>
          </a:p>
          <a:p>
            <a:r>
              <a:rPr lang="sr-Latn-RS" dirty="0" smtClean="0"/>
              <a:t>Sadržaj pojma je određen broj obeležja koje ga određuju. </a:t>
            </a:r>
          </a:p>
          <a:p>
            <a:r>
              <a:rPr lang="sr-Latn-RS" dirty="0" smtClean="0"/>
              <a:t>Ove dve kategorije su u obrnuto proporcijalnom odnosu.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80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OKRUŽENJE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Izborom objekata još uvek nismo definisali granice sistema.</a:t>
            </a:r>
          </a:p>
          <a:p>
            <a:r>
              <a:rPr lang="sr-Latn-RS" dirty="0" smtClean="0"/>
              <a:t>Granice sistema, niti njegovo okruženje nisu egzaktne prirode.</a:t>
            </a:r>
          </a:p>
          <a:p>
            <a:r>
              <a:rPr lang="sr-Latn-RS" dirty="0" smtClean="0"/>
              <a:t>Sve zavisi od ciljeva istraživanja ali od samih istraživača.</a:t>
            </a:r>
          </a:p>
        </p:txBody>
      </p:sp>
    </p:spTree>
    <p:extLst>
      <p:ext uri="{BB962C8B-B14F-4D97-AF65-F5344CB8AC3E}">
        <p14:creationId xmlns:p14="http://schemas.microsoft.com/office/powerpoint/2010/main" val="139641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OKRUŽENJE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Definisanjem granica sistema istraživač deli ceo Univerzum na dva dela, posmatrani sistem i ostatak</a:t>
            </a:r>
            <a:r>
              <a:rPr lang="sr-Latn-RS" dirty="0" smtClean="0"/>
              <a:t>.</a:t>
            </a:r>
          </a:p>
          <a:p>
            <a:r>
              <a:rPr lang="sr-Latn-RS" dirty="0" smtClean="0"/>
              <a:t>Međutim, ne može se baratate sa celim Univerzumom.</a:t>
            </a:r>
          </a:p>
          <a:p>
            <a:r>
              <a:rPr lang="sr-Latn-RS" dirty="0" smtClean="0"/>
              <a:t>Ceo Univerzum se svodi na meru koji istraživač može da obradi.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73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OKRUŽENJE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Konkretno okruženje se određuje na bazi aspekta posmatranja i granice (</a:t>
            </a:r>
            <a:r>
              <a:rPr lang="el-GR" dirty="0" smtClean="0"/>
              <a:t>α</a:t>
            </a:r>
            <a:r>
              <a:rPr lang="sr-Latn-RS" baseline="-25000" dirty="0" smtClean="0"/>
              <a:t>i</a:t>
            </a:r>
            <a:r>
              <a:rPr lang="sr-Latn-RS" dirty="0" smtClean="0"/>
              <a:t>) sistema sa tog aspekta (Q</a:t>
            </a:r>
            <a:r>
              <a:rPr lang="el-GR" dirty="0"/>
              <a:t> </a:t>
            </a:r>
            <a:r>
              <a:rPr lang="el-GR" baseline="-25000" dirty="0"/>
              <a:t>α</a:t>
            </a:r>
            <a:r>
              <a:rPr lang="sr-Latn-RS" baseline="-25000" dirty="0"/>
              <a:t>i</a:t>
            </a:r>
            <a:r>
              <a:rPr lang="sr-Latn-R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14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10" y="0"/>
            <a:ext cx="97736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6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Uloga pojedinih sistema na okruženje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Aktivna, kada sistem utiče na okruženje (S</a:t>
            </a:r>
            <a:r>
              <a:rPr lang="sr-Latn-RS" baseline="-25000" dirty="0" smtClean="0"/>
              <a:t>1</a:t>
            </a:r>
            <a:r>
              <a:rPr lang="sr-Latn-RS" dirty="0" smtClean="0"/>
              <a:t>)</a:t>
            </a:r>
          </a:p>
          <a:p>
            <a:r>
              <a:rPr lang="sr-Latn-RS" dirty="0" smtClean="0"/>
              <a:t>Pasivna, kada okruženje utiče na sistem (S</a:t>
            </a:r>
            <a:r>
              <a:rPr lang="sr-Latn-RS" baseline="-25000" dirty="0" smtClean="0"/>
              <a:t>2</a:t>
            </a:r>
            <a:r>
              <a:rPr lang="sr-Latn-RS" dirty="0" smtClean="0"/>
              <a:t>)</a:t>
            </a:r>
          </a:p>
          <a:p>
            <a:r>
              <a:rPr lang="sr-Latn-RS" dirty="0" smtClean="0"/>
              <a:t>Interaktivna, kada postoji uzajamno dejstvo (</a:t>
            </a:r>
            <a:r>
              <a:rPr lang="sr-Latn-RS" dirty="0" err="1" smtClean="0"/>
              <a:t>S</a:t>
            </a:r>
            <a:r>
              <a:rPr lang="sr-Latn-RS" baseline="-25000" dirty="0" err="1" smtClean="0"/>
              <a:t>j</a:t>
            </a:r>
            <a:r>
              <a:rPr lang="sr-Latn-RS" dirty="0" smtClean="0"/>
              <a:t> i </a:t>
            </a:r>
            <a:r>
              <a:rPr lang="sr-Latn-RS" dirty="0" err="1" smtClean="0"/>
              <a:t>S</a:t>
            </a:r>
            <a:r>
              <a:rPr lang="sr-Latn-RS" baseline="-25000" dirty="0" err="1" smtClean="0"/>
              <a:t>m</a:t>
            </a:r>
            <a:r>
              <a:rPr lang="sr-Latn-R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Okruženje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Okruženje sistema čine svi oni sistemi (objekti, pojave, itd.) koji su u nekom aktivnom, pasivnom ili interaktivnom odnosu sa datim sistemom.</a:t>
            </a:r>
          </a:p>
          <a:p>
            <a:r>
              <a:rPr lang="sr-Latn-RS" dirty="0" smtClean="0"/>
              <a:t>Kada smo odredili granice sistema tada smo ceo univerzum podelili na posmatrani sistem </a:t>
            </a:r>
            <a:r>
              <a:rPr lang="sr-Latn-RS" b="1" dirty="0" smtClean="0"/>
              <a:t>S</a:t>
            </a:r>
            <a:r>
              <a:rPr lang="sr-Latn-RS" dirty="0" smtClean="0"/>
              <a:t> i univerzum bez sistema </a:t>
            </a:r>
            <a:r>
              <a:rPr lang="sr-Latn-RS" b="1" dirty="0" smtClean="0"/>
              <a:t>S</a:t>
            </a:r>
            <a:r>
              <a:rPr lang="sr-Latn-RS" dirty="0" smtClean="0"/>
              <a:t>.</a:t>
            </a:r>
          </a:p>
          <a:p>
            <a:r>
              <a:rPr lang="sr-Latn-RS" dirty="0" smtClean="0"/>
              <a:t>Ovo vodi ka tome da smo kreirali dva sistema i to sistem </a:t>
            </a:r>
            <a:r>
              <a:rPr lang="sr-Latn-RS" b="1" dirty="0" smtClean="0"/>
              <a:t>S</a:t>
            </a:r>
            <a:r>
              <a:rPr lang="sr-Latn-RS" dirty="0" smtClean="0"/>
              <a:t> i ostatak </a:t>
            </a:r>
            <a:r>
              <a:rPr lang="sr-Latn-RS" b="1" dirty="0" smtClean="0"/>
              <a:t>S</a:t>
            </a:r>
            <a:r>
              <a:rPr lang="sr-Latn-RS" b="1" baseline="-25000" dirty="0" smtClean="0"/>
              <a:t>0</a:t>
            </a:r>
            <a:r>
              <a:rPr lang="sr-Latn-RS" dirty="0" smtClean="0"/>
              <a:t>.</a:t>
            </a:r>
          </a:p>
          <a:p>
            <a:r>
              <a:rPr lang="sr-Latn-RS" dirty="0" smtClean="0"/>
              <a:t>Svako istraživanje sistema se bazira na istraživanju dva sistema </a:t>
            </a:r>
            <a:r>
              <a:rPr lang="sr-Latn-RS" b="1" dirty="0" smtClean="0"/>
              <a:t>S</a:t>
            </a:r>
            <a:r>
              <a:rPr lang="sr-Latn-RS" dirty="0" smtClean="0"/>
              <a:t> i </a:t>
            </a:r>
            <a:r>
              <a:rPr lang="sr-Latn-RS" b="1" dirty="0" smtClean="0"/>
              <a:t>S</a:t>
            </a:r>
            <a:r>
              <a:rPr lang="sr-Latn-RS" b="1" baseline="-25000" dirty="0" smtClean="0"/>
              <a:t>0.</a:t>
            </a:r>
          </a:p>
          <a:p>
            <a:r>
              <a:rPr lang="sr-Latn-RS" dirty="0" smtClean="0"/>
              <a:t>Uglavnom se rad istraživanje sistema, međutim u nekim slučajevima radi se istraživanje okruženja u ovom slučaju se menjaju uloge </a:t>
            </a:r>
            <a:r>
              <a:rPr lang="sr-Latn-RS" b="1" dirty="0"/>
              <a:t>S</a:t>
            </a:r>
            <a:r>
              <a:rPr lang="sr-Latn-RS" dirty="0"/>
              <a:t> i </a:t>
            </a:r>
            <a:r>
              <a:rPr lang="sr-Latn-RS" b="1" dirty="0"/>
              <a:t>S</a:t>
            </a:r>
            <a:r>
              <a:rPr lang="sr-Latn-RS" b="1" baseline="-25000" dirty="0"/>
              <a:t>0</a:t>
            </a:r>
            <a:r>
              <a:rPr lang="sr-Latn-RS" b="1" baseline="-25000" dirty="0" smtClean="0"/>
              <a:t>.</a:t>
            </a:r>
            <a:r>
              <a:rPr lang="sr-Latn-RS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245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Ciklusi istraživanja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Kada se odrede granice sistema, njegovi odnosi kao i okruženje u jednom ciklusi, nastaju novi podaci i otvaraju se nova pitanja.</a:t>
            </a:r>
          </a:p>
          <a:p>
            <a:r>
              <a:rPr lang="sr-Latn-RS" dirty="0" smtClean="0"/>
              <a:t>Sa povećanjem znanja povećavaju se otvorena pitanja i moguća su otkrivanja novih elemenata sistema, relacija i odnosa. </a:t>
            </a:r>
          </a:p>
          <a:p>
            <a:r>
              <a:rPr lang="sr-Latn-RS" dirty="0" smtClean="0"/>
              <a:t>Proces istraživanja sistema je cikličan proces sa stalnim ponavljanjem koraka istraživanja.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98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Vreme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Zanemarivanjem vremena dovodi do pogrešnog identifikovanja većine bitnih elemenata istraživanja.</a:t>
            </a:r>
          </a:p>
          <a:p>
            <a:r>
              <a:rPr lang="sr-Latn-RS" dirty="0" smtClean="0"/>
              <a:t>U vremenu sistem se menja.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85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Ulaz i izlaz sistema i njegovi elementi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Uticajni na sistem su važni sa stanovišta funkcionisanja sistema.</a:t>
            </a:r>
          </a:p>
          <a:p>
            <a:r>
              <a:rPr lang="sr-Latn-RS" dirty="0" smtClean="0"/>
              <a:t>Za ostvarivanje određenih uticaja potrebni su određeni kanali (medijumi, posrednici) za prenos i kanalisanje materijalnih, energetskih, informacionih i drugih uticaja.</a:t>
            </a:r>
          </a:p>
          <a:p>
            <a:r>
              <a:rPr lang="sr-Latn-RS" dirty="0" smtClean="0"/>
              <a:t>Iz ovog možemo videti da su uticaji raznovrsni i različiti, zajedničko ima je samo smer ispoljavanja.  </a:t>
            </a:r>
          </a:p>
          <a:p>
            <a:r>
              <a:rPr lang="sr-Latn-RS" dirty="0" smtClean="0"/>
              <a:t>Dejstva na sistem nazivamo ulazom u sistem i obeležavamo ga sa </a:t>
            </a:r>
            <a:r>
              <a:rPr lang="sr-Latn-RS" b="1" dirty="0" smtClean="0"/>
              <a:t>X</a:t>
            </a:r>
            <a:r>
              <a:rPr lang="sr-Latn-RS" dirty="0" smtClean="0"/>
              <a:t>.</a:t>
            </a:r>
          </a:p>
          <a:p>
            <a:r>
              <a:rPr lang="sr-Latn-RS" dirty="0" smtClean="0"/>
              <a:t>Kad dejstvo potiče od sistema nazivamo ga izlazom i obeležavamo ga sa </a:t>
            </a:r>
            <a:r>
              <a:rPr lang="sr-Latn-RS" b="1" dirty="0" smtClean="0"/>
              <a:t>Y</a:t>
            </a:r>
            <a:r>
              <a:rPr lang="sr-Latn-R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63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68" y="1419224"/>
            <a:ext cx="3625531" cy="35814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878" y="1238250"/>
            <a:ext cx="5743748" cy="433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181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Skupovi obeležja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Obeležje za </a:t>
            </a:r>
            <a:r>
              <a:rPr lang="sr-Latn-RS" dirty="0" err="1" smtClean="0"/>
              <a:t>idenfikovanja</a:t>
            </a:r>
            <a:r>
              <a:rPr lang="sr-Latn-RS" dirty="0" smtClean="0"/>
              <a:t> ulaza i izlaza. (i)</a:t>
            </a:r>
          </a:p>
          <a:p>
            <a:r>
              <a:rPr lang="sr-Latn-RS" dirty="0" smtClean="0"/>
              <a:t>Obeležja koja predstavljaju kvalitativne karakteristike ulaza i izlaza. (q)</a:t>
            </a:r>
          </a:p>
          <a:p>
            <a:r>
              <a:rPr lang="sr-Latn-RS" dirty="0" smtClean="0"/>
              <a:t>Obeležja koja odražavaju kvantitativne osobine ulaza i izlaza. (k)</a:t>
            </a:r>
          </a:p>
          <a:p>
            <a:endParaRPr lang="sr-Latn-RS" dirty="0"/>
          </a:p>
          <a:p>
            <a:pPr marL="0" indent="0" algn="ctr">
              <a:buNone/>
            </a:pPr>
            <a:r>
              <a:rPr lang="sr-Latn-RS" dirty="0" smtClean="0"/>
              <a:t>X</a:t>
            </a:r>
            <a:r>
              <a:rPr lang="el-GR" baseline="-25000" dirty="0" smtClean="0"/>
              <a:t>ξ</a:t>
            </a:r>
            <a:r>
              <a:rPr lang="sr-Latn-RS" dirty="0" smtClean="0"/>
              <a:t> = (i</a:t>
            </a:r>
            <a:r>
              <a:rPr lang="el-GR" dirty="0"/>
              <a:t> </a:t>
            </a:r>
            <a:r>
              <a:rPr lang="el-GR" baseline="-25000" dirty="0" smtClean="0"/>
              <a:t>ξ</a:t>
            </a:r>
            <a:r>
              <a:rPr lang="sr-Latn-RS" dirty="0" smtClean="0"/>
              <a:t>, q</a:t>
            </a:r>
            <a:r>
              <a:rPr lang="el-GR" dirty="0"/>
              <a:t> </a:t>
            </a:r>
            <a:r>
              <a:rPr lang="el-GR" baseline="-25000" dirty="0" smtClean="0"/>
              <a:t>ξ</a:t>
            </a:r>
            <a:r>
              <a:rPr lang="sr-Latn-RS" dirty="0" smtClean="0"/>
              <a:t>, k</a:t>
            </a:r>
            <a:r>
              <a:rPr lang="el-GR" dirty="0" smtClean="0"/>
              <a:t> </a:t>
            </a:r>
            <a:r>
              <a:rPr lang="el-GR" baseline="-25000" dirty="0"/>
              <a:t>ξ</a:t>
            </a:r>
            <a:r>
              <a:rPr lang="sr-Latn-RS" dirty="0" smtClean="0"/>
              <a:t>)</a:t>
            </a:r>
          </a:p>
          <a:p>
            <a:pPr marL="0" indent="0" algn="ctr">
              <a:buNone/>
            </a:pPr>
            <a:endParaRPr lang="sr-Latn-RS" dirty="0"/>
          </a:p>
          <a:p>
            <a:pPr marL="0" indent="0" algn="ctr">
              <a:buNone/>
            </a:pPr>
            <a:r>
              <a:rPr lang="sr-Latn-RS" dirty="0" smtClean="0"/>
              <a:t>Y</a:t>
            </a:r>
            <a:r>
              <a:rPr lang="el-GR" baseline="-25000" dirty="0" smtClean="0"/>
              <a:t>ω</a:t>
            </a:r>
            <a:r>
              <a:rPr lang="sr-Latn-RS" dirty="0" smtClean="0"/>
              <a:t> = (i</a:t>
            </a:r>
            <a:r>
              <a:rPr lang="el-GR" dirty="0"/>
              <a:t> </a:t>
            </a:r>
            <a:r>
              <a:rPr lang="el-GR" baseline="-25000" dirty="0"/>
              <a:t>ω</a:t>
            </a:r>
            <a:r>
              <a:rPr lang="sr-Latn-RS" dirty="0" smtClean="0"/>
              <a:t>, q</a:t>
            </a:r>
            <a:r>
              <a:rPr lang="el-GR" dirty="0"/>
              <a:t> </a:t>
            </a:r>
            <a:r>
              <a:rPr lang="el-GR" baseline="-25000" dirty="0"/>
              <a:t>ω</a:t>
            </a:r>
            <a:r>
              <a:rPr lang="sr-Latn-RS" dirty="0" smtClean="0"/>
              <a:t>, k</a:t>
            </a:r>
            <a:r>
              <a:rPr lang="el-GR" dirty="0"/>
              <a:t> </a:t>
            </a:r>
            <a:r>
              <a:rPr lang="el-GR" baseline="-25000" dirty="0"/>
              <a:t>ω</a:t>
            </a:r>
            <a:r>
              <a:rPr lang="sr-Latn-R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66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Sistemi sa velikim brojem ulaza i izlaza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U velikom broju slučajeva sistemi imaju veliki broj ulaza i izlaza.</a:t>
            </a:r>
          </a:p>
          <a:p>
            <a:r>
              <a:rPr lang="sr-Latn-RS" dirty="0" smtClean="0"/>
              <a:t>Prikazivanje ulaza i izlaza može biti nemoguć zadatak (naročito grafički).</a:t>
            </a:r>
          </a:p>
          <a:p>
            <a:r>
              <a:rPr lang="sr-Latn-RS" dirty="0" smtClean="0"/>
              <a:t>Za rešenje ovog problema uvodi se </a:t>
            </a:r>
            <a:r>
              <a:rPr lang="sr-Latn-RS" dirty="0" err="1" smtClean="0"/>
              <a:t>agregatini</a:t>
            </a:r>
            <a:r>
              <a:rPr lang="sr-Latn-RS" dirty="0" smtClean="0"/>
              <a:t> način prikaza ulaza i izlaza. </a:t>
            </a:r>
          </a:p>
          <a:p>
            <a:r>
              <a:rPr lang="sr-Latn-RS" dirty="0" smtClean="0"/>
              <a:t>Drugim rečima veliki broj ulaza i izlaza se zamenjuju jednim simbolom.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51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11" y="1043405"/>
            <a:ext cx="11605923" cy="492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33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Prikaz ulaza i izlaza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Svi ulazi i izlazi se prikazuju malim slovima (x i y), a </a:t>
            </a:r>
            <a:r>
              <a:rPr lang="sr-Latn-RS" dirty="0" err="1" smtClean="0"/>
              <a:t>agragirani</a:t>
            </a:r>
            <a:r>
              <a:rPr lang="sr-Latn-RS" dirty="0" smtClean="0"/>
              <a:t> ulazi i izlazi prikazuju se velikim slovima (X i Y).</a:t>
            </a:r>
          </a:p>
          <a:p>
            <a:r>
              <a:rPr lang="sr-Latn-RS" dirty="0" smtClean="0"/>
              <a:t>U slučaju </a:t>
            </a:r>
            <a:r>
              <a:rPr lang="sr-Latn-RS" dirty="0" err="1" smtClean="0"/>
              <a:t>agregiranih</a:t>
            </a:r>
            <a:r>
              <a:rPr lang="sr-Latn-RS" dirty="0" smtClean="0"/>
              <a:t> uzlaz i izlaza pojedini elementi nemaju neki određeni redosled.</a:t>
            </a:r>
          </a:p>
          <a:p>
            <a:endParaRPr lang="sr-Latn-RS" dirty="0"/>
          </a:p>
          <a:p>
            <a:pPr marL="0" indent="0" algn="ctr">
              <a:buNone/>
            </a:pPr>
            <a:r>
              <a:rPr lang="sr-Latn-RS" dirty="0" smtClean="0"/>
              <a:t>X = </a:t>
            </a:r>
            <a:r>
              <a:rPr lang="en-US" dirty="0" smtClean="0"/>
              <a:t>{x</a:t>
            </a:r>
            <a:r>
              <a:rPr lang="en-US" baseline="-25000" dirty="0" smtClean="0"/>
              <a:t>3</a:t>
            </a:r>
            <a:r>
              <a:rPr lang="en-US" dirty="0" smtClean="0"/>
              <a:t>, x</a:t>
            </a:r>
            <a:r>
              <a:rPr lang="en-US" baseline="-25000" dirty="0" smtClean="0"/>
              <a:t>5</a:t>
            </a:r>
            <a:r>
              <a:rPr lang="en-US" dirty="0" smtClean="0"/>
              <a:t>, x</a:t>
            </a:r>
            <a:r>
              <a:rPr lang="en-US" baseline="-25000" dirty="0" smtClean="0"/>
              <a:t>1</a:t>
            </a:r>
            <a:r>
              <a:rPr lang="en-US" dirty="0" smtClean="0"/>
              <a:t>, …,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m</a:t>
            </a:r>
            <a:r>
              <a:rPr lang="en-US" dirty="0" smtClean="0"/>
              <a:t>, …, x</a:t>
            </a:r>
            <a:r>
              <a:rPr lang="en-US" baseline="-25000" dirty="0" smtClean="0"/>
              <a:t>4</a:t>
            </a:r>
            <a:r>
              <a:rPr lang="en-US" dirty="0" smtClean="0"/>
              <a:t>}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Y</a:t>
            </a:r>
            <a:r>
              <a:rPr lang="sr-Latn-RS" dirty="0" smtClean="0"/>
              <a:t> </a:t>
            </a:r>
            <a:r>
              <a:rPr lang="sr-Latn-RS" dirty="0"/>
              <a:t>= </a:t>
            </a:r>
            <a:r>
              <a:rPr lang="en-US" dirty="0" smtClean="0"/>
              <a:t>{y</a:t>
            </a:r>
            <a:r>
              <a:rPr lang="en-US" baseline="-25000" dirty="0" smtClean="0"/>
              <a:t>2</a:t>
            </a:r>
            <a:r>
              <a:rPr lang="en-US" dirty="0" smtClean="0"/>
              <a:t>, y</a:t>
            </a:r>
            <a:r>
              <a:rPr lang="en-US" baseline="-25000" dirty="0"/>
              <a:t>1</a:t>
            </a:r>
            <a:r>
              <a:rPr lang="en-US" dirty="0" smtClean="0"/>
              <a:t>, y</a:t>
            </a:r>
            <a:r>
              <a:rPr lang="en-US" baseline="-25000" dirty="0" smtClean="0"/>
              <a:t>6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 smtClean="0"/>
              <a:t>y</a:t>
            </a:r>
            <a:r>
              <a:rPr lang="en-US" baseline="-25000" dirty="0" err="1" smtClean="0"/>
              <a:t>n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smtClean="0"/>
              <a:t>y</a:t>
            </a:r>
            <a:r>
              <a:rPr lang="en-US" baseline="-25000" dirty="0" smtClean="0"/>
              <a:t>3</a:t>
            </a: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56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Prikaz ulaza i izlaza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Vektori</a:t>
            </a:r>
            <a:r>
              <a:rPr lang="en-US" dirty="0" smtClean="0"/>
              <a:t> </a:t>
            </a:r>
            <a:r>
              <a:rPr lang="en-US" dirty="0" err="1" smtClean="0"/>
              <a:t>su</a:t>
            </a:r>
            <a:r>
              <a:rPr lang="en-US" dirty="0" smtClean="0"/>
              <a:t> </a:t>
            </a:r>
            <a:r>
              <a:rPr lang="en-US" dirty="0" err="1" smtClean="0"/>
              <a:t>agrerirani</a:t>
            </a:r>
            <a:r>
              <a:rPr lang="en-US" dirty="0" smtClean="0"/>
              <a:t> </a:t>
            </a:r>
            <a:r>
              <a:rPr lang="en-US" dirty="0" err="1" smtClean="0"/>
              <a:t>podaci</a:t>
            </a:r>
            <a:r>
              <a:rPr lang="en-US" dirty="0" smtClean="0"/>
              <a:t> </a:t>
            </a:r>
            <a:r>
              <a:rPr lang="en-US" dirty="0" err="1" smtClean="0"/>
              <a:t>koji</a:t>
            </a:r>
            <a:r>
              <a:rPr lang="en-US" dirty="0" smtClean="0"/>
              <a:t> </a:t>
            </a:r>
            <a:r>
              <a:rPr lang="en-US" dirty="0" err="1" smtClean="0"/>
              <a:t>imaju</a:t>
            </a:r>
            <a:r>
              <a:rPr lang="en-US" dirty="0" smtClean="0"/>
              <a:t> ta</a:t>
            </a:r>
            <a:r>
              <a:rPr lang="sr-Latn-RS" dirty="0" err="1" smtClean="0"/>
              <a:t>čno</a:t>
            </a:r>
            <a:r>
              <a:rPr lang="sr-Latn-RS" dirty="0" smtClean="0"/>
              <a:t> </a:t>
            </a:r>
            <a:r>
              <a:rPr lang="sr-Latn-RS" dirty="0" err="1" smtClean="0"/>
              <a:t>ofređeni</a:t>
            </a:r>
            <a:r>
              <a:rPr lang="sr-Latn-RS" dirty="0" smtClean="0"/>
              <a:t> redosled.</a:t>
            </a:r>
          </a:p>
          <a:p>
            <a:endParaRPr lang="sr-Latn-RS" dirty="0"/>
          </a:p>
          <a:p>
            <a:pPr marL="0" indent="0" algn="ctr">
              <a:buNone/>
            </a:pPr>
            <a:r>
              <a:rPr lang="sr-Latn-RS" dirty="0"/>
              <a:t>X = </a:t>
            </a:r>
            <a:r>
              <a:rPr lang="en-US" dirty="0"/>
              <a:t>{</a:t>
            </a:r>
            <a:r>
              <a:rPr lang="en-US" dirty="0" smtClean="0"/>
              <a:t>x</a:t>
            </a:r>
            <a:r>
              <a:rPr lang="sr-Latn-RS" baseline="-25000" dirty="0" smtClean="0"/>
              <a:t>1</a:t>
            </a:r>
            <a:r>
              <a:rPr lang="en-US" dirty="0" smtClean="0"/>
              <a:t>, x</a:t>
            </a:r>
            <a:r>
              <a:rPr lang="sr-Latn-RS" baseline="-25000" dirty="0" smtClean="0"/>
              <a:t>2</a:t>
            </a:r>
            <a:r>
              <a:rPr lang="en-US" dirty="0" smtClean="0"/>
              <a:t>, x</a:t>
            </a:r>
            <a:r>
              <a:rPr lang="sr-Latn-RS" baseline="-25000" dirty="0" smtClean="0"/>
              <a:t>3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/>
              <a:t>x</a:t>
            </a:r>
            <a:r>
              <a:rPr lang="en-US" baseline="-25000" dirty="0" err="1"/>
              <a:t>m</a:t>
            </a:r>
            <a:r>
              <a:rPr lang="en-US" dirty="0"/>
              <a:t>, …, </a:t>
            </a:r>
            <a:r>
              <a:rPr lang="en-US" dirty="0" smtClean="0"/>
              <a:t>x</a:t>
            </a:r>
            <a:r>
              <a:rPr lang="sr-Latn-RS" baseline="-25000" dirty="0" smtClean="0"/>
              <a:t>n</a:t>
            </a:r>
            <a:r>
              <a:rPr lang="en-US" dirty="0" smtClean="0"/>
              <a:t>}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Y</a:t>
            </a:r>
            <a:r>
              <a:rPr lang="sr-Latn-RS" dirty="0"/>
              <a:t> = </a:t>
            </a:r>
            <a:r>
              <a:rPr lang="en-US" dirty="0"/>
              <a:t>{</a:t>
            </a:r>
            <a:r>
              <a:rPr lang="en-US" dirty="0" smtClean="0"/>
              <a:t>y</a:t>
            </a:r>
            <a:r>
              <a:rPr lang="sr-Latn-RS" baseline="-25000" dirty="0" smtClean="0"/>
              <a:t>1</a:t>
            </a:r>
            <a:r>
              <a:rPr lang="en-US" dirty="0" smtClean="0"/>
              <a:t>, y</a:t>
            </a:r>
            <a:r>
              <a:rPr lang="sr-Latn-RS" baseline="-25000" dirty="0" smtClean="0"/>
              <a:t>2</a:t>
            </a:r>
            <a:r>
              <a:rPr lang="en-US" dirty="0" smtClean="0"/>
              <a:t>, y</a:t>
            </a:r>
            <a:r>
              <a:rPr lang="sr-Latn-RS" baseline="-25000" dirty="0" smtClean="0"/>
              <a:t>3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smtClean="0"/>
              <a:t>y</a:t>
            </a:r>
            <a:r>
              <a:rPr lang="sr-Latn-RS" baseline="-25000" dirty="0" smtClean="0"/>
              <a:t>m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smtClean="0"/>
              <a:t>y</a:t>
            </a:r>
            <a:r>
              <a:rPr lang="sr-Latn-RS" baseline="-25000" dirty="0" smtClean="0"/>
              <a:t>n</a:t>
            </a:r>
            <a:r>
              <a:rPr lang="en-US" dirty="0" smtClean="0"/>
              <a:t>}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37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0"/>
            <a:ext cx="6765584" cy="675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5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Dinamičnost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Kada govorimo o dinamičnosti sistema mi zapravo pojave posmatramo sa vremenskog aspekta.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91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84" y="0"/>
            <a:ext cx="9319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8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err="1" smtClean="0"/>
              <a:t>Ograničnja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sr-Latn-RS" dirty="0" smtClean="0"/>
              <a:t>-∞</a:t>
            </a:r>
            <a:r>
              <a:rPr lang="en-US" dirty="0" smtClean="0"/>
              <a:t>&lt; q</a:t>
            </a:r>
            <a:r>
              <a:rPr lang="en-US" baseline="-25000" dirty="0" smtClean="0"/>
              <a:t>i</a:t>
            </a:r>
            <a:r>
              <a:rPr lang="sr-Latn-RS" baseline="-25000" dirty="0" smtClean="0"/>
              <a:t> </a:t>
            </a:r>
            <a:r>
              <a:rPr lang="en-US" baseline="-25000" dirty="0" smtClean="0"/>
              <a:t>min</a:t>
            </a:r>
            <a:r>
              <a:rPr lang="en-US" dirty="0" smtClean="0"/>
              <a:t> ≤ </a:t>
            </a:r>
            <a:r>
              <a:rPr lang="en-US" dirty="0" err="1" smtClean="0"/>
              <a:t>q</a:t>
            </a:r>
            <a:r>
              <a:rPr lang="en-US" baseline="-25000" dirty="0" err="1" smtClean="0"/>
              <a:t>i,t</a:t>
            </a:r>
            <a:r>
              <a:rPr lang="en-US" dirty="0" smtClean="0"/>
              <a:t> ≤</a:t>
            </a:r>
            <a:r>
              <a:rPr lang="en-US" dirty="0"/>
              <a:t> </a:t>
            </a:r>
            <a:r>
              <a:rPr lang="en-US" dirty="0" smtClean="0"/>
              <a:t>q</a:t>
            </a:r>
            <a:r>
              <a:rPr lang="en-US" baseline="-25000" dirty="0" smtClean="0"/>
              <a:t>i</a:t>
            </a:r>
            <a:r>
              <a:rPr lang="sr-Latn-RS" baseline="-25000" dirty="0" smtClean="0"/>
              <a:t> </a:t>
            </a:r>
            <a:r>
              <a:rPr lang="en-US" baseline="-25000" dirty="0" smtClean="0"/>
              <a:t>max</a:t>
            </a:r>
            <a:r>
              <a:rPr lang="en-US" dirty="0" smtClean="0"/>
              <a:t> &lt; +</a:t>
            </a:r>
            <a:r>
              <a:rPr lang="sr-Latn-RS" dirty="0" smtClean="0"/>
              <a:t>∞</a:t>
            </a:r>
            <a:endParaRPr lang="en-US" dirty="0"/>
          </a:p>
          <a:p>
            <a:pPr marL="0" indent="0" algn="ctr">
              <a:buNone/>
            </a:pPr>
            <a:r>
              <a:rPr lang="sr-Latn-RS" dirty="0"/>
              <a:t>-∞</a:t>
            </a:r>
            <a:r>
              <a:rPr lang="en-US" dirty="0"/>
              <a:t>&lt; </a:t>
            </a:r>
            <a:r>
              <a:rPr lang="en-US" dirty="0" err="1" smtClean="0"/>
              <a:t>k</a:t>
            </a:r>
            <a:r>
              <a:rPr lang="en-US" baseline="-25000" dirty="0" err="1" smtClean="0"/>
              <a:t>i</a:t>
            </a:r>
            <a:r>
              <a:rPr lang="sr-Latn-RS" baseline="-25000" dirty="0" smtClean="0"/>
              <a:t> </a:t>
            </a:r>
            <a:r>
              <a:rPr lang="en-US" baseline="-25000" dirty="0" smtClean="0"/>
              <a:t>min</a:t>
            </a:r>
            <a:r>
              <a:rPr lang="en-US" dirty="0" smtClean="0"/>
              <a:t> </a:t>
            </a:r>
            <a:r>
              <a:rPr lang="en-US" dirty="0"/>
              <a:t>≤ </a:t>
            </a:r>
            <a:r>
              <a:rPr lang="en-US" dirty="0" err="1" smtClean="0"/>
              <a:t>k</a:t>
            </a:r>
            <a:r>
              <a:rPr lang="en-US" baseline="-25000" dirty="0" err="1" smtClean="0"/>
              <a:t>i,t</a:t>
            </a:r>
            <a:r>
              <a:rPr lang="en-US" dirty="0" smtClean="0"/>
              <a:t> </a:t>
            </a:r>
            <a:r>
              <a:rPr lang="en-US" dirty="0"/>
              <a:t>≤ </a:t>
            </a:r>
            <a:r>
              <a:rPr lang="en-US" dirty="0" err="1" smtClean="0"/>
              <a:t>k</a:t>
            </a:r>
            <a:r>
              <a:rPr lang="en-US" baseline="-25000" dirty="0" err="1" smtClean="0"/>
              <a:t>i</a:t>
            </a:r>
            <a:r>
              <a:rPr lang="sr-Latn-RS" baseline="-25000" dirty="0" smtClean="0"/>
              <a:t> </a:t>
            </a:r>
            <a:r>
              <a:rPr lang="en-US" baseline="-25000" dirty="0" smtClean="0"/>
              <a:t>max</a:t>
            </a:r>
            <a:r>
              <a:rPr lang="en-US" dirty="0" smtClean="0"/>
              <a:t> </a:t>
            </a:r>
            <a:r>
              <a:rPr lang="en-US" dirty="0"/>
              <a:t>&lt; +</a:t>
            </a:r>
            <a:r>
              <a:rPr lang="sr-Latn-RS" dirty="0" smtClean="0"/>
              <a:t>∞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</a:t>
            </a:r>
            <a:r>
              <a:rPr lang="sr-Latn-RS" dirty="0" smtClean="0"/>
              <a:t>z ovog sledi da svako kvantitativno ili kvalitativno obeležje može da se ogradi sa dve veličine </a:t>
            </a:r>
            <a:r>
              <a:rPr lang="en-US" dirty="0" smtClean="0"/>
              <a:t>q</a:t>
            </a:r>
            <a:r>
              <a:rPr lang="en-US" baseline="-25000" dirty="0" smtClean="0"/>
              <a:t>i</a:t>
            </a:r>
            <a:r>
              <a:rPr lang="sr-Latn-RS" baseline="-25000" dirty="0" smtClean="0"/>
              <a:t> </a:t>
            </a:r>
            <a:r>
              <a:rPr lang="en-US" baseline="-25000" dirty="0" smtClean="0"/>
              <a:t>min</a:t>
            </a:r>
            <a:r>
              <a:rPr lang="sr-Latn-RS" baseline="-25000" dirty="0" smtClean="0"/>
              <a:t> </a:t>
            </a:r>
            <a:r>
              <a:rPr lang="sr-Latn-RS" dirty="0" smtClean="0"/>
              <a:t>,</a:t>
            </a:r>
            <a:r>
              <a:rPr lang="sr-Latn-RS" baseline="-25000" dirty="0" smtClean="0"/>
              <a:t> </a:t>
            </a:r>
            <a:r>
              <a:rPr lang="en-US" dirty="0" smtClean="0"/>
              <a:t>q</a:t>
            </a:r>
            <a:r>
              <a:rPr lang="en-US" baseline="-25000" dirty="0" smtClean="0"/>
              <a:t>i</a:t>
            </a:r>
            <a:r>
              <a:rPr lang="sr-Latn-RS" baseline="-25000" dirty="0" smtClean="0"/>
              <a:t> </a:t>
            </a:r>
            <a:r>
              <a:rPr lang="en-US" baseline="-25000" dirty="0" smtClean="0"/>
              <a:t>max</a:t>
            </a:r>
            <a:r>
              <a:rPr lang="sr-Latn-RS" baseline="-25000" dirty="0" smtClean="0"/>
              <a:t> </a:t>
            </a:r>
            <a:r>
              <a:rPr lang="sr-Latn-RS" dirty="0" smtClean="0"/>
              <a:t>ili</a:t>
            </a:r>
            <a:r>
              <a:rPr lang="sr-Latn-RS" baseline="-25000" dirty="0" smtClean="0"/>
              <a:t> </a:t>
            </a:r>
            <a:r>
              <a:rPr lang="en-US" dirty="0" err="1"/>
              <a:t>k</a:t>
            </a:r>
            <a:r>
              <a:rPr lang="en-US" baseline="-25000" dirty="0" err="1"/>
              <a:t>i</a:t>
            </a:r>
            <a:r>
              <a:rPr lang="sr-Latn-RS" baseline="-25000" dirty="0"/>
              <a:t> </a:t>
            </a:r>
            <a:r>
              <a:rPr lang="en-US" baseline="-25000" dirty="0"/>
              <a:t>min</a:t>
            </a:r>
            <a:r>
              <a:rPr lang="en-US" dirty="0"/>
              <a:t> </a:t>
            </a:r>
            <a:r>
              <a:rPr lang="sr-Latn-RS" dirty="0" smtClean="0"/>
              <a:t>, </a:t>
            </a:r>
            <a:r>
              <a:rPr lang="en-US" dirty="0" err="1" smtClean="0"/>
              <a:t>k</a:t>
            </a:r>
            <a:r>
              <a:rPr lang="en-US" baseline="-25000" dirty="0" err="1" smtClean="0"/>
              <a:t>i</a:t>
            </a:r>
            <a:r>
              <a:rPr lang="sr-Latn-RS" baseline="-25000" dirty="0" smtClean="0"/>
              <a:t> </a:t>
            </a:r>
            <a:r>
              <a:rPr lang="en-US" baseline="-25000" dirty="0"/>
              <a:t>max</a:t>
            </a:r>
            <a:r>
              <a:rPr lang="en-US" dirty="0"/>
              <a:t> </a:t>
            </a:r>
            <a:endParaRPr lang="sr-Latn-RS" dirty="0" smtClean="0"/>
          </a:p>
        </p:txBody>
      </p:sp>
    </p:spTree>
    <p:extLst>
      <p:ext uri="{BB962C8B-B14F-4D97-AF65-F5344CB8AC3E}">
        <p14:creationId xmlns:p14="http://schemas.microsoft.com/office/powerpoint/2010/main" val="2179792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Verovatnoće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Pored ovih ograničenja potrebno je da se odrede verovatnoće.</a:t>
            </a:r>
          </a:p>
          <a:p>
            <a:r>
              <a:rPr lang="sr-Latn-RS" dirty="0"/>
              <a:t>Kada su </a:t>
            </a:r>
            <a:r>
              <a:rPr lang="sr-Latn-RS" dirty="0" smtClean="0"/>
              <a:t>određeni ulaz ili izlaz i po pojavljivanu i po vrednostima njegovih obeležja popuno izvestan, tada je sistem </a:t>
            </a:r>
            <a:r>
              <a:rPr lang="sr-Latn-RS" dirty="0" err="1" smtClean="0"/>
              <a:t>deterministički</a:t>
            </a:r>
            <a:r>
              <a:rPr lang="sr-Latn-RS" dirty="0" smtClean="0"/>
              <a:t>.</a:t>
            </a:r>
          </a:p>
          <a:p>
            <a:r>
              <a:rPr lang="sr-Latn-RS" dirty="0" smtClean="0"/>
              <a:t>Kada znamo šanse, odnosno verovatnoće pojavljivanja pojedinih vrednosti njihovih obeležja tada govorimo o slučajnim kategorijama (stohastički sistemi).</a:t>
            </a:r>
          </a:p>
          <a:p>
            <a:r>
              <a:rPr lang="sr-Latn-RS" dirty="0" smtClean="0"/>
              <a:t>U slučaja kada ne možemo odrediti ni verovatnoće pojavljivanja tada govorimo o neizvesnim sistemima. 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5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Svojstva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Prvobitni problem je u tome što je teško identifikovati objekat istraživanja.</a:t>
            </a:r>
          </a:p>
          <a:p>
            <a:r>
              <a:rPr lang="sr-Latn-RS" dirty="0" smtClean="0"/>
              <a:t>U slučaju da se može </a:t>
            </a:r>
            <a:r>
              <a:rPr lang="sr-Latn-RS" dirty="0"/>
              <a:t>jednoznačno</a:t>
            </a:r>
            <a:r>
              <a:rPr lang="sr-Latn-RS" dirty="0" smtClean="0"/>
              <a:t> odrediti granice sistem tada je problem rešen. Međutim, često to nije slučaj.</a:t>
            </a:r>
          </a:p>
          <a:p>
            <a:r>
              <a:rPr lang="sr-Latn-RS" dirty="0" smtClean="0"/>
              <a:t>Druga mogućnost je da se sistem upozna preko njegovih elemenata.</a:t>
            </a:r>
          </a:p>
          <a:p>
            <a:r>
              <a:rPr lang="sr-Latn-RS" dirty="0" smtClean="0"/>
              <a:t>Ukoliko ne možemo granice ni elemente da upoznamo ostaje nam još samo da upoznamo skup kriterijuma koji pripadaju sistemu.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55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Svojstva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sr-Latn-RS" dirty="0" smtClean="0"/>
              <a:t>Kvantitativne osobine.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Kvalitativne osobine.</a:t>
            </a:r>
          </a:p>
          <a:p>
            <a:pPr>
              <a:buFont typeface="+mj-lt"/>
              <a:buAutoNum type="arabicPeriod"/>
            </a:pPr>
            <a:r>
              <a:rPr lang="sr-Latn-RS" dirty="0" err="1" smtClean="0"/>
              <a:t>Pozicione</a:t>
            </a:r>
            <a:r>
              <a:rPr lang="sr-Latn-RS" dirty="0" smtClean="0"/>
              <a:t> osobine,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Strukturalne osobine.</a:t>
            </a:r>
          </a:p>
          <a:p>
            <a:endParaRPr lang="sr-Latn-RS" dirty="0"/>
          </a:p>
          <a:p>
            <a:r>
              <a:rPr lang="sr-Latn-RS" dirty="0" smtClean="0"/>
              <a:t>Na globalnom nivou dominiraju kvalitativne i strukturalne osobine.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18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Svojstva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PARAMETRI su obeležja kojima opisujemo sistem. </a:t>
            </a:r>
          </a:p>
          <a:p>
            <a:r>
              <a:rPr lang="sr-Latn-RS" dirty="0" smtClean="0"/>
              <a:t>Oni se u toku vremena ne menjaju ili se slabo menjanju.</a:t>
            </a:r>
          </a:p>
          <a:p>
            <a:r>
              <a:rPr lang="sr-Latn-RS" dirty="0" smtClean="0"/>
              <a:t>ATRIBUTI su obeležja sa </a:t>
            </a:r>
            <a:r>
              <a:rPr lang="sr-Latn-RS" dirty="0" err="1" smtClean="0"/>
              <a:t>kojia</a:t>
            </a:r>
            <a:r>
              <a:rPr lang="sr-Latn-RS" dirty="0" smtClean="0"/>
              <a:t> se opisuje proces ili promena stanja. </a:t>
            </a:r>
          </a:p>
          <a:p>
            <a:endParaRPr lang="sr-Latn-RS" dirty="0"/>
          </a:p>
          <a:p>
            <a:r>
              <a:rPr lang="sr-Latn-RS" dirty="0" smtClean="0"/>
              <a:t>Onog trenutka kada su nam obeležja sistema poznata, niz pitanja vezanih za njegove granice i prvobitne identifikacije postaju manje važni.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32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Izučavanje svojstva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Za izučavanje svojstva sistema vrlo često je bitna i njihova vremenska dimenzija kao i aspekat izvesnosti vrednosti obeležja sistema.</a:t>
            </a:r>
          </a:p>
          <a:p>
            <a:r>
              <a:rPr lang="sr-Latn-RS" dirty="0" smtClean="0"/>
              <a:t>Sa gledišta izvesnosti sisteme možemo da grupišemo:</a:t>
            </a:r>
          </a:p>
          <a:p>
            <a:pPr lvl="1">
              <a:buFont typeface="+mj-lt"/>
              <a:buAutoNum type="arabicPeriod"/>
            </a:pPr>
            <a:r>
              <a:rPr lang="sr-Latn-RS" dirty="0" smtClean="0"/>
              <a:t>obeležja sa </a:t>
            </a:r>
            <a:r>
              <a:rPr lang="sr-Latn-RS" dirty="0" err="1" smtClean="0"/>
              <a:t>determinističkim</a:t>
            </a:r>
            <a:r>
              <a:rPr lang="sr-Latn-RS" dirty="0" smtClean="0"/>
              <a:t> vrednostima.</a:t>
            </a:r>
          </a:p>
          <a:p>
            <a:pPr lvl="1">
              <a:buFont typeface="+mj-lt"/>
              <a:buAutoNum type="arabicPeriod"/>
            </a:pPr>
            <a:r>
              <a:rPr lang="sr-Latn-RS" dirty="0" smtClean="0"/>
              <a:t>obeležja sa slučajnim vrednostima.</a:t>
            </a:r>
          </a:p>
          <a:p>
            <a:pPr lvl="1">
              <a:buFont typeface="+mj-lt"/>
              <a:buAutoNum type="arabicPeriod"/>
            </a:pPr>
            <a:r>
              <a:rPr lang="sr-Latn-RS" dirty="0" smtClean="0"/>
              <a:t>obeležja sa neizvesnim vrednostima.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08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Analiza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Pre početka otkrivanja obeležja sistema neophodno je da ispunimo određene uslove: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da znamo aspekat posmatranja (</a:t>
            </a:r>
            <a:r>
              <a:rPr lang="el-GR" dirty="0" smtClean="0"/>
              <a:t>α</a:t>
            </a:r>
            <a:r>
              <a:rPr lang="sr-Latn-RS" dirty="0" smtClean="0"/>
              <a:t>)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da znamo okruženje sistema (</a:t>
            </a:r>
            <a:r>
              <a:rPr lang="el-GR" dirty="0" smtClean="0"/>
              <a:t>ω</a:t>
            </a:r>
            <a:r>
              <a:rPr lang="el-GR" baseline="-25000" dirty="0" smtClean="0"/>
              <a:t>α</a:t>
            </a:r>
            <a:r>
              <a:rPr lang="sr-Latn-RS" dirty="0" smtClean="0"/>
              <a:t>)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da znamo njegove ulaze i izlaze (X</a:t>
            </a:r>
            <a:r>
              <a:rPr lang="el-GR" baseline="-25000" dirty="0" smtClean="0"/>
              <a:t>α</a:t>
            </a:r>
            <a:r>
              <a:rPr lang="sr-Latn-RS" dirty="0" smtClean="0"/>
              <a:t>, Y</a:t>
            </a:r>
            <a:r>
              <a:rPr lang="el-GR" baseline="-25000" dirty="0" smtClean="0"/>
              <a:t>α</a:t>
            </a:r>
            <a:r>
              <a:rPr lang="sr-Latn-RS" dirty="0" smtClean="0"/>
              <a:t>)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da znamo njegove granice</a:t>
            </a:r>
          </a:p>
          <a:p>
            <a:r>
              <a:rPr lang="sr-Latn-RS" dirty="0" smtClean="0"/>
              <a:t>Međutim, često se ovi preduslovi ne mogu ispuniti tako da prilikom otkrivanja svojstava ovi preduslovi mogu da se menjaju.</a:t>
            </a:r>
          </a:p>
          <a:p>
            <a:r>
              <a:rPr lang="sr-Latn-RS" dirty="0" smtClean="0"/>
              <a:t>Takođe, greške u analizi sistema su moguće i ne mogu da se izbegnu, ali njihov broj može da se smanji samo ako smo teorijski i metodološki adekvatno pripremljeni.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74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1286</TotalTime>
  <Words>1293</Words>
  <Application>Microsoft Office PowerPoint</Application>
  <PresentationFormat>Widescreen</PresentationFormat>
  <Paragraphs>132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Trebuchet MS</vt:lpstr>
      <vt:lpstr>Wingdings 3</vt:lpstr>
      <vt:lpstr>Facet</vt:lpstr>
      <vt:lpstr>Teorija sistema i informacija 5</vt:lpstr>
      <vt:lpstr>Definisanje objekta istraživanja</vt:lpstr>
      <vt:lpstr>Pojam </vt:lpstr>
      <vt:lpstr>Izvori</vt:lpstr>
      <vt:lpstr>Problem </vt:lpstr>
      <vt:lpstr>Osobine pojma</vt:lpstr>
      <vt:lpstr>OKRUŽENJE</vt:lpstr>
      <vt:lpstr>OKRUŽENJE</vt:lpstr>
      <vt:lpstr>OKRUŽENJE</vt:lpstr>
      <vt:lpstr>PowerPoint Presentation</vt:lpstr>
      <vt:lpstr>Uloga pojedinih sistema na okruženje</vt:lpstr>
      <vt:lpstr>Okruženje</vt:lpstr>
      <vt:lpstr>Ciklusi istraživanja</vt:lpstr>
      <vt:lpstr>Vreme </vt:lpstr>
      <vt:lpstr>Ulaz i izlaz sistema i njegovi elementi</vt:lpstr>
      <vt:lpstr>PowerPoint Presentation</vt:lpstr>
      <vt:lpstr>Skupovi obeležja</vt:lpstr>
      <vt:lpstr>Sistemi sa velikim brojem ulaza i izlaza</vt:lpstr>
      <vt:lpstr>PowerPoint Presentation</vt:lpstr>
      <vt:lpstr>Prikaz ulaza i izlaza</vt:lpstr>
      <vt:lpstr>Prikaz ulaza i izlaza</vt:lpstr>
      <vt:lpstr>PowerPoint Presentation</vt:lpstr>
      <vt:lpstr>Dinamičnost sistema</vt:lpstr>
      <vt:lpstr>PowerPoint Presentation</vt:lpstr>
      <vt:lpstr>Ograničnja</vt:lpstr>
      <vt:lpstr>Verovatnoće</vt:lpstr>
      <vt:lpstr>Svojstva sistema</vt:lpstr>
      <vt:lpstr>Svojstva sistema</vt:lpstr>
      <vt:lpstr>Svojstva sistema</vt:lpstr>
      <vt:lpstr>Izučavanje svojstva sistema</vt:lpstr>
      <vt:lpstr>Analiza sistema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Teorija sistema i informacija 3</dc:title>
  <dc:creator>Radovan</dc:creator>
  <cp:lastModifiedBy>Radovan</cp:lastModifiedBy>
  <cp:revision>143</cp:revision>
  <dcterms:created xsi:type="dcterms:W3CDTF">2017-03-02T15:24:38Z</dcterms:created>
  <dcterms:modified xsi:type="dcterms:W3CDTF">2017-03-19T23:45:21Z</dcterms:modified>
</cp:coreProperties>
</file>