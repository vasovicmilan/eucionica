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BB4100-96D9-4970-BC75-132E8ACD86B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F450A38C-E776-4907-B2FC-D71F7DA4E396}">
      <dgm:prSet phldrT="[Text]"/>
      <dgm:spPr/>
      <dgm:t>
        <a:bodyPr/>
        <a:lstStyle/>
        <a:p>
          <a:r>
            <a:rPr lang="sr-Latn-RS" dirty="0" smtClean="0"/>
            <a:t>Istraživač 1</a:t>
          </a:r>
          <a:endParaRPr lang="en-US" dirty="0"/>
        </a:p>
      </dgm:t>
    </dgm:pt>
    <dgm:pt modelId="{F0847093-EF3D-43AA-A835-24AF75A87EC4}" type="parTrans" cxnId="{5E38158A-94E5-49CA-B8EF-3DAF2FA6E562}">
      <dgm:prSet/>
      <dgm:spPr/>
      <dgm:t>
        <a:bodyPr/>
        <a:lstStyle/>
        <a:p>
          <a:endParaRPr lang="en-US"/>
        </a:p>
      </dgm:t>
    </dgm:pt>
    <dgm:pt modelId="{6A417585-AAA2-4328-BB69-37534B8C1828}" type="sibTrans" cxnId="{5E38158A-94E5-49CA-B8EF-3DAF2FA6E562}">
      <dgm:prSet/>
      <dgm:spPr/>
      <dgm:t>
        <a:bodyPr/>
        <a:lstStyle/>
        <a:p>
          <a:endParaRPr lang="en-US"/>
        </a:p>
      </dgm:t>
    </dgm:pt>
    <dgm:pt modelId="{C701A3AD-73AF-4D33-BA99-3AEA7C2AB5BE}">
      <dgm:prSet phldrT="[Text]"/>
      <dgm:spPr/>
      <dgm:t>
        <a:bodyPr/>
        <a:lstStyle/>
        <a:p>
          <a:r>
            <a:rPr lang="sr-Latn-RS" dirty="0" smtClean="0"/>
            <a:t>Istraživač 2</a:t>
          </a:r>
          <a:endParaRPr lang="en-US" dirty="0"/>
        </a:p>
      </dgm:t>
    </dgm:pt>
    <dgm:pt modelId="{E35BD6D1-3245-4FBC-A969-6438F7822FA4}" type="parTrans" cxnId="{1F53E73D-BCFA-44E8-90E5-E88054527D7C}">
      <dgm:prSet/>
      <dgm:spPr/>
      <dgm:t>
        <a:bodyPr/>
        <a:lstStyle/>
        <a:p>
          <a:endParaRPr lang="en-US"/>
        </a:p>
      </dgm:t>
    </dgm:pt>
    <dgm:pt modelId="{45D7DBFB-09E4-4A44-90E5-AFCDB6EE1BB3}" type="sibTrans" cxnId="{1F53E73D-BCFA-44E8-90E5-E88054527D7C}">
      <dgm:prSet/>
      <dgm:spPr/>
      <dgm:t>
        <a:bodyPr/>
        <a:lstStyle/>
        <a:p>
          <a:endParaRPr lang="en-US"/>
        </a:p>
      </dgm:t>
    </dgm:pt>
    <dgm:pt modelId="{11612B76-2AC6-4C64-A5A6-7A7A64BB7C1F}" type="pres">
      <dgm:prSet presAssocID="{EFBB4100-96D9-4970-BC75-132E8ACD86BC}" presName="compositeShape" presStyleCnt="0">
        <dgm:presLayoutVars>
          <dgm:chMax val="7"/>
          <dgm:dir/>
          <dgm:resizeHandles val="exact"/>
        </dgm:presLayoutVars>
      </dgm:prSet>
      <dgm:spPr/>
    </dgm:pt>
    <dgm:pt modelId="{E4F8802E-E480-498F-B6DE-FB8AFB53C427}" type="pres">
      <dgm:prSet presAssocID="{F450A38C-E776-4907-B2FC-D71F7DA4E396}" presName="circ1" presStyleLbl="vennNode1" presStyleIdx="0" presStyleCnt="2"/>
      <dgm:spPr/>
      <dgm:t>
        <a:bodyPr/>
        <a:lstStyle/>
        <a:p>
          <a:endParaRPr lang="en-US"/>
        </a:p>
      </dgm:t>
    </dgm:pt>
    <dgm:pt modelId="{D2A957B9-5EF2-4267-BF32-4AE7124C58E1}" type="pres">
      <dgm:prSet presAssocID="{F450A38C-E776-4907-B2FC-D71F7DA4E39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5043E9-3EA0-42AC-9C0C-FBC94701CD6C}" type="pres">
      <dgm:prSet presAssocID="{C701A3AD-73AF-4D33-BA99-3AEA7C2AB5BE}" presName="circ2" presStyleLbl="vennNode1" presStyleIdx="1" presStyleCnt="2"/>
      <dgm:spPr/>
      <dgm:t>
        <a:bodyPr/>
        <a:lstStyle/>
        <a:p>
          <a:endParaRPr lang="en-US"/>
        </a:p>
      </dgm:t>
    </dgm:pt>
    <dgm:pt modelId="{A09613B8-E805-4FB2-98AD-6E63DD681CC3}" type="pres">
      <dgm:prSet presAssocID="{C701A3AD-73AF-4D33-BA99-3AEA7C2AB5B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A25C8C3-DD67-45CA-B0E7-25CF9299A222}" type="presOf" srcId="{EFBB4100-96D9-4970-BC75-132E8ACD86BC}" destId="{11612B76-2AC6-4C64-A5A6-7A7A64BB7C1F}" srcOrd="0" destOrd="0" presId="urn:microsoft.com/office/officeart/2005/8/layout/venn1"/>
    <dgm:cxn modelId="{76466670-EC89-4C7D-9B58-C1605979A7DD}" type="presOf" srcId="{F450A38C-E776-4907-B2FC-D71F7DA4E396}" destId="{D2A957B9-5EF2-4267-BF32-4AE7124C58E1}" srcOrd="1" destOrd="0" presId="urn:microsoft.com/office/officeart/2005/8/layout/venn1"/>
    <dgm:cxn modelId="{5E38158A-94E5-49CA-B8EF-3DAF2FA6E562}" srcId="{EFBB4100-96D9-4970-BC75-132E8ACD86BC}" destId="{F450A38C-E776-4907-B2FC-D71F7DA4E396}" srcOrd="0" destOrd="0" parTransId="{F0847093-EF3D-43AA-A835-24AF75A87EC4}" sibTransId="{6A417585-AAA2-4328-BB69-37534B8C1828}"/>
    <dgm:cxn modelId="{AAC37980-FB98-4A21-9B96-279822E7732F}" type="presOf" srcId="{F450A38C-E776-4907-B2FC-D71F7DA4E396}" destId="{E4F8802E-E480-498F-B6DE-FB8AFB53C427}" srcOrd="0" destOrd="0" presId="urn:microsoft.com/office/officeart/2005/8/layout/venn1"/>
    <dgm:cxn modelId="{30F01205-040D-4D0E-988D-EE75E78D8F3D}" type="presOf" srcId="{C701A3AD-73AF-4D33-BA99-3AEA7C2AB5BE}" destId="{295043E9-3EA0-42AC-9C0C-FBC94701CD6C}" srcOrd="0" destOrd="0" presId="urn:microsoft.com/office/officeart/2005/8/layout/venn1"/>
    <dgm:cxn modelId="{DCD44E79-7707-40A5-B9BC-07D2FB4A6060}" type="presOf" srcId="{C701A3AD-73AF-4D33-BA99-3AEA7C2AB5BE}" destId="{A09613B8-E805-4FB2-98AD-6E63DD681CC3}" srcOrd="1" destOrd="0" presId="urn:microsoft.com/office/officeart/2005/8/layout/venn1"/>
    <dgm:cxn modelId="{1F53E73D-BCFA-44E8-90E5-E88054527D7C}" srcId="{EFBB4100-96D9-4970-BC75-132E8ACD86BC}" destId="{C701A3AD-73AF-4D33-BA99-3AEA7C2AB5BE}" srcOrd="1" destOrd="0" parTransId="{E35BD6D1-3245-4FBC-A969-6438F7822FA4}" sibTransId="{45D7DBFB-09E4-4A44-90E5-AFCDB6EE1BB3}"/>
    <dgm:cxn modelId="{E1F46902-C6D9-4027-8337-24485C8DF084}" type="presParOf" srcId="{11612B76-2AC6-4C64-A5A6-7A7A64BB7C1F}" destId="{E4F8802E-E480-498F-B6DE-FB8AFB53C427}" srcOrd="0" destOrd="0" presId="urn:microsoft.com/office/officeart/2005/8/layout/venn1"/>
    <dgm:cxn modelId="{BC9BBCAB-C6AF-46D7-94B5-5BF65F9C1532}" type="presParOf" srcId="{11612B76-2AC6-4C64-A5A6-7A7A64BB7C1F}" destId="{D2A957B9-5EF2-4267-BF32-4AE7124C58E1}" srcOrd="1" destOrd="0" presId="urn:microsoft.com/office/officeart/2005/8/layout/venn1"/>
    <dgm:cxn modelId="{0D672452-4BA9-4953-9497-6E11CAD234AC}" type="presParOf" srcId="{11612B76-2AC6-4C64-A5A6-7A7A64BB7C1F}" destId="{295043E9-3EA0-42AC-9C0C-FBC94701CD6C}" srcOrd="2" destOrd="0" presId="urn:microsoft.com/office/officeart/2005/8/layout/venn1"/>
    <dgm:cxn modelId="{9163538E-1473-4A4B-B4F6-61659B07AFFF}" type="presParOf" srcId="{11612B76-2AC6-4C64-A5A6-7A7A64BB7C1F}" destId="{A09613B8-E805-4FB2-98AD-6E63DD681CC3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3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20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75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41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56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96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22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8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222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27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6816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73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7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0909F-1ECC-4B4A-8409-4F9B3CD71DE8}" type="datetimeFigureOut">
              <a:rPr lang="en-US" smtClean="0"/>
              <a:t>5/7/2017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37B203-1AE9-409A-AA50-D644D07A5B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71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Teorija</a:t>
            </a:r>
            <a:r>
              <a:rPr lang="en-US" dirty="0"/>
              <a:t> </a:t>
            </a:r>
            <a:r>
              <a:rPr lang="en-US" dirty="0" err="1"/>
              <a:t>sistema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informacija</a:t>
            </a:r>
            <a:r>
              <a:rPr lang="en-US" dirty="0"/>
              <a:t> </a:t>
            </a:r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doc. </a:t>
            </a:r>
            <a:r>
              <a:rPr lang="en-US" dirty="0" err="1"/>
              <a:t>dr</a:t>
            </a:r>
            <a:r>
              <a:rPr lang="en-US" dirty="0"/>
              <a:t> Radovan </a:t>
            </a:r>
            <a:r>
              <a:rPr lang="en-US" dirty="0" err="1"/>
              <a:t>Vladisavljev</a:t>
            </a:r>
            <a:r>
              <a:rPr lang="sr-Latn-RS" dirty="0" err="1"/>
              <a:t>ić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78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Ponašanje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 </a:t>
            </a:r>
            <a:r>
              <a:rPr lang="sr-Latn-RS" b="1" dirty="0" smtClean="0"/>
              <a:t>upoznavanju</a:t>
            </a:r>
            <a:r>
              <a:rPr lang="sr-Latn-RS" dirty="0" smtClean="0"/>
              <a:t> objekta istraživanja (upoznali smo se do sada sa generalnim svojstvima objekta i njegovom strukturom).</a:t>
            </a:r>
          </a:p>
          <a:p>
            <a:r>
              <a:rPr lang="sr-Latn-RS" dirty="0" smtClean="0"/>
              <a:t>Prelazimo na upoznavanju dinamike odnosno ponašanje sistema.</a:t>
            </a:r>
          </a:p>
          <a:p>
            <a:r>
              <a:rPr lang="sr-Latn-RS" b="1" dirty="0" smtClean="0"/>
              <a:t>Ponašanje </a:t>
            </a:r>
            <a:r>
              <a:rPr lang="sr-Latn-RS" dirty="0" smtClean="0"/>
              <a:t>sistem označava šta se dešava u sistemu, odnosno šta je moguće odnosno šta je nemoguće. Ovde se vodi računa o tome šta se desili, šta se dešava i šta bi se moglo desiti.</a:t>
            </a:r>
          </a:p>
          <a:p>
            <a:r>
              <a:rPr lang="sr-Latn-RS" u="sng" dirty="0" smtClean="0"/>
              <a:t>NAPOMENA</a:t>
            </a:r>
            <a:r>
              <a:rPr lang="sr-Latn-RS" dirty="0" smtClean="0"/>
              <a:t>: izgrađenost i ponašanje su uzajamno uslovljavaju.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27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Odnos kompleksnosti i ponašanja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Praktično sistemi na nižem nivou kompleksnosti (po </a:t>
            </a:r>
            <a:r>
              <a:rPr lang="sr-Latn-RS" dirty="0" err="1" smtClean="0"/>
              <a:t>Boldingovoj</a:t>
            </a:r>
            <a:r>
              <a:rPr lang="sr-Latn-RS" dirty="0" smtClean="0"/>
              <a:t> klasifikaciji) nemaju funkcije.</a:t>
            </a:r>
          </a:p>
          <a:p>
            <a:r>
              <a:rPr lang="sr-Latn-RS" dirty="0" smtClean="0"/>
              <a:t>Tek sistemi od 4 nivo pa nadalje imaju izražene funkcije.  </a:t>
            </a:r>
          </a:p>
          <a:p>
            <a:r>
              <a:rPr lang="sr-Latn-RS" dirty="0" smtClean="0"/>
              <a:t>Ponašanje celine se određuje prostorom funkcija (skup funkcija i relacija među funkcijama).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94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Funkcije, procesi i aktivnosti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Funkcije (ili ponašanje) se retko ostvaruju izvođenjem jednog </a:t>
            </a:r>
            <a:r>
              <a:rPr lang="sr-Latn-RS" u="sng" dirty="0" smtClean="0"/>
              <a:t>procesa</a:t>
            </a:r>
            <a:r>
              <a:rPr lang="sr-Latn-RS" dirty="0" smtClean="0"/>
              <a:t>.</a:t>
            </a:r>
          </a:p>
          <a:p>
            <a:r>
              <a:rPr lang="sr-Latn-RS" dirty="0" smtClean="0"/>
              <a:t>Ostvarivanjem funkcija (ili ponašanja) se dešava izvođenje procesa.</a:t>
            </a:r>
          </a:p>
          <a:p>
            <a:r>
              <a:rPr lang="sr-Latn-RS" dirty="0" smtClean="0"/>
              <a:t>Izučavanjem procesa dolazimo do prostora aktivnosti koji je definisan skupom aktivnosti i racijama među aktivnostima. </a:t>
            </a:r>
          </a:p>
          <a:p>
            <a:r>
              <a:rPr lang="sr-Latn-RS" dirty="0" smtClean="0"/>
              <a:t>Izučavanjem prostora aktivnosti dolazimo do dve dimenzije: </a:t>
            </a:r>
            <a:r>
              <a:rPr lang="sr-Latn-R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dimenzija koja se odnosi na relacije resursa</a:t>
            </a:r>
            <a:r>
              <a:rPr lang="sr-Latn-RS" dirty="0" smtClean="0"/>
              <a:t> i </a:t>
            </a:r>
            <a:r>
              <a:rPr lang="sr-Latn-R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dimenzije koje odražavaju zavisnost i uslovljenost među tim relacijama</a:t>
            </a:r>
            <a:r>
              <a:rPr lang="sr-Latn-RS" dirty="0" smtClean="0"/>
              <a:t>. </a:t>
            </a:r>
          </a:p>
          <a:p>
            <a:r>
              <a:rPr lang="sr-Latn-RS" dirty="0" smtClean="0"/>
              <a:t>Na kraju možemo identifikovati prostor </a:t>
            </a:r>
            <a:r>
              <a:rPr lang="sr-Latn-RS" u="sng" dirty="0" smtClean="0"/>
              <a:t>operatora</a:t>
            </a:r>
            <a:r>
              <a:rPr lang="sr-Latn-RS" dirty="0" smtClean="0"/>
              <a:t> koje se sastoji od skupa operatora i skupa relacija među operatora.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94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Ponašanje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Ponašanje sistem je izuzetno kompleksna pojava koja se teško može objasniti bez razlaganja i uprošćavanja. </a:t>
            </a:r>
          </a:p>
          <a:p>
            <a:r>
              <a:rPr lang="sr-Latn-RS" dirty="0" smtClean="0"/>
              <a:t>Iz ovog sledi da smo identifikovali nekoliko prostora: </a:t>
            </a:r>
            <a:r>
              <a:rPr lang="sr-Latn-RS" u="sng" dirty="0" smtClean="0"/>
              <a:t>prostor </a:t>
            </a:r>
            <a:r>
              <a:rPr lang="sr-Latn-R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funkcija</a:t>
            </a:r>
            <a:r>
              <a:rPr lang="sr-Latn-RS" dirty="0" smtClean="0"/>
              <a:t>, </a:t>
            </a:r>
            <a:r>
              <a:rPr lang="sr-Latn-RS" u="sng" dirty="0" smtClean="0"/>
              <a:t>prostor </a:t>
            </a:r>
            <a:r>
              <a:rPr lang="sr-Latn-R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procesa</a:t>
            </a:r>
            <a:r>
              <a:rPr lang="sr-Latn-RS" dirty="0" smtClean="0"/>
              <a:t>, </a:t>
            </a:r>
            <a:r>
              <a:rPr lang="sr-Latn-RS" u="sng" dirty="0" smtClean="0"/>
              <a:t>prostor </a:t>
            </a:r>
            <a:r>
              <a:rPr lang="sr-Latn-R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aktivnosti</a:t>
            </a:r>
            <a:r>
              <a:rPr lang="sr-Latn-RS" u="sng" dirty="0" smtClean="0"/>
              <a:t> </a:t>
            </a:r>
            <a:r>
              <a:rPr lang="sr-Latn-RS" dirty="0" smtClean="0"/>
              <a:t>i </a:t>
            </a:r>
            <a:r>
              <a:rPr lang="sr-Latn-RS" u="sng" dirty="0" smtClean="0"/>
              <a:t>prostor </a:t>
            </a:r>
            <a:r>
              <a:rPr lang="sr-Latn-RS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operatora</a:t>
            </a:r>
            <a:r>
              <a:rPr lang="sr-Latn-RS" dirty="0" smtClean="0"/>
              <a:t>. </a:t>
            </a:r>
          </a:p>
          <a:p>
            <a:endParaRPr lang="sr-Latn-RS" dirty="0"/>
          </a:p>
          <a:p>
            <a:r>
              <a:rPr lang="sr-Latn-RS" dirty="0" smtClean="0"/>
              <a:t>NAPOMENA: kod pojedinih autora termini funkcije i procesi mogu da se rotiraju.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269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3" y="-87104"/>
            <a:ext cx="10826305" cy="694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7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Pojam FUNKCIJE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Funkcija odražava dinamičnost, ponašanje, kao </a:t>
            </a:r>
            <a:r>
              <a:rPr lang="sr-Latn-R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ishod dešavanja</a:t>
            </a:r>
            <a:r>
              <a:rPr lang="sr-Latn-RS" dirty="0" smtClean="0"/>
              <a:t>, a bit funkcije je svrsishodnost i ispunjavanje određene uloge.</a:t>
            </a:r>
          </a:p>
          <a:p>
            <a:r>
              <a:rPr lang="sr-Latn-RS" dirty="0" smtClean="0"/>
              <a:t>Funkcija je uvek vezana za određene nosioce (elemente, podsisteme, …) kao i za određenu strukturu.</a:t>
            </a:r>
          </a:p>
          <a:p>
            <a:r>
              <a:rPr lang="sr-Latn-RS" dirty="0" smtClean="0"/>
              <a:t>Globalne funkcije: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Bazične funkcije (funkcija za obezbeđenje opstanka).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Funkcija za obezbeđenje razvoja (razvoj).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Funkcija za obezbeđenje upravljanja (upravljanje).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019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Istraživanje funkcija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Aspekt posmatranja funkcija je od velike važnosti.</a:t>
            </a:r>
          </a:p>
          <a:p>
            <a:r>
              <a:rPr lang="sr-Latn-RS" dirty="0" smtClean="0"/>
              <a:t>Problem leži u činjenici da jedan istraživač sa određenim predznanjima i instrumentima može dobiti jedne rezultate dok drugi istraživač sa drugačijom bazom znanja može dobiti drugačije rezultate.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517486527"/>
              </p:ext>
            </p:extLst>
          </p:nvPr>
        </p:nvGraphicFramePr>
        <p:xfrm>
          <a:off x="5972175" y="3381375"/>
          <a:ext cx="4438650" cy="3228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987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Rešenje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se za ponašanje jedne pojave identifikuju svi bitni aspekti posmatranja i sa tih aspekata sprovede istraživanje funkcionalnog prostora te pojave, tada dolazimo do skupa svih neophodnih funkcija.</a:t>
            </a:r>
          </a:p>
          <a:p>
            <a:r>
              <a:rPr lang="sr-Latn-RS" dirty="0" smtClean="0"/>
              <a:t>Međutim, kada istraživač posle izvesnog vremena pristupi ponovnom istraživanju sa istim instrumentima može doći do različitih rezultata.</a:t>
            </a:r>
          </a:p>
          <a:p>
            <a:r>
              <a:rPr lang="sr-Latn-RS" dirty="0" smtClean="0"/>
              <a:t>Neke funkcije mogu da nestanu, dok druge funkcije mogu da se pojave.</a:t>
            </a:r>
          </a:p>
          <a:p>
            <a:r>
              <a:rPr lang="sr-Latn-RS" dirty="0" smtClean="0"/>
              <a:t>Iz ovog sledi da je </a:t>
            </a:r>
            <a:r>
              <a:rPr lang="sr-Latn-R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vreme</a:t>
            </a:r>
            <a:r>
              <a:rPr lang="sr-Latn-RS" dirty="0" smtClean="0"/>
              <a:t> nova dimenzija u istraživanju ponašanja sistema.</a:t>
            </a:r>
          </a:p>
          <a:p>
            <a:r>
              <a:rPr lang="sr-Latn-RS" dirty="0" smtClean="0"/>
              <a:t>Treba voditi računa da se o tome da pojedine funkcije mogu biti </a:t>
            </a:r>
            <a:r>
              <a:rPr lang="sr-Latn-RS" dirty="0" err="1" smtClean="0"/>
              <a:t>preobimne</a:t>
            </a:r>
            <a:r>
              <a:rPr lang="sr-Latn-RS" dirty="0" smtClean="0"/>
              <a:t> tako da ih je potrebno uprostiti, tada dolazimo do mikro </a:t>
            </a:r>
            <a:r>
              <a:rPr lang="sr-Latn-RS" b="1" dirty="0" smtClean="0"/>
              <a:t>funkcija</a:t>
            </a:r>
            <a:r>
              <a:rPr lang="sr-Latn-R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579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36" y="0"/>
            <a:ext cx="9917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14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Vreme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Vreme čini novu važnu dimenziju posmatranja sistema.</a:t>
            </a:r>
          </a:p>
          <a:p>
            <a:r>
              <a:rPr lang="sr-Latn-RS" dirty="0" smtClean="0"/>
              <a:t>Neke funkcije tokom vremena mogu da nestati, pojaviti se, podeliti, spojiti ili ostati nepromenjene. </a:t>
            </a:r>
          </a:p>
          <a:p>
            <a:r>
              <a:rPr lang="sr-Latn-RS" dirty="0" smtClean="0"/>
              <a:t>Bitno je naglasiti to da u određenom vremenskom preseku postoji određeni skup funkcija koji određuju objekat posmatranja za taj vremenski trenutak (interval oko tog vremenskog preseka).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61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72" y="673100"/>
            <a:ext cx="11729628" cy="540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69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Pojam procesa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Pod pojmom procesa podrazumevamo niz povezanih dešavanja, tok događaja, tok odigravanja.</a:t>
            </a:r>
          </a:p>
          <a:p>
            <a:r>
              <a:rPr lang="sr-Latn-RS" dirty="0" smtClean="0"/>
              <a:t>Ovaj fenomen se pojavljuje u svim nivoima kompleksnosti, osim kod prvog statičkog nivoa (po </a:t>
            </a:r>
            <a:r>
              <a:rPr lang="sr-Latn-RS" dirty="0" err="1" smtClean="0"/>
              <a:t>Boldingovoj</a:t>
            </a:r>
            <a:r>
              <a:rPr lang="sr-Latn-RS" dirty="0" smtClean="0"/>
              <a:t> klasifikaciji).</a:t>
            </a:r>
          </a:p>
          <a:p>
            <a:r>
              <a:rPr lang="sr-Latn-RS" dirty="0" smtClean="0"/>
              <a:t>I ovde se pojavljuje određeni stepen kompleksnosti tako da i ovde možemo podeliti procese na:</a:t>
            </a:r>
          </a:p>
          <a:p>
            <a:pPr lvl="1">
              <a:buFont typeface="+mj-lt"/>
              <a:buAutoNum type="arabicPeriod"/>
            </a:pPr>
            <a:r>
              <a:rPr lang="sr-Latn-RS" dirty="0" smtClean="0"/>
              <a:t>Bazične procese (osnovne procese).</a:t>
            </a:r>
          </a:p>
          <a:p>
            <a:pPr lvl="1">
              <a:buFont typeface="+mj-lt"/>
              <a:buAutoNum type="arabicPeriod"/>
            </a:pPr>
            <a:r>
              <a:rPr lang="sr-Latn-RS" dirty="0" smtClean="0"/>
              <a:t>Razvojne procese. </a:t>
            </a:r>
          </a:p>
          <a:p>
            <a:pPr lvl="1">
              <a:buFont typeface="+mj-lt"/>
              <a:buAutoNum type="arabicPeriod"/>
            </a:pPr>
            <a:r>
              <a:rPr lang="sr-Latn-RS" dirty="0" smtClean="0"/>
              <a:t>Upravljačke procese.</a:t>
            </a:r>
          </a:p>
        </p:txBody>
      </p:sp>
    </p:spTree>
    <p:extLst>
      <p:ext uri="{BB962C8B-B14F-4D97-AF65-F5344CB8AC3E}">
        <p14:creationId xmlns:p14="http://schemas.microsoft.com/office/powerpoint/2010/main" val="158259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Procesi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Osnovni procesi obuhvataju sva dešavanja putem kojih se ostvaruje priroda, osnovna uloga ili funkcija posmatranog objekta.</a:t>
            </a:r>
          </a:p>
          <a:p>
            <a:r>
              <a:rPr lang="sr-Latn-RS" dirty="0" smtClean="0"/>
              <a:t>Kod kompleksnih sistema (od 4 nivo pa naviše) osnovni procesi obezbeđuju opstanak sistema.</a:t>
            </a:r>
          </a:p>
          <a:p>
            <a:r>
              <a:rPr lang="sr-Latn-RS" dirty="0" smtClean="0"/>
              <a:t>Razvojni procesi su ona dešavanja koja prevode objekat posmatranja iz jednog u drugo stanje. Ovde imamo kreiranje nove strukture, funkcija, …</a:t>
            </a:r>
          </a:p>
          <a:p>
            <a:r>
              <a:rPr lang="sr-Latn-RS" dirty="0" smtClean="0"/>
              <a:t>Svrha razvojni procesa je da omoguće povoljnije uslove osnovnim procesima (lakši opstanak).</a:t>
            </a:r>
          </a:p>
          <a:p>
            <a:r>
              <a:rPr lang="sr-Latn-RS" dirty="0" smtClean="0"/>
              <a:t>Upravljački procesi obezbeđuju uslove za osnovne i razvojne procese kroz usmeravanja i stabilizaciju u saglasnosti sa prirodom posmatranog sistema.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42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0"/>
            <a:ext cx="10551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4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Aktivnosti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Aktivnosti su deo procesa, najmanji deo koji sadrži osobine integralnosti, jer integriše (povezuje) resurse elementa za postizanje jednog dela, od onog rezultata koji </a:t>
            </a:r>
            <a:r>
              <a:rPr lang="sr-Latn-RS" smtClean="0"/>
              <a:t>ostvaruje proces.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482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Transformacija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Dešavanja odnosno ponašanje sistema se </a:t>
            </a:r>
            <a:r>
              <a:rPr lang="sr-Latn-RS" dirty="0" err="1" smtClean="0"/>
              <a:t>odražva</a:t>
            </a:r>
            <a:r>
              <a:rPr lang="sr-Latn-RS" dirty="0" smtClean="0"/>
              <a:t> u razlikama, razlike su neophodne za izražavanje promena.</a:t>
            </a:r>
          </a:p>
          <a:p>
            <a:r>
              <a:rPr lang="sr-Latn-RS" dirty="0" smtClean="0"/>
              <a:t>Takođe važi i obrnuto.</a:t>
            </a:r>
          </a:p>
          <a:p>
            <a:r>
              <a:rPr lang="sr-Latn-RS" dirty="0" smtClean="0"/>
              <a:t>Promene su često neprekidne.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3975100"/>
            <a:ext cx="6111976" cy="192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805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Transformacija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Operator može da deluje na veći broj </a:t>
            </a:r>
            <a:r>
              <a:rPr lang="sr-Latn-RS" dirty="0" err="1" smtClean="0"/>
              <a:t>operanda</a:t>
            </a:r>
            <a:r>
              <a:rPr lang="sr-Latn-RS" dirty="0" smtClean="0"/>
              <a:t> kod svakog izazivajući jedan karakterističan prelaz.</a:t>
            </a:r>
          </a:p>
          <a:p>
            <a:r>
              <a:rPr lang="sr-Latn-RS" dirty="0" smtClean="0"/>
              <a:t>Ovo se naziva TRANSFORMACIJA.</a:t>
            </a:r>
          </a:p>
          <a:p>
            <a:r>
              <a:rPr lang="sr-Latn-RS" dirty="0" smtClean="0"/>
              <a:t>NAPOMENA: transformacija označava ŠTA se dešava ali ne ZAŠTO se nešto dešava.</a:t>
            </a:r>
          </a:p>
          <a:p>
            <a:r>
              <a:rPr lang="sr-Latn-RS" dirty="0" smtClean="0"/>
              <a:t>Jedna transformacija čini skup svih prelaza pod dejstvom istog operatora.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75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Zatvorenost i otvorenost transformacije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Zatvorenost transformacije, kada jedan operator deluje na određeni skup </a:t>
            </a:r>
            <a:r>
              <a:rPr lang="sr-Latn-RS" dirty="0" err="1" smtClean="0"/>
              <a:t>operanata</a:t>
            </a:r>
            <a:r>
              <a:rPr lang="sr-Latn-RS" dirty="0" smtClean="0"/>
              <a:t> i u tom skupu </a:t>
            </a:r>
            <a:r>
              <a:rPr lang="sr-Latn-RS" dirty="0" err="1" smtClean="0"/>
              <a:t>transforma</a:t>
            </a:r>
            <a:r>
              <a:rPr lang="sr-Latn-RS" dirty="0" smtClean="0"/>
              <a:t> nema novih vrednosti.</a:t>
            </a:r>
          </a:p>
          <a:p>
            <a:r>
              <a:rPr lang="sr-Latn-RS" dirty="0" smtClean="0"/>
              <a:t>Otvorenost transformacije označava pojavu novih vrednosti u </a:t>
            </a:r>
            <a:r>
              <a:rPr lang="sr-Latn-RS" dirty="0" err="1" smtClean="0"/>
              <a:t>transformi</a:t>
            </a:r>
            <a:r>
              <a:rPr lang="sr-Latn-R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057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Jednoznačne transformacije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sr-Latn-RS" dirty="0" smtClean="0"/>
              <a:t>A B C D … X Y Z</a:t>
            </a:r>
          </a:p>
          <a:p>
            <a:pPr marL="0" indent="0" algn="ctr">
              <a:buNone/>
            </a:pPr>
            <a:r>
              <a:rPr lang="sr-Latn-RS" dirty="0" smtClean="0"/>
              <a:t>B C D E … Y Z A</a:t>
            </a:r>
          </a:p>
          <a:p>
            <a:pPr algn="just"/>
            <a:r>
              <a:rPr lang="sr-Latn-RS" dirty="0" smtClean="0"/>
              <a:t>U prethodnom slučaju možemo videti da slova abecede pomerena za jedno mesto u </a:t>
            </a:r>
            <a:r>
              <a:rPr lang="sr-Latn-RS" dirty="0" err="1" smtClean="0"/>
              <a:t>transformi</a:t>
            </a:r>
            <a:r>
              <a:rPr lang="sr-Latn-RS" dirty="0" smtClean="0"/>
              <a:t>.</a:t>
            </a:r>
          </a:p>
          <a:p>
            <a:pPr algn="just"/>
            <a:endParaRPr lang="sr-Latn-RS" dirty="0"/>
          </a:p>
          <a:p>
            <a:pPr marL="0" indent="0" algn="ctr">
              <a:buNone/>
            </a:pPr>
            <a:r>
              <a:rPr lang="sr-Latn-RS" dirty="0" smtClean="0"/>
              <a:t>   1 2 3  4   5   6 …</a:t>
            </a:r>
          </a:p>
          <a:p>
            <a:pPr marL="0" indent="0" algn="ctr">
              <a:buNone/>
            </a:pPr>
            <a:r>
              <a:rPr lang="sr-Latn-RS" dirty="0" smtClean="0"/>
              <a:t>7 8 9 10 11 12</a:t>
            </a:r>
          </a:p>
          <a:p>
            <a:r>
              <a:rPr lang="sr-Latn-RS" dirty="0" smtClean="0"/>
              <a:t>U sledećem slučaju vidimo beskonačnu transformaciju, kako je ne možemo ovako ostaviti zapisaćemo je formulom</a:t>
            </a:r>
          </a:p>
          <a:p>
            <a:pPr marL="0" indent="0" algn="ctr">
              <a:buNone/>
            </a:pPr>
            <a:r>
              <a:rPr lang="sr-Latn-RS" dirty="0" smtClean="0"/>
              <a:t>n</a:t>
            </a:r>
            <a:r>
              <a:rPr lang="en-US" dirty="0" smtClean="0"/>
              <a:t>`</a:t>
            </a:r>
            <a:r>
              <a:rPr lang="sr-Latn-RS" dirty="0" smtClean="0"/>
              <a:t> </a:t>
            </a:r>
            <a:r>
              <a:rPr lang="sr-Latn-RS" dirty="0" smtClean="0">
                <a:sym typeface="Symbol" panose="05050102010706020507" pitchFamily="18" charset="2"/>
              </a:rPr>
              <a:t></a:t>
            </a:r>
            <a:r>
              <a:rPr lang="sr-Latn-RS" dirty="0" smtClean="0"/>
              <a:t> n + 6</a:t>
            </a:r>
          </a:p>
        </p:txBody>
      </p:sp>
    </p:spTree>
    <p:extLst>
      <p:ext uri="{BB962C8B-B14F-4D97-AF65-F5344CB8AC3E}">
        <p14:creationId xmlns:p14="http://schemas.microsoft.com/office/powerpoint/2010/main" val="2441920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Višeznačne transformacije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Do sada smo prikazivali jednoznačne transformacije, u velikom broju </a:t>
            </a:r>
            <a:r>
              <a:rPr lang="sr-Latn-RS" dirty="0" err="1" smtClean="0"/>
              <a:t>slučeva</a:t>
            </a:r>
            <a:r>
              <a:rPr lang="sr-Latn-RS" dirty="0" smtClean="0"/>
              <a:t> transformacije mogu da budu višeznačne.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795311"/>
            <a:ext cx="9278626" cy="93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995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Načini prikazivanja transformacije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Opšti oblik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749" y="3097675"/>
            <a:ext cx="8124001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09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Načini prikazivanja transformacije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Matrični oblik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862" y="1764174"/>
            <a:ext cx="6451151" cy="467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48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Načini prikazivanja transformacije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Grafički oblik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877" y="2160589"/>
            <a:ext cx="9216124" cy="455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4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Predstavljanje ponašanje sistema transformacijom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smo govorili o svojstvima sistema videli smo da ceo objekat posmatranja (sistem) možemo da odredimo skupom njegovih obeležja.</a:t>
            </a:r>
          </a:p>
          <a:p>
            <a:r>
              <a:rPr lang="sr-Latn-RS" dirty="0" smtClean="0"/>
              <a:t>Vrednosti ovih obeležja u nekom trenutku „t“ određuje STANJE tog objekta u tom vremenskom preseku.</a:t>
            </a:r>
          </a:p>
          <a:p>
            <a:r>
              <a:rPr lang="sr-Latn-RS" dirty="0" smtClean="0"/>
              <a:t>Vršenje preseka stanja u vremenskim intervalima dobijamo predstavu o promeni stanja.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264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4" y="0"/>
            <a:ext cx="10959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0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1" y="761999"/>
            <a:ext cx="12033677" cy="53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98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Istraživanje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 konkretnim istraživanjima veoma često su istraživači prisiljeni da umesto globalnog ponašanja sistema posmatraju samo neke njegove delove i da na osnovu ovoga zasnivaju zaključke.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52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Vrsta (tipovi) ponašanja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koristimo transformacije kao osnovnu strategiju istraživanja sistema tada smo rešili samo jedan od preduslova za ispitivanje ponašanja objekta upoznavanja. </a:t>
            </a:r>
          </a:p>
          <a:p>
            <a:r>
              <a:rPr lang="sr-Latn-RS" dirty="0" smtClean="0"/>
              <a:t>Drugi skup problema leži u aspektu posmatranja sistema.</a:t>
            </a:r>
          </a:p>
          <a:p>
            <a:r>
              <a:rPr lang="sr-Latn-RS" dirty="0" smtClean="0"/>
              <a:t>Najvažniji aspekti:</a:t>
            </a:r>
          </a:p>
          <a:p>
            <a:pPr lvl="1"/>
            <a:r>
              <a:rPr lang="sr-Latn-RS" dirty="0" smtClean="0"/>
              <a:t>konačnost,</a:t>
            </a:r>
          </a:p>
          <a:p>
            <a:pPr lvl="1"/>
            <a:r>
              <a:rPr lang="sr-Latn-RS" dirty="0" smtClean="0"/>
              <a:t>izvesnost,</a:t>
            </a:r>
          </a:p>
          <a:p>
            <a:pPr lvl="1"/>
            <a:r>
              <a:rPr lang="sr-Latn-RS" dirty="0" smtClean="0"/>
              <a:t>stepen poznavanja </a:t>
            </a:r>
          </a:p>
          <a:p>
            <a:pPr lvl="1"/>
            <a:r>
              <a:rPr lang="sr-Latn-R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9033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406399"/>
            <a:ext cx="7985738" cy="621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84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499" y="336550"/>
            <a:ext cx="6881213" cy="611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91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292100"/>
            <a:ext cx="10411201" cy="630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09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 smtClean="0"/>
              <a:t>Determinističko</a:t>
            </a:r>
            <a:r>
              <a:rPr lang="sr-Latn-RS" dirty="0" smtClean="0"/>
              <a:t> beskonačno ponašanje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Sistemi koji mogu beskrajno dugo da funkcionišu i u tom funkcionisanju nema neizvesnosti.</a:t>
            </a:r>
          </a:p>
          <a:p>
            <a:r>
              <a:rPr lang="sr-Latn-RS" dirty="0" smtClean="0"/>
              <a:t>Ovakvi sistemi mogu da se prikažu jednoznačnim zatvorenim transformacijama.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54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130550"/>
            <a:ext cx="11982450" cy="144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877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55" y="323850"/>
            <a:ext cx="11973745" cy="133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27" y="2616199"/>
            <a:ext cx="11582400" cy="342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29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742949"/>
            <a:ext cx="8701914" cy="543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20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12750"/>
            <a:ext cx="10712620" cy="617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280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 smtClean="0"/>
              <a:t>Determinističko</a:t>
            </a:r>
            <a:r>
              <a:rPr lang="sr-Latn-RS" dirty="0" smtClean="0"/>
              <a:t> konačno ponašanje sistema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74" y="2692400"/>
            <a:ext cx="9850352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41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397000"/>
            <a:ext cx="11772900" cy="394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7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Stohastičko ponašanje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Stohastički sistemi imaju dozu neizvesnosti, nesigurnosti i delima u pogledu ishoda.</a:t>
            </a:r>
          </a:p>
          <a:p>
            <a:r>
              <a:rPr lang="sr-Latn-RS" dirty="0" smtClean="0"/>
              <a:t>Prikazivanjem ovih sistema najčešće se koriste višeznačne transformacije.</a:t>
            </a:r>
          </a:p>
          <a:p>
            <a:r>
              <a:rPr lang="sr-Latn-RS" dirty="0" smtClean="0"/>
              <a:t>Za potrebno istraživanje ovih sistema potrebno je imati evidenciju ponašanja sistema (bez ove evidencije ulazimo u domena neizvesnih sistema – evidencija je u stavi statistika mogućih ishoda)</a:t>
            </a:r>
          </a:p>
        </p:txBody>
      </p:sp>
    </p:spTree>
    <p:extLst>
      <p:ext uri="{BB962C8B-B14F-4D97-AF65-F5344CB8AC3E}">
        <p14:creationId xmlns:p14="http://schemas.microsoft.com/office/powerpoint/2010/main" val="10897489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 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468716"/>
            <a:ext cx="8810738" cy="29233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5" y="3314700"/>
            <a:ext cx="368626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12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Primer 2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49" y="1587500"/>
            <a:ext cx="10017001" cy="14710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3625850"/>
            <a:ext cx="11775863" cy="227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25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49" y="958850"/>
            <a:ext cx="11371460" cy="502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313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505" y="0"/>
            <a:ext cx="5353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00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164"/>
            <a:ext cx="12158454" cy="520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2319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320</TotalTime>
  <Words>1156</Words>
  <Application>Microsoft Office PowerPoint</Application>
  <PresentationFormat>Widescreen</PresentationFormat>
  <Paragraphs>113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Symbol</vt:lpstr>
      <vt:lpstr>Trebuchet MS</vt:lpstr>
      <vt:lpstr>Wingdings 3</vt:lpstr>
      <vt:lpstr>Facet</vt:lpstr>
      <vt:lpstr>Teorija sistema i informacija 7</vt:lpstr>
      <vt:lpstr>Ponašanje sistema</vt:lpstr>
      <vt:lpstr>Odnos kompleksnosti i ponašanja sistema</vt:lpstr>
      <vt:lpstr>Funkcije, procesi i aktivnosti</vt:lpstr>
      <vt:lpstr>Ponašanje sistema</vt:lpstr>
      <vt:lpstr>PowerPoint Presentation</vt:lpstr>
      <vt:lpstr>Pojam FUNKCIJE</vt:lpstr>
      <vt:lpstr>Istraživanje funkcija</vt:lpstr>
      <vt:lpstr>Rešenje </vt:lpstr>
      <vt:lpstr>PowerPoint Presentation</vt:lpstr>
      <vt:lpstr>Vreme</vt:lpstr>
      <vt:lpstr>PowerPoint Presentation</vt:lpstr>
      <vt:lpstr>Pojam procesa</vt:lpstr>
      <vt:lpstr>Procesi</vt:lpstr>
      <vt:lpstr>PowerPoint Presentation</vt:lpstr>
      <vt:lpstr>Aktivnosti</vt:lpstr>
      <vt:lpstr>Transformacija sistema</vt:lpstr>
      <vt:lpstr>Transformacija</vt:lpstr>
      <vt:lpstr>Zatvorenost i otvorenost transformacije</vt:lpstr>
      <vt:lpstr>Jednoznačne transformacije</vt:lpstr>
      <vt:lpstr>Višeznačne transformacije</vt:lpstr>
      <vt:lpstr>Načini prikazivanja transformacije</vt:lpstr>
      <vt:lpstr>Načini prikazivanja transformacije</vt:lpstr>
      <vt:lpstr>Načini prikazivanja transformacije</vt:lpstr>
      <vt:lpstr>Predstavljanje ponašanje sistema transformacijom </vt:lpstr>
      <vt:lpstr>PowerPoint Presentation</vt:lpstr>
      <vt:lpstr>PowerPoint Presentation</vt:lpstr>
      <vt:lpstr>Istraživanje sistema</vt:lpstr>
      <vt:lpstr>Vrsta (tipovi) ponašanja sistema</vt:lpstr>
      <vt:lpstr>PowerPoint Presentation</vt:lpstr>
      <vt:lpstr>PowerPoint Presentation</vt:lpstr>
      <vt:lpstr>PowerPoint Presentation</vt:lpstr>
      <vt:lpstr>Determinističko beskonačno ponašanje sistema</vt:lpstr>
      <vt:lpstr>Primer</vt:lpstr>
      <vt:lpstr>PowerPoint Presentation</vt:lpstr>
      <vt:lpstr>PowerPoint Presentation</vt:lpstr>
      <vt:lpstr>PowerPoint Presentation</vt:lpstr>
      <vt:lpstr>Determinističko konačno ponašanje sistema</vt:lpstr>
      <vt:lpstr>PowerPoint Presentation</vt:lpstr>
      <vt:lpstr>Stohastičko ponašanje sistema</vt:lpstr>
      <vt:lpstr>Primer 1</vt:lpstr>
      <vt:lpstr>Primer 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Radovan</dc:creator>
  <cp:lastModifiedBy>Radovan</cp:lastModifiedBy>
  <cp:revision>33</cp:revision>
  <dcterms:created xsi:type="dcterms:W3CDTF">2017-05-06T15:24:07Z</dcterms:created>
  <dcterms:modified xsi:type="dcterms:W3CDTF">2017-05-07T21:48:19Z</dcterms:modified>
</cp:coreProperties>
</file>