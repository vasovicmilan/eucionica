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0" r:id="rId3"/>
    <p:sldId id="257" r:id="rId4"/>
    <p:sldId id="261" r:id="rId5"/>
    <p:sldId id="262" r:id="rId6"/>
    <p:sldId id="263" r:id="rId7"/>
    <p:sldId id="264" r:id="rId8"/>
    <p:sldId id="258" r:id="rId9"/>
    <p:sldId id="270" r:id="rId10"/>
    <p:sldId id="259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A7573962-0AF9-4EF2-8C82-16D09BB2C99A}" type="datetimeFigureOut">
              <a:rPr lang="en-US" smtClean="0"/>
              <a:t>05-Mar-19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49526927-A40A-4F3A-AC62-B4C3F6A7934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7573962-0AF9-4EF2-8C82-16D09BB2C99A}" type="datetimeFigureOut">
              <a:rPr lang="en-US" smtClean="0"/>
              <a:t>05-Mar-19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9526927-A40A-4F3A-AC62-B4C3F6A7934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A7573962-0AF9-4EF2-8C82-16D09BB2C99A}" type="datetimeFigureOut">
              <a:rPr lang="en-US" smtClean="0"/>
              <a:t>05-Mar-19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49526927-A40A-4F3A-AC62-B4C3F6A7934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73962-0AF9-4EF2-8C82-16D09BB2C99A}" type="datetimeFigureOut">
              <a:rPr lang="en-US" smtClean="0"/>
              <a:t>05-Mar-19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6927-A40A-4F3A-AC62-B4C3F6A7934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73962-0AF9-4EF2-8C82-16D09BB2C99A}" type="datetimeFigureOut">
              <a:rPr lang="en-US" smtClean="0"/>
              <a:t>05-Mar-19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6927-A40A-4F3A-AC62-B4C3F6A7934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7573962-0AF9-4EF2-8C82-16D09BB2C99A}" type="datetimeFigureOut">
              <a:rPr lang="en-US" smtClean="0"/>
              <a:t>05-Mar-19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9526927-A40A-4F3A-AC62-B4C3F6A7934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73962-0AF9-4EF2-8C82-16D09BB2C99A}" type="datetimeFigureOut">
              <a:rPr lang="en-US" smtClean="0"/>
              <a:t>05-Mar-19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6927-A40A-4F3A-AC62-B4C3F6A793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7573962-0AF9-4EF2-8C82-16D09BB2C99A}" type="datetimeFigureOut">
              <a:rPr lang="en-US" smtClean="0"/>
              <a:t>05-Mar-19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9526927-A40A-4F3A-AC62-B4C3F6A79341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7573962-0AF9-4EF2-8C82-16D09BB2C99A}" type="datetimeFigureOut">
              <a:rPr lang="en-US" smtClean="0"/>
              <a:t>05-Mar-19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9526927-A40A-4F3A-AC62-B4C3F6A79341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73962-0AF9-4EF2-8C82-16D09BB2C99A}" type="datetimeFigureOut">
              <a:rPr lang="en-US" smtClean="0"/>
              <a:t>05-Mar-19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6927-A40A-4F3A-AC62-B4C3F6A793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73962-0AF9-4EF2-8C82-16D09BB2C99A}" type="datetimeFigureOut">
              <a:rPr lang="en-US" smtClean="0"/>
              <a:t>05-Mar-19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6927-A40A-4F3A-AC62-B4C3F6A793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7573962-0AF9-4EF2-8C82-16D09BB2C99A}" type="datetimeFigureOut">
              <a:rPr lang="en-US" smtClean="0"/>
              <a:t>05-Mar-19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9526927-A40A-4F3A-AC62-B4C3F6A7934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 smtClean="0"/>
              <a:t>ER DIJAGRAMI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ER dijagram  - grafički prikaz osnovnih elemenata ER modela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228600"/>
            <a:ext cx="8229600" cy="6172200"/>
          </a:xfrm>
        </p:spPr>
        <p:txBody>
          <a:bodyPr>
            <a:normAutofit/>
          </a:bodyPr>
          <a:lstStyle/>
          <a:p>
            <a:r>
              <a:rPr lang="sr-Latn-RS" dirty="0" smtClean="0"/>
              <a:t>Dijagram na kojem su prikazani entiteti sa svojim atributima i poveznici koji predstavljaju  veze između entiteta.</a:t>
            </a:r>
          </a:p>
          <a:p>
            <a:endParaRPr lang="sr-Latn-RS" dirty="0" smtClean="0"/>
          </a:p>
          <a:p>
            <a:r>
              <a:rPr lang="sr-Latn-RS" dirty="0" smtClean="0"/>
              <a:t>Osnovni elementi modela :</a:t>
            </a:r>
          </a:p>
          <a:p>
            <a:r>
              <a:rPr lang="en-US" dirty="0" smtClean="0"/>
              <a:t>E</a:t>
            </a:r>
            <a:r>
              <a:rPr lang="sr-Latn-RS" dirty="0" smtClean="0"/>
              <a:t>ntitet </a:t>
            </a:r>
          </a:p>
          <a:p>
            <a:r>
              <a:rPr lang="sr-Latn-RS" dirty="0" smtClean="0"/>
              <a:t>Veza </a:t>
            </a:r>
          </a:p>
          <a:p>
            <a:pPr>
              <a:buNone/>
            </a:pPr>
            <a:r>
              <a:rPr lang="sr-Latn-RS" dirty="0" smtClean="0"/>
              <a:t>   </a:t>
            </a:r>
          </a:p>
          <a:p>
            <a:r>
              <a:rPr lang="sr-Latn-RS" dirty="0" smtClean="0"/>
              <a:t>Atribut </a:t>
            </a:r>
          </a:p>
          <a:p>
            <a:pPr>
              <a:buNone/>
            </a:pPr>
            <a:endParaRPr lang="sr-Latn-RS" dirty="0" smtClean="0"/>
          </a:p>
          <a:p>
            <a:r>
              <a:rPr lang="sr-Latn-RS" dirty="0" smtClean="0"/>
              <a:t>Slabi objekat</a:t>
            </a:r>
          </a:p>
          <a:p>
            <a:endParaRPr lang="sr-Latn-RS" dirty="0" smtClean="0"/>
          </a:p>
          <a:p>
            <a:r>
              <a:rPr lang="sr-Latn-RS" dirty="0" smtClean="0"/>
              <a:t>Povezivanje elemenata na dijagramu</a:t>
            </a:r>
          </a:p>
        </p:txBody>
      </p:sp>
      <p:sp>
        <p:nvSpPr>
          <p:cNvPr id="4" name="Flowchart: Process 3"/>
          <p:cNvSpPr/>
          <p:nvPr/>
        </p:nvSpPr>
        <p:spPr>
          <a:xfrm>
            <a:off x="2514600" y="2286000"/>
            <a:ext cx="2133600" cy="4572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/>
          <p:cNvSpPr/>
          <p:nvPr/>
        </p:nvSpPr>
        <p:spPr>
          <a:xfrm>
            <a:off x="2590800" y="2819400"/>
            <a:ext cx="1752600" cy="5334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514600" y="3505200"/>
            <a:ext cx="1981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Process 7"/>
          <p:cNvSpPr/>
          <p:nvPr/>
        </p:nvSpPr>
        <p:spPr>
          <a:xfrm>
            <a:off x="2743200" y="4267200"/>
            <a:ext cx="1447800" cy="9906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Process 8"/>
          <p:cNvSpPr/>
          <p:nvPr/>
        </p:nvSpPr>
        <p:spPr>
          <a:xfrm>
            <a:off x="3048000" y="4343400"/>
            <a:ext cx="914400" cy="8382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6096000" y="5562600"/>
            <a:ext cx="11430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Entitet – Osoba, objekat, događaj  ili koncept u korisničkom okruženju o kome je potrebno čuvati i pratiti podatke</a:t>
            </a:r>
          </a:p>
          <a:p>
            <a:r>
              <a:rPr lang="sr-Latn-RS" dirty="0" smtClean="0"/>
              <a:t>Tip entiteta – Kolekcija entiteta sa zajedničkim osobinama</a:t>
            </a:r>
          </a:p>
          <a:p>
            <a:r>
              <a:rPr lang="sr-Latn-RS" dirty="0" smtClean="0"/>
              <a:t>Veza – Odnos između dva ili više entiteta koji je od značaja za informacioni sistem</a:t>
            </a:r>
          </a:p>
          <a:p>
            <a:r>
              <a:rPr lang="sr-Latn-RS" dirty="0" smtClean="0"/>
              <a:t>Atribut – Imenovana osobina entiteta ili  veze koja je od značaja za informacioni sistem.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Entitet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Opšti pojam koji se može jednoznačno odrediti, a o kome u bazi podataka čuvamo podatke.</a:t>
            </a:r>
          </a:p>
          <a:p>
            <a:r>
              <a:rPr lang="sr-Latn-RS" dirty="0" smtClean="0"/>
              <a:t>Entitet zajedno sa svojim atributima čini tip entiteta za koji može postojati više instanci entiteta.</a:t>
            </a:r>
          </a:p>
          <a:p>
            <a:r>
              <a:rPr lang="sr-Latn-RS" dirty="0" smtClean="0"/>
              <a:t>Na dijagramu su pravougaonici</a:t>
            </a:r>
          </a:p>
          <a:p>
            <a:r>
              <a:rPr lang="sr-Latn-RS" dirty="0" smtClean="0"/>
              <a:t>Primer: 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4724400"/>
            <a:ext cx="52387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Atribut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Karakteristika koja bliže opisuje entitet ili vezu.</a:t>
            </a:r>
          </a:p>
          <a:p>
            <a:r>
              <a:rPr lang="sr-Latn-RS" dirty="0" smtClean="0"/>
              <a:t>Može primiti vrednost iz određenog skupa vrednosti koji predstavlja domen tog atributa.</a:t>
            </a:r>
          </a:p>
          <a:p>
            <a:r>
              <a:rPr lang="sr-Latn-RS" dirty="0" smtClean="0"/>
              <a:t>Atribut koji jednoznačno određuje svaku pojavu entiteta naziva se ključ entiteta.</a:t>
            </a:r>
          </a:p>
          <a:p>
            <a:r>
              <a:rPr lang="sr-Latn-RS" dirty="0" smtClean="0"/>
              <a:t>Može biti više takvih ključeva, jedan se proglašava za primarni ključ.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Elipsa unutar koje je upisan naziv atributa</a:t>
            </a:r>
          </a:p>
          <a:p>
            <a:r>
              <a:rPr lang="sr-Latn-RS" dirty="0" smtClean="0"/>
              <a:t>Ključni atributi se podvlače (primarni ključ)</a:t>
            </a:r>
          </a:p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2971800"/>
            <a:ext cx="3878580" cy="197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Primarni ključ -  atriizvan dbut koji ima jedinstvenu vrednost za sve instance</a:t>
            </a:r>
          </a:p>
          <a:p>
            <a:r>
              <a:rPr lang="sr-Latn-RS" dirty="0" smtClean="0"/>
              <a:t>Sekundarni ključ – atribut preko kojeg se vrši povezivanje tabela. Domen vrednosti sekundarnog ključa je jednak domenu vrednosti primarnog ključa tabele s kojom se vrši povezivanje. Po njemu se vrši pretraga BP.</a:t>
            </a:r>
          </a:p>
          <a:p>
            <a:pPr>
              <a:buNone/>
            </a:pPr>
            <a:r>
              <a:rPr lang="sr-Latn-RS" dirty="0" smtClean="0"/>
              <a:t> </a:t>
            </a:r>
            <a:r>
              <a:rPr lang="sr-Latn-RS" dirty="0" smtClean="0"/>
              <a:t>   (u sekundarnom ključu se ne moraju pojaviti sve vrednosti iz domena, ali ni jedna ne sme biti izvan domena)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Ključ – Svaki tip entiteta mora imati jedan atribut ili skup atributa koji pravi razliku između pojedinačnih pojava istog entiteta.</a:t>
            </a:r>
          </a:p>
          <a:p>
            <a:r>
              <a:rPr lang="sr-Latn-RS" dirty="0" smtClean="0"/>
              <a:t>Pravila za izbor ključa:</a:t>
            </a:r>
          </a:p>
          <a:p>
            <a:pPr marL="651510" indent="-514350">
              <a:buAutoNum type="arabicPeriod"/>
            </a:pPr>
            <a:r>
              <a:rPr lang="en-US" dirty="0" smtClean="0"/>
              <a:t>A</a:t>
            </a:r>
            <a:r>
              <a:rPr lang="sr-Latn-RS" dirty="0" smtClean="0"/>
              <a:t>tribut koji ne menja svoju vrednost</a:t>
            </a:r>
          </a:p>
          <a:p>
            <a:pPr marL="651510" indent="-514350">
              <a:buAutoNum type="arabicPeriod"/>
            </a:pPr>
            <a:r>
              <a:rPr lang="sr-Latn-RS" dirty="0" smtClean="0"/>
              <a:t>Atribut koji nikada neće imati null vrednost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Veza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Veza ukazuje da postoji događaj ili prirodna veza između dva ili više tipova entiteta.</a:t>
            </a:r>
          </a:p>
          <a:p>
            <a:r>
              <a:rPr lang="sr-Latn-RS" dirty="0" smtClean="0"/>
              <a:t>Tip veze je skup veza iste vrste.</a:t>
            </a:r>
          </a:p>
          <a:p>
            <a:r>
              <a:rPr lang="sr-Latn-RS" dirty="0" smtClean="0"/>
              <a:t>Naziv veze je najčešće glagol.</a:t>
            </a:r>
          </a:p>
          <a:p>
            <a:r>
              <a:rPr lang="sr-Latn-RS" dirty="0" smtClean="0"/>
              <a:t>Grafički prikaz veze na ER dijagramu je romb unutar koga piše naziv veze.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Stepen veze je broj entiteta koje promatrana veza povezuje:</a:t>
            </a:r>
          </a:p>
          <a:p>
            <a:pPr>
              <a:buNone/>
            </a:pPr>
            <a:r>
              <a:rPr lang="sr-Latn-RS" dirty="0" smtClean="0"/>
              <a:t>1. </a:t>
            </a:r>
            <a:r>
              <a:rPr lang="en-US" dirty="0" smtClean="0"/>
              <a:t>B</a:t>
            </a:r>
            <a:r>
              <a:rPr lang="sr-Latn-RS" dirty="0" smtClean="0"/>
              <a:t>inarna  veza</a:t>
            </a:r>
          </a:p>
          <a:p>
            <a:pPr>
              <a:buNone/>
            </a:pPr>
            <a:endParaRPr lang="sr-Latn-RS" dirty="0" smtClean="0"/>
          </a:p>
          <a:p>
            <a:pPr>
              <a:buNone/>
            </a:pPr>
            <a:endParaRPr lang="sr-Latn-RS" dirty="0" smtClean="0"/>
          </a:p>
          <a:p>
            <a:pPr>
              <a:buNone/>
            </a:pPr>
            <a:r>
              <a:rPr lang="sr-Latn-RS" dirty="0" smtClean="0"/>
              <a:t>2. Ternarna veza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3200400"/>
            <a:ext cx="2667000" cy="58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4724400"/>
            <a:ext cx="2514600" cy="136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sr-Latn-RS" dirty="0" smtClean="0"/>
              <a:t>3. Rekurzivna veza</a:t>
            </a:r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209800"/>
            <a:ext cx="2209800" cy="100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Kardinalitet veze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Opisuje ograničenja preslikavanja pojedinačnih entiteta koji učestvuju u posmatranoj vezi </a:t>
            </a:r>
          </a:p>
          <a:p>
            <a:pPr>
              <a:buNone/>
            </a:pPr>
            <a:r>
              <a:rPr lang="sr-Latn-RS" dirty="0" smtClean="0"/>
              <a:t> </a:t>
            </a:r>
            <a:r>
              <a:rPr lang="sr-Latn-RS" dirty="0" smtClean="0"/>
              <a:t>    1:1 (jedan prema jedan)</a:t>
            </a:r>
          </a:p>
          <a:p>
            <a:pPr>
              <a:buNone/>
            </a:pPr>
            <a:r>
              <a:rPr lang="sr-Latn-RS" dirty="0" smtClean="0"/>
              <a:t> </a:t>
            </a:r>
            <a:r>
              <a:rPr lang="sr-Latn-RS" dirty="0" smtClean="0"/>
              <a:t>    1:M (jedan prema više)</a:t>
            </a:r>
          </a:p>
          <a:p>
            <a:pPr>
              <a:buNone/>
            </a:pPr>
            <a:r>
              <a:rPr lang="sr-Latn-RS" dirty="0" smtClean="0"/>
              <a:t> </a:t>
            </a:r>
            <a:r>
              <a:rPr lang="sr-Latn-RS" dirty="0" smtClean="0"/>
              <a:t>    M:N (više prema više)</a:t>
            </a:r>
          </a:p>
          <a:p>
            <a:pPr>
              <a:buNone/>
            </a:pPr>
            <a:r>
              <a:rPr lang="sr-Latn-RS" dirty="0" smtClean="0"/>
              <a:t> </a:t>
            </a:r>
            <a:r>
              <a:rPr lang="sr-Latn-RS" dirty="0" smtClean="0"/>
              <a:t>    Moguće je da u nekoj vezi pojedine instance nekog entiteta ne učestvuju 1:0 ; 0:N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Paralelna veza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Više različitih veza između dva entiteta obrazuju paralelne veze</a:t>
            </a:r>
          </a:p>
          <a:p>
            <a:r>
              <a:rPr lang="sr-Latn-RS" dirty="0" smtClean="0"/>
              <a:t>Paralelna veza može biti dvostruka, trostruka, itd.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3657600"/>
            <a:ext cx="3500477" cy="1330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Mešoviti tip entiteta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Mešoviti tip entiteta se na ER dijagramu predstavlja kao pravougaonik sa upisanim rombom koji predstavlja vezu proširenu u entitet mešovitog tipa.</a:t>
            </a:r>
          </a:p>
          <a:p>
            <a:r>
              <a:rPr lang="sr-Latn-RS" dirty="0" smtClean="0"/>
              <a:t>Na ovom dijagramu veza “sluša” postaje entitet mešovitog tipa koja ima atribut “ocena” </a:t>
            </a:r>
            <a:endParaRPr lang="en-US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4648200"/>
            <a:ext cx="1362075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Unarna veza na ER dijagramu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Unarna veza predstavlja se na dijagramu rombom koji ima dve veze prema istom entitetu.</a:t>
            </a:r>
          </a:p>
          <a:p>
            <a:r>
              <a:rPr lang="sr-Latn-RS" dirty="0" smtClean="0"/>
              <a:t>Ona može imati kardinalitet “više prema više” ili “jedan prema više”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4114800"/>
            <a:ext cx="3401546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 smtClean="0"/>
              <a:t>Veze između dva entiteta na ER dijagramu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Dva entiteta mogu biti povezana preko više od jedne različite veze.</a:t>
            </a:r>
          </a:p>
          <a:p>
            <a:r>
              <a:rPr lang="sr-Latn-RS" dirty="0" smtClean="0"/>
              <a:t>U ovom primeru vidimo da student može da sluša predmet, takođe može i da polaže predmet.</a:t>
            </a:r>
          </a:p>
          <a:p>
            <a:r>
              <a:rPr lang="sr-Latn-RS" dirty="0" smtClean="0"/>
              <a:t>Veza ne mora biti ista između ova dva entiteta.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4495800"/>
            <a:ext cx="521017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sr-Latn-RS" dirty="0" smtClean="0"/>
              <a:t>Slabi entitet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4709160"/>
          </a:xfrm>
        </p:spPr>
        <p:txBody>
          <a:bodyPr>
            <a:normAutofit lnSpcReduction="10000"/>
          </a:bodyPr>
          <a:lstStyle/>
          <a:p>
            <a:r>
              <a:rPr lang="sr-Latn-RS" dirty="0" smtClean="0"/>
              <a:t>Slabi entitet je egzistencijalno zavistan od nekog entiteta sa kojim je u vezi</a:t>
            </a:r>
          </a:p>
          <a:p>
            <a:r>
              <a:rPr lang="sr-Latn-RS" dirty="0" smtClean="0"/>
              <a:t>Slabi entitet ne može postojati ako ne postoji njemu pridružen entitet od kojeg slabi entitet zavisi</a:t>
            </a:r>
          </a:p>
          <a:p>
            <a:r>
              <a:rPr lang="sr-Latn-RS" dirty="0" smtClean="0"/>
              <a:t>Npr. Fakultet sadrži jedan ili više odseka</a:t>
            </a:r>
          </a:p>
          <a:p>
            <a:pPr>
              <a:buNone/>
            </a:pPr>
            <a:r>
              <a:rPr lang="sr-Latn-RS" dirty="0" smtClean="0"/>
              <a:t> </a:t>
            </a:r>
            <a:r>
              <a:rPr lang="sr-Latn-RS" dirty="0" smtClean="0"/>
              <a:t>    Odsek ne može postojati osim ukoliko pripada nekom fakultetu, dakle entitet odsek je egzistencijalno zavistan od entiteta fakultet</a:t>
            </a:r>
          </a:p>
          <a:p>
            <a:pPr>
              <a:buNone/>
            </a:pPr>
            <a:r>
              <a:rPr lang="sr-Latn-RS" dirty="0" smtClean="0"/>
              <a:t>     Na dijagramu se predstavlja dvostruko uokvirenim pravougaonikom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5638800"/>
            <a:ext cx="49339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04800"/>
            <a:ext cx="8229600" cy="6400800"/>
          </a:xfrm>
        </p:spPr>
        <p:txBody>
          <a:bodyPr>
            <a:normAutofit fontScale="47500" lnSpcReduction="20000"/>
          </a:bodyPr>
          <a:lstStyle/>
          <a:p>
            <a:pPr lvl="0" algn="just">
              <a:buNone/>
            </a:pPr>
            <a:r>
              <a:rPr lang="sr-Latn-RS" sz="3300" dirty="0" smtClean="0">
                <a:latin typeface="Times New Roman" pitchFamily="18" charset="0"/>
                <a:cs typeface="Times New Roman" pitchFamily="18" charset="0"/>
              </a:rPr>
              <a:t>       1. </a:t>
            </a:r>
            <a:r>
              <a:rPr lang="en-US" sz="3300" dirty="0" err="1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lang="en-US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dirty="0" err="1" smtClean="0">
                <a:latin typeface="Times New Roman" pitchFamily="18" charset="0"/>
                <a:cs typeface="Times New Roman" pitchFamily="18" charset="0"/>
              </a:rPr>
              <a:t>dati</a:t>
            </a:r>
            <a:r>
              <a:rPr lang="en-US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dirty="0" err="1" smtClean="0">
                <a:latin typeface="Times New Roman" pitchFamily="18" charset="0"/>
                <a:cs typeface="Times New Roman" pitchFamily="18" charset="0"/>
              </a:rPr>
              <a:t>opis</a:t>
            </a:r>
            <a:r>
              <a:rPr lang="en-US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dirty="0" err="1" smtClean="0">
                <a:latin typeface="Times New Roman" pitchFamily="18" charset="0"/>
                <a:cs typeface="Times New Roman" pitchFamily="18" charset="0"/>
              </a:rPr>
              <a:t>problema</a:t>
            </a:r>
            <a:r>
              <a:rPr lang="en-US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00" dirty="0" err="1" smtClean="0">
                <a:latin typeface="Times New Roman" pitchFamily="18" charset="0"/>
                <a:cs typeface="Times New Roman" pitchFamily="18" charset="0"/>
              </a:rPr>
              <a:t>nacrtati</a:t>
            </a:r>
            <a:r>
              <a:rPr lang="en-US" sz="3300" dirty="0" smtClean="0">
                <a:latin typeface="Times New Roman" pitchFamily="18" charset="0"/>
                <a:cs typeface="Times New Roman" pitchFamily="18" charset="0"/>
              </a:rPr>
              <a:t> ER </a:t>
            </a:r>
            <a:r>
              <a:rPr lang="en-US" sz="3300" dirty="0" err="1" smtClean="0">
                <a:latin typeface="Times New Roman" pitchFamily="18" charset="0"/>
                <a:cs typeface="Times New Roman" pitchFamily="18" charset="0"/>
              </a:rPr>
              <a:t>dijagram</a:t>
            </a:r>
            <a:r>
              <a:rPr lang="en-US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sr-Latn-RS" sz="33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None/>
            </a:pP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sr-Latn-CS" sz="3300" dirty="0" smtClean="0">
                <a:latin typeface="Times New Roman" pitchFamily="18" charset="0"/>
                <a:cs typeface="Times New Roman" pitchFamily="18" charset="0"/>
              </a:rPr>
              <a:t>       OPIS </a:t>
            </a:r>
            <a:r>
              <a:rPr lang="sr-Latn-CS" sz="3300" dirty="0" smtClean="0">
                <a:latin typeface="Times New Roman" pitchFamily="18" charset="0"/>
                <a:cs typeface="Times New Roman" pitchFamily="18" charset="0"/>
              </a:rPr>
              <a:t>PROBLEMA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sr-Latn-RS" sz="3300" dirty="0" err="1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projektovanje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informacionog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sistema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servis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automobila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"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CityCar</a:t>
            </a:r>
            <a:r>
              <a:rPr lang="sr-Latn-CS" sz="3300" dirty="0" smtClean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treba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evidentirati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podatke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vozilima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njihovim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vlasnicima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zaposlenima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koji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servisiraju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vozila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" pitchFamily="2" charset="2"/>
              <a:buChar char="ü"/>
            </a:pP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svaki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automobil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evidentira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šifra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registracioni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broj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godište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proizvodnje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broj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vrata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težina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ü"/>
            </a:pP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Svaki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automobil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ima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jedinstvenu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šifru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koja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nikada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ne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menja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ü"/>
            </a:pP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Registracioni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broj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automobila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može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menjati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" pitchFamily="2" charset="2"/>
              <a:buChar char="ü"/>
            </a:pP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svakog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vlasnika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evidentira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JMBG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ime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prezime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ü"/>
            </a:pP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Svaki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vlasnik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ima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jedinstveni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JMBG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koji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nikada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ne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menja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" pitchFamily="2" charset="2"/>
              <a:buChar char="ü"/>
            </a:pP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Svaka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osoba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vlasnik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može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posedovati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više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automobila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" pitchFamily="2" charset="2"/>
              <a:buChar char="ü"/>
            </a:pP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Svaki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automobil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može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imati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CS" sz="3300" dirty="0" smtClean="0">
                <a:latin typeface="Times New Roman" pitchFamily="18" charset="0"/>
                <a:cs typeface="Times New Roman" pitchFamily="18" charset="0"/>
              </a:rPr>
              <a:t>samo jednog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vlasnika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" pitchFamily="2" charset="2"/>
              <a:buChar char="ü"/>
            </a:pP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zaposlenim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osobama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evidentira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šifra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ime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prezime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ü"/>
            </a:pP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Svaki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zaposleni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ima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jedinstvenu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šifru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koja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nikada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ne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menja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" pitchFamily="2" charset="2"/>
              <a:buChar char="ü"/>
            </a:pP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Svaka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zaposlena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osoba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može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servisirati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više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automobila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" pitchFamily="2" charset="2"/>
              <a:buChar char="ü"/>
            </a:pP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Svaki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automobil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može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servisirati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više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zaposlenih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osoba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" pitchFamily="2" charset="2"/>
              <a:buChar char="ü"/>
            </a:pP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Kada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zaposleni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servisira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automobil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beleži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datum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servisiranja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" pitchFamily="2" charset="2"/>
              <a:buChar char="ü"/>
            </a:pP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Svaki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automobil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može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pripadati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nekoj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jednoj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kategoriji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automobila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" pitchFamily="2" charset="2"/>
              <a:buChar char="ü"/>
            </a:pP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Svaka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kategorija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automobila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ima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svoju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šifru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naziv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" pitchFamily="2" charset="2"/>
              <a:buChar char="ü"/>
            </a:pP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Istoj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kategoriji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može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pripadati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više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automobila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" pitchFamily="2" charset="2"/>
              <a:buChar char="ü"/>
            </a:pP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Zaposlene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osobe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mogu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biti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šefovi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drugim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zaposlenim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osobama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" pitchFamily="2" charset="2"/>
              <a:buChar char="ü"/>
            </a:pP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Svaka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zaposlena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osoba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može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imati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samo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jednog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300" dirty="0" err="1" smtClean="0">
                <a:latin typeface="Times New Roman" pitchFamily="18" charset="0"/>
                <a:cs typeface="Times New Roman" pitchFamily="18" charset="0"/>
              </a:rPr>
              <a:t>šefa</a:t>
            </a:r>
            <a:r>
              <a:rPr lang="fr-FR" sz="3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28600"/>
            <a:ext cx="8229600" cy="6400800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sr-Latn-RS" sz="16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CRTANJE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ER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DIJAGRAMA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0" algn="just">
              <a:buNone/>
            </a:pPr>
            <a:r>
              <a:rPr lang="sr-Latn-RS" sz="16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Na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osnovu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sledećeg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opisa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modelirati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deo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sistema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avio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kompanije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nacrtati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ER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dijagram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algn="just"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 2" pitchFamily="18" charset="2"/>
              <a:buChar char="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U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avio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kompaniji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vodi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evidencija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putnicima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koji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prevoze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o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posadama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aviona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destinacijama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letovima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lvl="0" algn="just">
              <a:buFont typeface="Wingdings 2" pitchFamily="18" charset="2"/>
              <a:buChar char=""/>
            </a:pP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Putnici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kupuju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karte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tada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svakog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putnika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evidentira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ime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prezime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broj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pasoša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koji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predstavlja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identifikacioni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broj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putnika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u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sistemu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 2" pitchFamily="18" charset="2"/>
              <a:buChar char=""/>
            </a:pP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Uvek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zna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u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kom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mestu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ima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prebivalište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svaki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putnik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U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jednom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mestu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(id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mesta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naziv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država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prebivalište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mora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imati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bar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jedan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putnik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a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najčešće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više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njih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 2" pitchFamily="18" charset="2"/>
              <a:buChar char=""/>
            </a:pP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Putnik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kupuje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najmanje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jednu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ali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možda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više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karata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određenim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popustom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nekog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konkretnog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datuma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svaku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kartu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zna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broj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karte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klasa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njena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cena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Ne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moraju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sve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karte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biti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prodate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Jedna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karta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važi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samo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jednog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putnika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 2" pitchFamily="18" charset="2"/>
              <a:buChar char=""/>
            </a:pP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Karte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izdaju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određene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letove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konkretnih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datuma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Letovi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su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okarakterisani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brojem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leta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trajanjem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vremenom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polaska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izlazom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maksimalnim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brojem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putnika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na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tom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letu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Jedna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karta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važi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samo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jedan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let,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dok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na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letu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mora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postojati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bar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jedna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ali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obično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više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karata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svaki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let se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zna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destinacija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opisana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svojim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nazivom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aerodromima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rednim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brojem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95800"/>
          </a:xfrm>
        </p:spPr>
        <p:txBody>
          <a:bodyPr>
            <a:normAutofit fontScale="92500" lnSpcReduction="20000"/>
          </a:bodyPr>
          <a:lstStyle/>
          <a:p>
            <a:pPr lvl="0" algn="just">
              <a:buFont typeface="Wingdings 2" pitchFamily="18" charset="2"/>
              <a:buChar char=""/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Na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jednoj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destinaciji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postoji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više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letova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 a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mora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bar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jedan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da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bi to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bila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destinacija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Svaki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let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koji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zna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destinacija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vodi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jedan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pilot,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okarakterisan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svojim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imenom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prezimenom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brojem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pilotske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legitimacije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None/>
            </a:pPr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 2" pitchFamily="18" charset="2"/>
              <a:buChar char=""/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U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kompaniji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su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evidentirani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piloti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koji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sada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nisu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imali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nijedan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let.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Inače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svaki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pilot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može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biti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zadužen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više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letova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svakog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pilota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zna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sa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kojim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drugim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pilotom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leti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na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nekom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letu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None/>
            </a:pPr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 2" pitchFamily="18" charset="2"/>
              <a:buChar char=""/>
            </a:pP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Takođe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se,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letove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na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određenim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destinacijama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mora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znati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angažovano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osoblje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aviona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broj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legitimacije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ime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prezime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radno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mesto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godina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rodjenja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 datum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zaposlenja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 algn="just">
              <a:buNone/>
            </a:pPr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Font typeface="Wingdings 2" pitchFamily="18" charset="2"/>
              <a:buChar char=""/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U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bazi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podataka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evidentiraju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podaci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osoblje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koje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još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nije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bilo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ali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će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biti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angažovano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u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budućnosti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321</TotalTime>
  <Words>1020</Words>
  <Application>Microsoft Office PowerPoint</Application>
  <PresentationFormat>On-screen Show (4:3)</PresentationFormat>
  <Paragraphs>112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Oriel</vt:lpstr>
      <vt:lpstr>ER DIJAGRAMI</vt:lpstr>
      <vt:lpstr>Slide 2</vt:lpstr>
      <vt:lpstr>Slide 3</vt:lpstr>
      <vt:lpstr>Slide 4</vt:lpstr>
      <vt:lpstr>Entitet</vt:lpstr>
      <vt:lpstr>Atribut</vt:lpstr>
      <vt:lpstr>Slide 7</vt:lpstr>
      <vt:lpstr>Slide 8</vt:lpstr>
      <vt:lpstr>Slide 9</vt:lpstr>
      <vt:lpstr>Veza</vt:lpstr>
      <vt:lpstr>Slide 11</vt:lpstr>
      <vt:lpstr>Slide 12</vt:lpstr>
      <vt:lpstr>Kardinalitet veze</vt:lpstr>
      <vt:lpstr>Paralelna veza</vt:lpstr>
      <vt:lpstr>Mešoviti tip entiteta</vt:lpstr>
      <vt:lpstr>Unarna veza na ER dijagramu</vt:lpstr>
      <vt:lpstr>Veze između dva entiteta na ER dijagramu</vt:lpstr>
      <vt:lpstr>Slabi entitet</vt:lpstr>
      <vt:lpstr>Slide 19</vt:lpstr>
      <vt:lpstr>Slide 20</vt:lpstr>
      <vt:lpstr>Slide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 DIJAGRAMI</dc:title>
  <dc:creator>I5 Pro</dc:creator>
  <cp:lastModifiedBy>I5 Pro</cp:lastModifiedBy>
  <cp:revision>33</cp:revision>
  <dcterms:created xsi:type="dcterms:W3CDTF">2019-03-05T16:44:59Z</dcterms:created>
  <dcterms:modified xsi:type="dcterms:W3CDTF">2019-03-05T22:06:29Z</dcterms:modified>
</cp:coreProperties>
</file>